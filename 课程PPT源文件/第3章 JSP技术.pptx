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69"/>
  </p:notesMasterIdLst>
  <p:sldIdLst>
    <p:sldId id="288" r:id="rId4"/>
    <p:sldId id="323" r:id="rId5"/>
    <p:sldId id="324" r:id="rId6"/>
    <p:sldId id="325" r:id="rId7"/>
    <p:sldId id="389" r:id="rId8"/>
    <p:sldId id="391" r:id="rId9"/>
    <p:sldId id="326" r:id="rId10"/>
    <p:sldId id="327" r:id="rId11"/>
    <p:sldId id="328" r:id="rId12"/>
    <p:sldId id="329" r:id="rId13"/>
    <p:sldId id="330" r:id="rId14"/>
    <p:sldId id="331" r:id="rId15"/>
    <p:sldId id="333" r:id="rId16"/>
    <p:sldId id="332" r:id="rId17"/>
    <p:sldId id="392" r:id="rId18"/>
    <p:sldId id="393" r:id="rId19"/>
    <p:sldId id="334" r:id="rId20"/>
    <p:sldId id="335" r:id="rId21"/>
    <p:sldId id="336" r:id="rId22"/>
    <p:sldId id="337" r:id="rId23"/>
    <p:sldId id="338" r:id="rId24"/>
    <p:sldId id="394" r:id="rId25"/>
    <p:sldId id="395" r:id="rId26"/>
    <p:sldId id="339" r:id="rId27"/>
    <p:sldId id="340" r:id="rId28"/>
    <p:sldId id="341" r:id="rId29"/>
    <p:sldId id="396" r:id="rId30"/>
    <p:sldId id="342" r:id="rId31"/>
    <p:sldId id="343" r:id="rId32"/>
    <p:sldId id="397" r:id="rId33"/>
    <p:sldId id="344" r:id="rId34"/>
    <p:sldId id="398" r:id="rId35"/>
    <p:sldId id="345" r:id="rId36"/>
    <p:sldId id="346" r:id="rId37"/>
    <p:sldId id="347" r:id="rId38"/>
    <p:sldId id="348" r:id="rId39"/>
    <p:sldId id="349" r:id="rId40"/>
    <p:sldId id="350" r:id="rId41"/>
    <p:sldId id="351" r:id="rId42"/>
    <p:sldId id="352" r:id="rId43"/>
    <p:sldId id="353" r:id="rId44"/>
    <p:sldId id="354" r:id="rId45"/>
    <p:sldId id="355" r:id="rId46"/>
    <p:sldId id="356" r:id="rId47"/>
    <p:sldId id="357" r:id="rId48"/>
    <p:sldId id="358" r:id="rId49"/>
    <p:sldId id="359" r:id="rId50"/>
    <p:sldId id="360" r:id="rId51"/>
    <p:sldId id="361" r:id="rId52"/>
    <p:sldId id="362" r:id="rId53"/>
    <p:sldId id="363" r:id="rId54"/>
    <p:sldId id="375" r:id="rId55"/>
    <p:sldId id="364" r:id="rId56"/>
    <p:sldId id="365" r:id="rId57"/>
    <p:sldId id="366" r:id="rId58"/>
    <p:sldId id="367" r:id="rId59"/>
    <p:sldId id="376" r:id="rId60"/>
    <p:sldId id="368" r:id="rId61"/>
    <p:sldId id="369" r:id="rId62"/>
    <p:sldId id="370" r:id="rId63"/>
    <p:sldId id="371" r:id="rId64"/>
    <p:sldId id="372" r:id="rId65"/>
    <p:sldId id="373" r:id="rId66"/>
    <p:sldId id="374" r:id="rId67"/>
    <p:sldId id="377" r:id="rId68"/>
  </p:sldIdLst>
  <p:sldSz cx="9144000" cy="6858000" type="screen4x3"/>
  <p:notesSz cx="6858000" cy="9144000"/>
  <p:custDataLst>
    <p:tags r:id="rId73"/>
  </p:custDataLst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498"/>
    <p:restoredTop sz="95859"/>
  </p:normalViewPr>
  <p:slideViewPr>
    <p:cSldViewPr showGuides="1">
      <p:cViewPr varScale="1">
        <p:scale>
          <a:sx n="99" d="100"/>
          <a:sy n="99" d="100"/>
        </p:scale>
        <p:origin x="816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-953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3" Type="http://schemas.openxmlformats.org/officeDocument/2006/relationships/tags" Target="tags/tag6.xml"/><Relationship Id="rId72" Type="http://schemas.openxmlformats.org/officeDocument/2006/relationships/tableStyles" Target="tableStyles.xml"/><Relationship Id="rId71" Type="http://schemas.openxmlformats.org/officeDocument/2006/relationships/viewProps" Target="viewProps.xml"/><Relationship Id="rId70" Type="http://schemas.openxmlformats.org/officeDocument/2006/relationships/presProps" Target="presProps.xml"/><Relationship Id="rId7" Type="http://schemas.openxmlformats.org/officeDocument/2006/relationships/slide" Target="slides/slide4.xml"/><Relationship Id="rId69" Type="http://schemas.openxmlformats.org/officeDocument/2006/relationships/notesMaster" Target="notesMasters/notesMaster1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2AE6D3C-4EB8-40DA-9DF5-42EF365B6347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35038"/>
            <a:ext cx="9150350" cy="79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98870"/>
            <a:ext cx="8568952" cy="778098"/>
          </a:xfrm>
        </p:spPr>
        <p:txBody>
          <a:bodyPr/>
          <a:lstStyle>
            <a:lvl1pPr algn="l">
              <a:defRPr sz="4000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124744"/>
            <a:ext cx="8928992" cy="55446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935038"/>
            <a:ext cx="9150350" cy="793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98870"/>
            <a:ext cx="8568952" cy="778098"/>
          </a:xfrm>
        </p:spPr>
        <p:txBody>
          <a:bodyPr/>
          <a:lstStyle>
            <a:lvl1pPr algn="l">
              <a:defRPr sz="4000" baseline="0"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504" y="1124744"/>
            <a:ext cx="8928992" cy="554461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" name="日期占位符 2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3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4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1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2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3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" name="日期占位符 4"/>
          <p:cNvSpPr>
            <a:spLocks noGrp="1"/>
          </p:cNvSpPr>
          <p:nvPr>
            <p:ph type="dt" sz="half" idx="1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5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6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fontAlgn="auto">
              <a:spcBef>
                <a:spcPts val="0"/>
              </a:spcBef>
              <a:spcAft>
                <a:spcPts val="0"/>
              </a:spcAft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US" altLang="zh-CN" dirty="0">
                <a:latin typeface="Arial" panose="020B0604020202020204" pitchFamily="34" charset="0"/>
              </a:rPr>
            </a:fld>
            <a:endParaRPr lang="en-US" altLang="zh-CN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US" altLang="zh-CN" dirty="0"/>
            </a:fld>
            <a:endParaRPr lang="en-US" altLang="zh-CN" dirty="0"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e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2.xml"/><Relationship Id="rId3" Type="http://schemas.openxmlformats.org/officeDocument/2006/relationships/image" Target="../media/image7.emf"/><Relationship Id="rId2" Type="http://schemas.openxmlformats.org/officeDocument/2006/relationships/oleObject" Target="../embeddings/oleObject2.bin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3.bin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.emf"/><Relationship Id="rId1" Type="http://schemas.openxmlformats.org/officeDocument/2006/relationships/oleObject" Target="../embeddings/oleObject4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wmf"/><Relationship Id="rId1" Type="http://schemas.openxmlformats.org/officeDocument/2006/relationships/oleObject" Target="../embeddings/oleObject5.bin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/>
          <p:cNvSpPr>
            <a:spLocks noGrp="1"/>
          </p:cNvSpPr>
          <p:nvPr>
            <p:ph type="ctrTitle"/>
          </p:nvPr>
        </p:nvSpPr>
        <p:spPr>
          <a:xfrm>
            <a:off x="360363" y="2205038"/>
            <a:ext cx="8423275" cy="1296987"/>
          </a:xfrm>
        </p:spPr>
        <p:txBody>
          <a:bodyPr vert="horz" wrap="square" lIns="91440" tIns="45720" rIns="91440" bIns="45720" anchor="ctr" anchorCtr="0"/>
          <a:lstStyle/>
          <a:p>
            <a:pPr>
              <a:buClrTx/>
              <a:buSzTx/>
              <a:buFontTx/>
            </a:pPr>
            <a:r>
              <a:rPr lang="en-US" altLang="zh-CN" sz="4800" b="1" dirty="0"/>
              <a:t>Web </a:t>
            </a:r>
            <a:r>
              <a:rPr lang="zh-CN" altLang="en-US" sz="4800" b="1" dirty="0"/>
              <a:t>应用系统实践</a:t>
            </a:r>
            <a:endParaRPr lang="zh-CN" altLang="en-US" sz="4800" b="1" dirty="0"/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gray">
          <a:xfrm>
            <a:off x="-1" y="152400"/>
            <a:ext cx="4201571" cy="90033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4" name="标题 1"/>
          <p:cNvSpPr txBox="1"/>
          <p:nvPr/>
        </p:nvSpPr>
        <p:spPr bwMode="auto">
          <a:xfrm>
            <a:off x="360363" y="4437063"/>
            <a:ext cx="8423275" cy="1296988"/>
          </a:xfrm>
          <a:prstGeom prst="rect">
            <a:avLst/>
          </a:prstGeom>
          <a:noFill/>
          <a:ln>
            <a:noFill/>
          </a:ln>
          <a:effectLst/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主讲教师：乔文豹 计算机学院</a:t>
            </a:r>
            <a:endParaRPr kumimoji="0" lang="en-US" altLang="zh-CN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2023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年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10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月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10</a:t>
            </a:r>
            <a:r>
              <a: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日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第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章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技术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 Server Page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）是一种运行在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服务器端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的脚本语言，是用来开发动态网页的，该技术是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 Web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程序开发的重要技术。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本章介绍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技术的相关概念以及如何开发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程序，主要内容包括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技术概述、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的处理过程、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语法、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的内置对象以及每种对象的使用方法和使用技巧以及简单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应用程序的开发设计。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第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章 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技术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3.1  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技术概述	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3.2  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语法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3.3  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内置对象概述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3.4  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3.5  response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3.6  session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3.7  application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3.8  out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对象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3.9  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应用程序设计综合示例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539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本章小结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3.1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技术概述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是一种动态网页技术标准，它是在静态网页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代码中加入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程序片段（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Scriptlet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标签（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），构成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网页文件，其扩展名为“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当客户端请求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文件时，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服务器执行该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文件，然后以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的格式返回给客户（浏览器显示），即，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程序的执行是由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服务器（常用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Tomcat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服务器）来完成的，所以，要运行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必须安装并配置服务器，具体安装和配置在第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章中已经介绍。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本节内容：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7162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3.1.1  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页面的结构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7162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3.1.2  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程序的运行机制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初窥</a:t>
            </a:r>
            <a:r>
              <a:rPr lang="en-US" altLang="zh-CN"/>
              <a:t>JSP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JSP</a:t>
            </a:r>
            <a:r>
              <a:rPr lang="zh-CN" altLang="en-US"/>
              <a:t>特征</a:t>
            </a:r>
            <a:endParaRPr lang="zh-CN" altLang="en-US"/>
          </a:p>
          <a:p>
            <a:pPr lvl="1"/>
            <a:r>
              <a:rPr lang="zh-CN" altLang="en-US" sz="2200"/>
              <a:t>跨平台，</a:t>
            </a:r>
            <a:r>
              <a:rPr lang="en-US" altLang="zh-CN" sz="2200"/>
              <a:t>JSP</a:t>
            </a:r>
            <a:r>
              <a:rPr lang="zh-CN" altLang="en-US" sz="2200"/>
              <a:t>基于</a:t>
            </a:r>
            <a:r>
              <a:rPr lang="en-US" altLang="zh-CN" sz="2200"/>
              <a:t>java</a:t>
            </a:r>
            <a:r>
              <a:rPr lang="zh-CN" altLang="en-US" sz="2200"/>
              <a:t>开发，可以调用</a:t>
            </a:r>
            <a:r>
              <a:rPr lang="en-US" altLang="zh-CN" sz="2200"/>
              <a:t>java API</a:t>
            </a:r>
            <a:r>
              <a:rPr lang="zh-CN" altLang="en-US" sz="2200"/>
              <a:t>，适用于不同操作系统；</a:t>
            </a:r>
            <a:endParaRPr lang="zh-CN" altLang="en-US" sz="2200"/>
          </a:p>
          <a:p>
            <a:pPr lvl="1"/>
            <a:r>
              <a:rPr lang="zh-CN" altLang="en-US" sz="2200"/>
              <a:t>业务代码分离，通常</a:t>
            </a:r>
            <a:r>
              <a:rPr lang="en-US" altLang="zh-CN" sz="2200"/>
              <a:t>HTML</a:t>
            </a:r>
            <a:r>
              <a:rPr lang="zh-CN" altLang="en-US" sz="2200"/>
              <a:t>设计和格式化静态页面，使用</a:t>
            </a:r>
            <a:r>
              <a:rPr lang="en-US" altLang="zh-CN" sz="2200"/>
              <a:t>Java</a:t>
            </a:r>
            <a:r>
              <a:rPr lang="zh-CN" altLang="en-US" sz="2200"/>
              <a:t>和</a:t>
            </a:r>
            <a:r>
              <a:rPr lang="en-US" altLang="zh-CN" sz="2200"/>
              <a:t>JSP</a:t>
            </a:r>
            <a:r>
              <a:rPr lang="zh-CN" altLang="en-US" sz="2200"/>
              <a:t>代码片段实现动态部分。设计人员可以将业务处理代码放在</a:t>
            </a:r>
            <a:r>
              <a:rPr lang="en-US" altLang="zh-CN" sz="2200"/>
              <a:t>JavaBean</a:t>
            </a:r>
            <a:r>
              <a:rPr lang="zh-CN" altLang="en-US" sz="2200"/>
              <a:t>中，或者交给</a:t>
            </a:r>
            <a:r>
              <a:rPr lang="en-US" altLang="zh-CN" sz="2200"/>
              <a:t>Servlet</a:t>
            </a:r>
            <a:r>
              <a:rPr lang="zh-CN" altLang="en-US" sz="2200"/>
              <a:t>、</a:t>
            </a:r>
            <a:r>
              <a:rPr lang="en-US" altLang="zh-CN" sz="2200"/>
              <a:t>Struts</a:t>
            </a:r>
            <a:r>
              <a:rPr lang="zh-CN" altLang="en-US" sz="2200"/>
              <a:t>等业务控制层，</a:t>
            </a:r>
            <a:r>
              <a:rPr lang="en-US" altLang="zh-CN" sz="2200"/>
              <a:t>JSP</a:t>
            </a:r>
            <a:r>
              <a:rPr lang="zh-CN" altLang="en-US" sz="2200"/>
              <a:t>页面只负责显示数据，当需要修改业务代码时，不会影响</a:t>
            </a:r>
            <a:r>
              <a:rPr lang="en-US" altLang="zh-CN" sz="2200"/>
              <a:t>JSP</a:t>
            </a:r>
            <a:r>
              <a:rPr lang="zh-CN" altLang="en-US" sz="2200"/>
              <a:t>页面代码；</a:t>
            </a:r>
            <a:endParaRPr lang="zh-CN" altLang="en-US" sz="2200"/>
          </a:p>
          <a:p>
            <a:pPr lvl="1"/>
            <a:r>
              <a:rPr lang="zh-CN" altLang="en-US" sz="2200"/>
              <a:t>组件重用，使用</a:t>
            </a:r>
            <a:r>
              <a:rPr lang="en-US" altLang="zh-CN" sz="2200"/>
              <a:t>JavaBean</a:t>
            </a:r>
            <a:r>
              <a:rPr lang="zh-CN" altLang="en-US" sz="2200"/>
              <a:t>封装业务组件，重复使用这个业务组件；</a:t>
            </a:r>
            <a:endParaRPr lang="zh-CN" altLang="en-US" sz="2200"/>
          </a:p>
          <a:p>
            <a:pPr lvl="1"/>
            <a:r>
              <a:rPr lang="zh-CN" altLang="en-US" sz="2200"/>
              <a:t>继承</a:t>
            </a:r>
            <a:r>
              <a:rPr lang="en-US" altLang="zh-CN" sz="2200"/>
              <a:t>Java Servlet</a:t>
            </a:r>
            <a:r>
              <a:rPr lang="zh-CN" altLang="en-US" sz="2200"/>
              <a:t>功能，</a:t>
            </a:r>
            <a:r>
              <a:rPr lang="en-US" altLang="zh-CN" sz="2200"/>
              <a:t>JSP</a:t>
            </a:r>
            <a:r>
              <a:rPr lang="zh-CN" altLang="en-US" sz="2200"/>
              <a:t>使得原来只使用</a:t>
            </a:r>
            <a:r>
              <a:rPr lang="en-US" altLang="zh-CN" sz="2200"/>
              <a:t>Servlet</a:t>
            </a:r>
            <a:r>
              <a:rPr lang="zh-CN" altLang="en-US" sz="2200"/>
              <a:t>开发变的简单，虽然</a:t>
            </a:r>
            <a:r>
              <a:rPr lang="en-US" altLang="zh-CN" sz="2200"/>
              <a:t>JSP</a:t>
            </a:r>
            <a:r>
              <a:rPr lang="zh-CN" altLang="en-US" sz="2200"/>
              <a:t>最终也要编译成</a:t>
            </a:r>
            <a:r>
              <a:rPr lang="en-US" altLang="zh-CN" sz="2200"/>
              <a:t>Servlet</a:t>
            </a:r>
            <a:r>
              <a:rPr lang="zh-CN" altLang="en-US" sz="2200"/>
              <a:t>才能处理用户请求；</a:t>
            </a:r>
            <a:endParaRPr lang="zh-CN" altLang="en-US" sz="2200"/>
          </a:p>
          <a:p>
            <a:pPr lvl="1"/>
            <a:r>
              <a:rPr lang="zh-CN" altLang="en-US" sz="2200"/>
              <a:t>预编译，第一次访问时，对</a:t>
            </a:r>
            <a:r>
              <a:rPr lang="en-US" altLang="zh-CN" sz="2200"/>
              <a:t>JSP</a:t>
            </a:r>
            <a:r>
              <a:rPr lang="zh-CN" altLang="en-US" sz="2200"/>
              <a:t>页面进行编译，且仅编译一次。用户下一次访问时，直接执行编译好的代码。</a:t>
            </a:r>
            <a:endParaRPr lang="zh-CN" altLang="en-US" sz="2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3.2  JSP</a:t>
            </a:r>
            <a:r>
              <a:rPr lang="zh-CN" altLang="en-US" dirty="0">
                <a:sym typeface="+mn-ea"/>
              </a:rPr>
              <a:t>语法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JSP</a:t>
            </a:r>
            <a:r>
              <a:rPr lang="zh-CN" altLang="en-US"/>
              <a:t>页面：带有</a:t>
            </a:r>
            <a:r>
              <a:rPr lang="en-US" altLang="zh-CN"/>
              <a:t>JSP</a:t>
            </a:r>
            <a:r>
              <a:rPr lang="zh-CN" altLang="en-US"/>
              <a:t>元素的常规</a:t>
            </a:r>
            <a:r>
              <a:rPr lang="en-US" altLang="zh-CN"/>
              <a:t>Web</a:t>
            </a:r>
            <a:r>
              <a:rPr lang="zh-CN" altLang="en-US"/>
              <a:t>页面。由静态内容和动态内容构成。</a:t>
            </a:r>
            <a:endParaRPr lang="zh-CN" altLang="en-US"/>
          </a:p>
          <a:p>
            <a:pPr lvl="1"/>
            <a:r>
              <a:rPr lang="zh-CN" altLang="en-US"/>
              <a:t>传统的</a:t>
            </a:r>
            <a:r>
              <a:rPr lang="en-US" altLang="zh-CN"/>
              <a:t>HTML</a:t>
            </a:r>
            <a:r>
              <a:rPr lang="zh-CN" altLang="en-US"/>
              <a:t>页面中</a:t>
            </a:r>
            <a:r>
              <a:rPr lang="en-US" altLang="zh-CN"/>
              <a:t> + {Java</a:t>
            </a:r>
            <a:r>
              <a:rPr lang="zh-CN" altLang="en-US"/>
              <a:t>表达式和程序片、</a:t>
            </a:r>
            <a:r>
              <a:rPr lang="en-US" altLang="zh-CN"/>
              <a:t>JSP</a:t>
            </a:r>
            <a:r>
              <a:rPr lang="zh-CN" altLang="en-US"/>
              <a:t>指令标记、</a:t>
            </a:r>
            <a:r>
              <a:rPr lang="en-US" altLang="zh-CN"/>
              <a:t>JSP</a:t>
            </a:r>
            <a:r>
              <a:rPr lang="zh-CN" altLang="en-US"/>
              <a:t>动作标记等</a:t>
            </a:r>
            <a:r>
              <a:rPr lang="en-US" altLang="zh-CN"/>
              <a:t>JSP</a:t>
            </a:r>
            <a:r>
              <a:rPr lang="zh-CN" altLang="en-US"/>
              <a:t>元素</a:t>
            </a:r>
            <a:r>
              <a:rPr lang="en-US" altLang="zh-CN"/>
              <a:t>} =  JSP</a:t>
            </a:r>
            <a:r>
              <a:rPr lang="zh-CN" altLang="en-US"/>
              <a:t>页面</a:t>
            </a:r>
            <a:endParaRPr lang="zh-CN" altLang="en-US"/>
          </a:p>
          <a:p>
            <a:pPr lvl="1"/>
            <a:endParaRPr lang="zh-CN" altLang="en-US"/>
          </a:p>
          <a:p>
            <a:pPr lvl="1"/>
            <a:r>
              <a:rPr lang="zh-CN" altLang="en-US"/>
              <a:t>除了之前学习过的</a:t>
            </a:r>
            <a:r>
              <a:rPr lang="en-US" altLang="zh-CN"/>
              <a:t>HTML</a:t>
            </a:r>
            <a:r>
              <a:rPr lang="zh-CN" altLang="en-US"/>
              <a:t>标记、</a:t>
            </a:r>
            <a:r>
              <a:rPr lang="en-US" altLang="zh-CN"/>
              <a:t>Java</a:t>
            </a:r>
            <a:r>
              <a:rPr lang="zh-CN" altLang="en-US"/>
              <a:t>代码段</a:t>
            </a:r>
            <a:endParaRPr lang="zh-CN" altLang="en-US"/>
          </a:p>
          <a:p>
            <a:pPr lvl="1"/>
            <a:r>
              <a:rPr lang="zh-CN" altLang="en-US"/>
              <a:t>剩余需要学习的是：</a:t>
            </a:r>
            <a:r>
              <a:rPr lang="en-US" altLang="zh-CN"/>
              <a:t>JSP</a:t>
            </a:r>
            <a:r>
              <a:rPr lang="zh-CN" altLang="en-US"/>
              <a:t>指令标记、变量和方法的定义、用于将信息显示在页面上的</a:t>
            </a:r>
            <a:r>
              <a:rPr lang="en-US" altLang="zh-CN"/>
              <a:t>java</a:t>
            </a:r>
            <a:r>
              <a:rPr lang="zh-CN" altLang="en-US"/>
              <a:t>表达式。</a:t>
            </a:r>
            <a:endParaRPr lang="zh-CN" altLang="en-US"/>
          </a:p>
          <a:p>
            <a:pPr lvl="1"/>
            <a:endParaRPr lang="zh-CN" altLang="en-US"/>
          </a:p>
          <a:p>
            <a:pPr lvl="0"/>
            <a:r>
              <a:rPr lang="en-US" altLang="zh-CN"/>
              <a:t>JSP</a:t>
            </a:r>
            <a:r>
              <a:rPr lang="zh-CN" altLang="en-US"/>
              <a:t>引擎将</a:t>
            </a:r>
            <a:r>
              <a:rPr lang="en-US" altLang="zh-CN"/>
              <a:t>JSP</a:t>
            </a:r>
            <a:r>
              <a:rPr lang="zh-CN" altLang="en-US"/>
              <a:t>页面所有内容转译成</a:t>
            </a:r>
            <a:r>
              <a:rPr lang="en-US" altLang="zh-CN"/>
              <a:t>servlet</a:t>
            </a:r>
            <a:r>
              <a:rPr lang="zh-CN" altLang="en-US"/>
              <a:t>类。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3.1.1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页面的结构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1223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一个简单的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ch03_1_first.jsp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）代码，该程序的功能是计算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的和值，并在页面上输出计算结果。注意代码中标注的各部分的名称。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8436" name="Picture 5"/>
          <p:cNvPicPr>
            <a:picLocks noChangeAspect="1" noChangeArrowheads="1"/>
          </p:cNvPicPr>
          <p:nvPr/>
        </p:nvPicPr>
        <p:blipFill rotWithShape="1">
          <a:blip r:embed="rId1"/>
          <a:srcRect l="8630" r="841"/>
          <a:stretch>
            <a:fillRect/>
          </a:stretch>
        </p:blipFill>
        <p:spPr bwMode="auto">
          <a:xfrm>
            <a:off x="971550" y="2335213"/>
            <a:ext cx="7345363" cy="4394200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3.1.1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页面的结构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27352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程序结构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处于“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&lt;%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”和“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%&gt;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”中间代码为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代码。其余部分为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HTML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标记代码。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行是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指令，规定该页面的字符编码、使用的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Jar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包等信息；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行是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的变量声明，并提供初始值；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6-10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行是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Java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代码段，其功能是累加求和；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     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13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行中的“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&lt;%=  %&gt;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”是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表达式。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pic>
        <p:nvPicPr>
          <p:cNvPr id="19460" name="图片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471488" y="4076700"/>
            <a:ext cx="8201025" cy="2333625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3.1.2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程序的运行机制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12239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程序是在服务器端（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容器）运行的。服务器端的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引擎解释执行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代码，然后将结果以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页面形式发送到客户端。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程序的运行机制如图所示。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0484" name="对象 2"/>
          <p:cNvGraphicFramePr>
            <a:graphicFrameLocks noChangeAspect="1"/>
          </p:cNvGraphicFramePr>
          <p:nvPr/>
        </p:nvGraphicFramePr>
        <p:xfrm>
          <a:off x="971550" y="2276475"/>
          <a:ext cx="7200900" cy="4221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3886200" imgH="2272030" progId="Word.Picture.8">
                  <p:embed/>
                </p:oleObj>
              </mc:Choice>
              <mc:Fallback>
                <p:oleObj name="" r:id="rId1" imgW="3886200" imgH="227203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71550" y="2276475"/>
                        <a:ext cx="7200900" cy="4221163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语法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的标签是以“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”开始，以“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%&gt;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”结束的，而被标签包围的部分则称为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元素的内容。开始标签、结束标签和元素内容三部分组成的整体，称为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元素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Elements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）。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元素，分为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种类型：基本元素，指令元素，动作元素。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）基本元素：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规范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网页所使用的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代码，包括：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注释、声明、表达式和脚本段。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）指令元素：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是针对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引擎的，包括：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指令和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taglib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）动作元素：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属于服务器端的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元素，它用来标记并控制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Servlet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引擎的行为，主要有：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动作和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forward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本节内容：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625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3.2.1  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基本元素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625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3.2.2  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指令元素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62547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3.2.3  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动作元素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3.2.1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基本元素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的基本元素定义并规范了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网页所使用的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代码段，主要包括注释、声明、表达式和脚本段。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JSP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基本元素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声明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页面中可以声明变量和方法，声明后的变量和方法可以在本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页面的任何位置使用，并在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页面初始化时被初始化。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语法格式：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&lt;%!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声明变量、方法和类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例如：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&lt;%! 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a,b,c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; 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声明整型变量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double d=6.0;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声明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double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型变量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，并初始化为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6.0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%&gt;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3.2.1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基本元素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JSP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基本元素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表达式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的表达式是由变量、常量组成的算式，它将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生成的数值转换成字符串嵌入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页面，并直接输出（显示）其值。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语法格式：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&lt;%=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表达式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例如：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声明变量，并初始化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&lt;%!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String s=new String("Hello");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以“蓝色”显示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的值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&lt;font color="blue"&gt;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&lt;%=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&lt;/font&gt;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	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利用数学函数求值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&lt;b&gt;100,99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中最大的值：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&lt;/b&gt;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&lt;%=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java.lang.Math.max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(100,99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3.2.1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基本元素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JSP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基本元素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代码块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代码段可以包含任意合法的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语句。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语法格式：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符合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语法的代码块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例如：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&lt;%!  int d=0; %&gt; 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声明，定义全局变量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&lt;%  int a=30; %&gt;         //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代码段，定义局部变量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&lt;%     //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代码段，利用循环输出数据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，且一行一个数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for(int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=0;i&lt;8;++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){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out.print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+"&lt;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&gt;");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//out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内置对象，表示在页面上输出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的值并换行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}%&gt;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3.2.1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基本元素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17986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3-2】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利用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代码段设计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ch03_2_javalet.jsp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程序，该程序的功能是“以直角三角形的形式显示数字”并“根据随机产生的数据的不同，显示不同的问候”，运行界面如图所示。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84438" y="2565400"/>
            <a:ext cx="5491163" cy="40989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思考：</a:t>
            </a:r>
            <a:r>
              <a:rPr lang="en-US" altLang="zh-CN"/>
              <a:t>JSP</a:t>
            </a:r>
            <a:r>
              <a:rPr lang="zh-CN" altLang="en-US"/>
              <a:t>引擎的工作过程？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全局变量：</a:t>
            </a:r>
            <a:r>
              <a:rPr lang="en-US" altLang="zh-CN"/>
              <a:t>JSP</a:t>
            </a:r>
            <a:r>
              <a:rPr lang="zh-CN" altLang="en-US"/>
              <a:t>引擎将</a:t>
            </a:r>
            <a:r>
              <a:rPr lang="en-US" altLang="zh-CN">
                <a:sym typeface="+mn-ea"/>
              </a:rPr>
              <a:t>&lt;%!&gt;</a:t>
            </a:r>
            <a:r>
              <a:rPr lang="en-US" altLang="zh-CN"/>
              <a:t>JSP</a:t>
            </a:r>
            <a:r>
              <a:rPr lang="zh-CN" altLang="en-US"/>
              <a:t>成员变量和成员方法</a:t>
            </a:r>
            <a:r>
              <a:rPr lang="en-US" altLang="zh-CN"/>
              <a:t>&lt;%&gt;</a:t>
            </a:r>
            <a:r>
              <a:rPr lang="zh-CN" altLang="en-US"/>
              <a:t>转译为</a:t>
            </a:r>
            <a:r>
              <a:rPr lang="en-US" altLang="zh-CN"/>
              <a:t>Servlet</a:t>
            </a:r>
            <a:r>
              <a:rPr lang="zh-CN" altLang="en-US"/>
              <a:t>类中的成员变量、成员方法；</a:t>
            </a:r>
            <a:endParaRPr lang="zh-CN" altLang="en-US"/>
          </a:p>
          <a:p>
            <a:r>
              <a:rPr lang="zh-CN" altLang="en-US"/>
              <a:t>局部变量：而</a:t>
            </a:r>
            <a:r>
              <a:rPr lang="en-US" altLang="zh-CN"/>
              <a:t>HTML</a:t>
            </a:r>
            <a:r>
              <a:rPr lang="zh-CN" altLang="en-US"/>
              <a:t>、</a:t>
            </a:r>
            <a:r>
              <a:rPr lang="en-US" altLang="zh-CN"/>
              <a:t>&lt;%Java</a:t>
            </a:r>
            <a:r>
              <a:rPr lang="zh-CN" altLang="en-US"/>
              <a:t>代码段</a:t>
            </a:r>
            <a:r>
              <a:rPr lang="en-US" altLang="zh-CN"/>
              <a:t>%&gt;</a:t>
            </a:r>
            <a:r>
              <a:rPr lang="zh-CN" altLang="en-US"/>
              <a:t>和</a:t>
            </a:r>
            <a:r>
              <a:rPr lang="en-US" altLang="zh-CN"/>
              <a:t>&lt;%=Java</a:t>
            </a:r>
            <a:r>
              <a:rPr lang="zh-CN" altLang="en-US"/>
              <a:t>表达式</a:t>
            </a:r>
            <a:r>
              <a:rPr lang="en-US" altLang="zh-CN"/>
              <a:t>%&gt;</a:t>
            </a:r>
            <a:r>
              <a:rPr lang="zh-CN" altLang="en-US"/>
              <a:t>被转译成</a:t>
            </a:r>
            <a:r>
              <a:rPr lang="en-US" altLang="zh-CN"/>
              <a:t>_jspService</a:t>
            </a:r>
            <a:r>
              <a:rPr lang="zh-CN" altLang="en-US"/>
              <a:t>方法的一部分。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多用户请求一个</a:t>
            </a:r>
            <a:r>
              <a:rPr lang="en-US" altLang="zh-CN"/>
              <a:t>JSP</a:t>
            </a:r>
            <a:r>
              <a:rPr lang="zh-CN" altLang="en-US"/>
              <a:t>页面：</a:t>
            </a:r>
            <a:endParaRPr lang="zh-CN" altLang="en-US"/>
          </a:p>
          <a:p>
            <a:pPr lvl="1"/>
            <a:r>
              <a:rPr lang="zh-CN" altLang="en-US"/>
              <a:t>共享全局变量</a:t>
            </a:r>
            <a:endParaRPr lang="zh-CN" altLang="en-US"/>
          </a:p>
          <a:p>
            <a:pPr lvl="1"/>
            <a:r>
              <a:rPr lang="zh-CN" altLang="en-US"/>
              <a:t>互不干扰局部变量</a:t>
            </a:r>
            <a:endParaRPr lang="zh-CN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思考：</a:t>
            </a:r>
            <a:r>
              <a:rPr lang="en-US" altLang="zh-CN">
                <a:sym typeface="+mn-ea"/>
              </a:rPr>
              <a:t>JSP</a:t>
            </a:r>
            <a:r>
              <a:rPr lang="zh-CN" altLang="en-US">
                <a:sym typeface="+mn-ea"/>
              </a:rPr>
              <a:t>引擎的工作过程？</a:t>
            </a:r>
            <a:endParaRPr lang="zh-CN" altLang="en-US"/>
          </a:p>
        </p:txBody>
      </p:sp>
      <p:graphicFrame>
        <p:nvGraphicFramePr>
          <p:cNvPr id="4" name="内容占位符 3"/>
          <p:cNvGraphicFramePr>
            <a:graphicFrameLocks noGrp="1" noChangeAspect="1"/>
          </p:cNvGraphicFramePr>
          <p:nvPr>
            <p:ph idx="1"/>
            <p:custDataLst>
              <p:tags r:id="rId1"/>
            </p:custDataLst>
          </p:nvPr>
        </p:nvGraphicFramePr>
        <p:xfrm>
          <a:off x="323850" y="1290320"/>
          <a:ext cx="8554720" cy="4277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2" imgW="7057390" imgH="3528695" progId="Visio.Drawing.15">
                  <p:embed/>
                </p:oleObj>
              </mc:Choice>
              <mc:Fallback>
                <p:oleObj name="" r:id="rId2" imgW="7057390" imgH="3528695" progId="Visio.Drawing.15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23850" y="1290320"/>
                        <a:ext cx="8554720" cy="42773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内容占位符 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7315" y="5597525"/>
            <a:ext cx="8928735" cy="121539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200"/>
              <a:t>JSP</a:t>
            </a:r>
            <a:r>
              <a:rPr lang="zh-CN" altLang="en-US" sz="2200"/>
              <a:t>引擎为每个用户启动一个线程，线程执行体就是</a:t>
            </a:r>
            <a:r>
              <a:rPr lang="en-US" altLang="zh-CN" sz="2200"/>
              <a:t>_jspService()</a:t>
            </a:r>
            <a:r>
              <a:rPr lang="zh-CN" altLang="en-US" sz="2200"/>
              <a:t>方法。全局变量相互影响。在</a:t>
            </a:r>
            <a:r>
              <a:rPr lang="en-US" altLang="zh-CN" sz="2200"/>
              <a:t>_jspService</a:t>
            </a:r>
            <a:r>
              <a:rPr lang="zh-CN" altLang="en-US" sz="2200"/>
              <a:t>内部的局部变量互不影响。</a:t>
            </a:r>
            <a:endParaRPr lang="zh-CN" altLang="en-US" sz="22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3.2.1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基本元素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注释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语法格式：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  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&lt;%--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要添加的文本注释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--%&gt;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功能：在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程序中，当在发布网页时完全被忽略，不以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格式发给客户。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另外，在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程序中，也可以使用“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注释”和“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注释”。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注释的语法格式：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&lt;!--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要添加的文本注释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--&gt;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注释语法格式：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&lt;%//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要添加的文本注释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%&gt;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或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&lt;%/*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要添加的文本注释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*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/%&gt;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3.2.2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指令元素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指令是被服务器解释并被执行的，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并不产生任何可见输出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。通过指令元素可以使服务器按照指令的设置执行动作或设置在整个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页面范围内有效的属性。在一条指令中可以设置多个属性，这些属性的设置可以影响到整个页面。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指令包括：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指令、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指令和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taglib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指令：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指令：定义整个页面的全局属性。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指令：用于包含一个文本或代码的文件。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taglib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指令：引用自定义的标签或第三方标签库。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JSP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指令的语法格式：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&lt;%@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指令名称 属性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1="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属性值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1"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属性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2="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属性值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2" … %&gt;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3.2.2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指令元素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13668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Page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指令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指令用来定义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页面中的全局属性，它描述了与页面相关的一些信息。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7950" y="2492375"/>
          <a:ext cx="8928100" cy="4330704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503617"/>
                <a:gridCol w="4472450"/>
                <a:gridCol w="2952033"/>
              </a:tblGrid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属性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说明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设置值示例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language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指定用到的脚本语言，默认是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&lt;%@page language="java"%&gt;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FF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import</a:t>
                      </a:r>
                      <a:endParaRPr lang="en-US" sz="1600" kern="1000" dirty="0">
                        <a:solidFill>
                          <a:srgbClr val="FF0000"/>
                        </a:solidFill>
                        <a:effectLst/>
                        <a:latin typeface="Arial" panose="020B0604020202020204"/>
                        <a:ea typeface="黑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用于导入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包或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类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just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fr-FR" sz="12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&lt;%@page import="Java.util.Date"%&gt;</a:t>
                      </a:r>
                      <a:endParaRPr lang="zh-CN" sz="12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pageEncoding</a:t>
                      </a:r>
                      <a:endParaRPr lang="en-US" sz="1600" kern="1000" dirty="0" err="1">
                        <a:solidFill>
                          <a:srgbClr val="FF0000"/>
                        </a:solidFill>
                        <a:effectLst/>
                        <a:latin typeface="Arial" panose="020B0604020202020204"/>
                        <a:ea typeface="黑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指定页面所用编码，默认与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contentType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值相同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UTF-8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extends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转换成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Servlet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后继承的类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Java.servlet.http.HttpServlet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FF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endParaRPr lang="en-US" sz="1600" kern="1000">
                        <a:solidFill>
                          <a:srgbClr val="FF0000"/>
                        </a:solidFill>
                        <a:effectLst/>
                        <a:latin typeface="Arial" panose="020B0604020202020204"/>
                        <a:ea typeface="黑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指定该页面是否参与到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HTTP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会话中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true 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 false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buffer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设置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out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对象缓冲区大小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8kb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autoflush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设置是否自动刷新缓冲区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true 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 false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isThreadSafe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设置该页面是否是线程安全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true 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 false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info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设置页面的相关信息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网站主页面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errorPage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设置当页面出错后要跳转到的页面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/error/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jsp-error.jsp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 err="1">
                          <a:solidFill>
                            <a:srgbClr val="FF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contentType</a:t>
                      </a:r>
                      <a:endParaRPr lang="en-US" sz="1600" kern="1000" dirty="0" err="1">
                        <a:solidFill>
                          <a:srgbClr val="FF0000"/>
                        </a:solidFill>
                        <a:effectLst/>
                        <a:latin typeface="Arial" panose="020B0604020202020204"/>
                        <a:ea typeface="黑体" panose="02010609060101010101" pitchFamily="49" charset="-122"/>
                        <a:cs typeface="Times New Roman" panose="02020603050405020304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设计响应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页面的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MIME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类型和字符编码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text/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html;charset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=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gbk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isErrorPage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设置是否是一个错误处理页面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true 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 false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9336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isELIgnord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设置是否忽略正则表达式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true 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 false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3" marR="68573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3.2.2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指令元素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3-3】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设计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ch03_3_page.jsp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），显示（服务器）系统的当前时间。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分析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】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由于要使用日期类对象，所以，要由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指令导入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java.util.Date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类，同时，由于页面中使用了汉字，需要使用支持汉字的编码，这里采用“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UTF-8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”编码，所以，需要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指令指定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contentType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="text/html"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pageEncoding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="UTF-8"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3.2.2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指令元素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634038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include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指令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指令称为文件加载指令，可以将其他的文件插入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网页，被插入的文件必须保证插入后形成的新文件符合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页面的语法规则。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指令语法格式： 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        &lt;%@ include file="filename" %&gt;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其中：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指令只有一个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属性，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filename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指被包含的文件的名称（相对路径），被插入的文件必须与当前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页面在同一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服务目录下。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3.2.2  JSP</a:t>
            </a:r>
            <a:r>
              <a:rPr lang="zh-CN" altLang="en-US" dirty="0">
                <a:sym typeface="+mn-ea"/>
              </a:rPr>
              <a:t>指令元素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2.</a:t>
            </a:r>
            <a:r>
              <a:rPr lang="zh-CN" altLang="en-US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altLang="zh-CN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include</a:t>
            </a:r>
            <a:r>
              <a:rPr lang="zh-CN" altLang="en-US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指令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/>
              <a:t>可以把完成独立功能的</a:t>
            </a:r>
            <a:r>
              <a:rPr lang="en-US" altLang="zh-CN"/>
              <a:t>JSP</a:t>
            </a:r>
            <a:r>
              <a:rPr lang="zh-CN" altLang="en-US"/>
              <a:t>页面片段单独保存为一个文件。其他页面需要这一功能时，只要把它包含进来就可以。</a:t>
            </a:r>
            <a:endParaRPr lang="zh-CN" altLang="en-US"/>
          </a:p>
          <a:p>
            <a:pPr lvl="1"/>
            <a:r>
              <a:rPr lang="en-US" altLang="zh-CN"/>
              <a:t>include</a:t>
            </a:r>
            <a:r>
              <a:rPr lang="zh-CN" altLang="en-US"/>
              <a:t>指令在</a:t>
            </a:r>
            <a:r>
              <a:rPr lang="en-US" altLang="zh-CN"/>
              <a:t>JSP</a:t>
            </a:r>
            <a:r>
              <a:rPr lang="zh-CN" altLang="en-US"/>
              <a:t>引擎把包含文件转译成对应的</a:t>
            </a:r>
            <a:r>
              <a:rPr lang="en-US" altLang="zh-CN"/>
              <a:t>servlet</a:t>
            </a:r>
            <a:r>
              <a:rPr lang="zh-CN" altLang="en-US"/>
              <a:t>类时起作用。即，</a:t>
            </a:r>
            <a:r>
              <a:rPr lang="en-US" altLang="zh-CN"/>
              <a:t>JSP</a:t>
            </a:r>
            <a:r>
              <a:rPr lang="zh-CN" altLang="en-US"/>
              <a:t>引擎先把文件包含的内容合并到主文件，再把合并后的文件内容转化为</a:t>
            </a:r>
            <a:r>
              <a:rPr lang="en-US" altLang="zh-CN"/>
              <a:t>Servlet</a:t>
            </a:r>
            <a:r>
              <a:rPr lang="zh-CN" altLang="en-US"/>
              <a:t>类。</a:t>
            </a:r>
            <a:endParaRPr lang="zh-CN" altLang="en-US"/>
          </a:p>
          <a:p>
            <a:pPr lvl="1"/>
            <a:r>
              <a:rPr lang="zh-CN" altLang="en-US"/>
              <a:t>如果有多个</a:t>
            </a:r>
            <a:r>
              <a:rPr lang="en-US" altLang="zh-CN"/>
              <a:t>Include</a:t>
            </a:r>
            <a:r>
              <a:rPr lang="zh-CN" altLang="en-US"/>
              <a:t>指令哪？</a:t>
            </a:r>
            <a:endParaRPr lang="zh-CN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3.2.2  JSP</a:t>
            </a:r>
            <a:r>
              <a:rPr lang="zh-CN" altLang="en-US" dirty="0">
                <a:sym typeface="+mn-ea"/>
              </a:rPr>
              <a:t>指令元素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2.</a:t>
            </a:r>
            <a:r>
              <a:rPr lang="zh-CN" altLang="en-US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 </a:t>
            </a:r>
            <a:r>
              <a:rPr lang="en-US" altLang="zh-CN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include</a:t>
            </a:r>
            <a:r>
              <a:rPr lang="zh-CN" altLang="en-US" b="1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sym typeface="+mn-ea"/>
              </a:rPr>
              <a:t>指令</a:t>
            </a: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lvl="1"/>
            <a:r>
              <a:rPr lang="zh-CN" altLang="en-US"/>
              <a:t>注意事项：</a:t>
            </a:r>
            <a:endParaRPr lang="zh-CN" altLang="en-US"/>
          </a:p>
          <a:p>
            <a:pPr lvl="2"/>
            <a:r>
              <a:rPr lang="zh-CN" altLang="en-US"/>
              <a:t>被引入的文件必须遵循</a:t>
            </a:r>
            <a:r>
              <a:rPr lang="en-US" altLang="zh-CN"/>
              <a:t>JSP</a:t>
            </a:r>
            <a:r>
              <a:rPr lang="zh-CN" altLang="en-US"/>
              <a:t>语法；</a:t>
            </a:r>
            <a:endParaRPr lang="zh-CN" altLang="en-US"/>
          </a:p>
          <a:p>
            <a:pPr lvl="2"/>
            <a:r>
              <a:rPr lang="zh-CN" altLang="en-US"/>
              <a:t>被引入的文件可以使用任意的扩展名，即时是使用</a:t>
            </a:r>
            <a:r>
              <a:rPr lang="en-US" altLang="zh-CN"/>
              <a:t>.html</a:t>
            </a:r>
            <a:r>
              <a:rPr lang="zh-CN" altLang="en-US"/>
              <a:t>，</a:t>
            </a:r>
            <a:r>
              <a:rPr lang="en-US" altLang="zh-CN"/>
              <a:t>JSP</a:t>
            </a:r>
            <a:r>
              <a:rPr lang="zh-CN" altLang="en-US"/>
              <a:t>引擎也会按照</a:t>
            </a:r>
            <a:r>
              <a:rPr lang="en-US" altLang="zh-CN"/>
              <a:t>JSP</a:t>
            </a:r>
            <a:r>
              <a:rPr lang="zh-CN" altLang="en-US"/>
              <a:t>页面的方式处理。</a:t>
            </a:r>
            <a:endParaRPr lang="zh-CN" altLang="en-US"/>
          </a:p>
          <a:p>
            <a:pPr lvl="2"/>
            <a:r>
              <a:rPr lang="zh-CN" altLang="en-US"/>
              <a:t>当使用多个</a:t>
            </a:r>
            <a:r>
              <a:rPr lang="en-US" altLang="zh-CN"/>
              <a:t>Include</a:t>
            </a:r>
            <a:r>
              <a:rPr lang="zh-CN" altLang="en-US"/>
              <a:t>指令来包含多个文件时，</a:t>
            </a:r>
            <a:r>
              <a:rPr lang="en-US" altLang="zh-CN"/>
              <a:t>JSP</a:t>
            </a:r>
            <a:r>
              <a:rPr lang="zh-CN" altLang="en-US"/>
              <a:t>引擎会把多个文件合并转译为同一个</a:t>
            </a:r>
            <a:r>
              <a:rPr lang="en-US" altLang="zh-CN"/>
              <a:t>Servlet</a:t>
            </a:r>
            <a:r>
              <a:rPr lang="zh-CN" altLang="en-US"/>
              <a:t>类。所以，多个</a:t>
            </a:r>
            <a:r>
              <a:rPr lang="en-US" altLang="zh-CN"/>
              <a:t>JSP</a:t>
            </a:r>
            <a:r>
              <a:rPr lang="zh-CN" altLang="en-US"/>
              <a:t>页面的指令不能有冲突。比如，多个文件在使用</a:t>
            </a:r>
            <a:r>
              <a:rPr lang="en-US" altLang="zh-CN"/>
              <a:t>page</a:t>
            </a:r>
            <a:r>
              <a:rPr lang="zh-CN" altLang="en-US"/>
              <a:t>指令设置</a:t>
            </a:r>
            <a:r>
              <a:rPr lang="en-US" altLang="zh-CN"/>
              <a:t>contentType</a:t>
            </a:r>
            <a:r>
              <a:rPr lang="zh-CN" altLang="en-US"/>
              <a:t>时，其值不能有冲突。</a:t>
            </a:r>
            <a:endParaRPr lang="zh-CN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3.2.2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指令元素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27352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3-4】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有两个文件，文件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ch03_4_include1.jsp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的功能是显示“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Hello World!”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，而文件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ch03_4_include2.jsp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，首先输出（服务器）系统的日期和时间，然后通过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指令将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ch03_4_include1.jsp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文件包含进来。在网页地址中输入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ch03_4_include2.jsp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页面地址，其运行界面如图所示。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748" name="图片 3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838325" y="3573463"/>
            <a:ext cx="5394325" cy="2967038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3.2.3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动作元素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动作元素是用来控制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引擎的行为，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标准动作元素均以“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”为前缀，主要有如下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动作元素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：在页面得到请求时动态包含一个文件。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jsp:forward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：引导请求进入新的页面（转向到新页面）。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jsp:plugin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：连接客户端的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Applet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Bean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插件。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jsp:useBean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：应用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JavaBean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组建。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jsp:setProperty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：设置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JavaBean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的属性值。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jsp:getProperty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：获取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JavaBean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的属性值并输出。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3.2.3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动作元素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jsp:include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动作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语法格式：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jsp:include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page="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文件的名字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功能：当前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页面动态包含一个文件，即将当前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页面、被包含的文件各自独立编译为字节码文件。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当执行到该动作标签处，才加载执行被包含文件的字节码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例如，修改例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采用动态包含，只是将程序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ch03_4_ include2.jsp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&lt;%@ include file="ch03_4_include1.jsp" %&gt;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修改为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en-US" altLang="zh-CN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&lt;jsp:include page="ch03_4_include1.jsp"&gt;&lt;/jsp:include&gt;</a:t>
            </a:r>
            <a:endParaRPr kumimoji="0" lang="en-US" altLang="zh-CN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思考：</a:t>
            </a:r>
            <a:r>
              <a:rPr lang="en-US" altLang="zh-CN"/>
              <a:t>include</a:t>
            </a:r>
            <a:r>
              <a:rPr lang="zh-CN" altLang="en-US"/>
              <a:t>和</a:t>
            </a:r>
            <a:r>
              <a:rPr lang="en-US" altLang="zh-CN"/>
              <a:t>include</a:t>
            </a:r>
            <a:r>
              <a:rPr lang="zh-CN" altLang="en-US"/>
              <a:t>的不同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315" y="1124585"/>
            <a:ext cx="4417695" cy="5544820"/>
          </a:xfrm>
        </p:spPr>
        <p:txBody>
          <a:bodyPr/>
          <a:lstStyle/>
          <a:p>
            <a:r>
              <a:rPr lang="en-US" altLang="zh-CN" sz="2800"/>
              <a:t>include</a:t>
            </a:r>
            <a:r>
              <a:rPr lang="zh-CN" altLang="en-US" sz="2800"/>
              <a:t>指令标记</a:t>
            </a:r>
            <a:endParaRPr lang="zh-CN" altLang="en-US" sz="2800"/>
          </a:p>
          <a:p>
            <a:pPr lvl="1"/>
            <a:r>
              <a:rPr lang="zh-CN" altLang="en-US" sz="2400"/>
              <a:t>语法格式</a:t>
            </a:r>
            <a:endParaRPr lang="zh-CN" altLang="en-US" sz="2400"/>
          </a:p>
          <a:p>
            <a:pPr lvl="2"/>
            <a:r>
              <a:rPr lang="en-US" altLang="zh-CN" sz="2000"/>
              <a:t>&lt;%@include file=””%&gt;</a:t>
            </a:r>
            <a:endParaRPr lang="en-US" altLang="zh-CN" sz="2000"/>
          </a:p>
          <a:p>
            <a:pPr lvl="1"/>
            <a:r>
              <a:rPr lang="zh-CN" altLang="en-US" sz="2400"/>
              <a:t>作用时间</a:t>
            </a:r>
            <a:endParaRPr lang="zh-CN" altLang="en-US" sz="2400"/>
          </a:p>
          <a:p>
            <a:pPr lvl="2"/>
            <a:r>
              <a:rPr lang="zh-CN" altLang="en-US" sz="2000"/>
              <a:t>页面转换时</a:t>
            </a:r>
            <a:r>
              <a:rPr lang="en-US" altLang="zh-CN" sz="2000"/>
              <a:t> </a:t>
            </a:r>
            <a:endParaRPr lang="en-US" altLang="zh-CN" sz="2000"/>
          </a:p>
          <a:p>
            <a:pPr lvl="1"/>
            <a:r>
              <a:rPr lang="zh-CN" altLang="en-US" sz="2400"/>
              <a:t>包含的内容</a:t>
            </a:r>
            <a:endParaRPr lang="zh-CN" altLang="en-US" sz="2400"/>
          </a:p>
          <a:p>
            <a:pPr lvl="2"/>
            <a:r>
              <a:rPr lang="zh-CN" altLang="en-US" sz="2000"/>
              <a:t>文件实际源代码</a:t>
            </a:r>
            <a:endParaRPr lang="zh-CN" altLang="en-US" sz="2000"/>
          </a:p>
          <a:p>
            <a:pPr lvl="1"/>
            <a:r>
              <a:rPr lang="zh-CN" altLang="en-US" sz="2400"/>
              <a:t>转换为</a:t>
            </a:r>
            <a:r>
              <a:rPr lang="en-US" altLang="zh-CN" sz="2400"/>
              <a:t>servlet</a:t>
            </a:r>
            <a:endParaRPr lang="en-US" altLang="zh-CN" sz="2400"/>
          </a:p>
          <a:p>
            <a:pPr lvl="2"/>
            <a:r>
              <a:rPr lang="zh-CN" altLang="en-US" sz="2000"/>
              <a:t>主页面和包含页合并为一个</a:t>
            </a:r>
            <a:r>
              <a:rPr lang="en-US" altLang="zh-CN" sz="2000"/>
              <a:t>servlet</a:t>
            </a:r>
            <a:endParaRPr lang="en-US" altLang="zh-CN" sz="2000"/>
          </a:p>
          <a:p>
            <a:pPr lvl="1"/>
            <a:r>
              <a:rPr lang="zh-CN" altLang="en-US" sz="2400"/>
              <a:t>编译时间</a:t>
            </a:r>
            <a:r>
              <a:rPr lang="en-US" altLang="zh-CN" sz="2400"/>
              <a:t> vs </a:t>
            </a:r>
            <a:r>
              <a:rPr lang="zh-CN" altLang="en-US" sz="2400"/>
              <a:t>执行时间</a:t>
            </a:r>
            <a:endParaRPr lang="zh-CN" altLang="en-US" sz="2400"/>
          </a:p>
          <a:p>
            <a:pPr lvl="2"/>
            <a:r>
              <a:rPr lang="zh-CN" altLang="en-US" sz="2000"/>
              <a:t>较慢</a:t>
            </a:r>
            <a:r>
              <a:rPr lang="en-US" altLang="zh-CN" sz="2000"/>
              <a:t> vs </a:t>
            </a:r>
            <a:r>
              <a:rPr lang="zh-CN" altLang="en-US" sz="2000"/>
              <a:t>较快</a:t>
            </a:r>
            <a:endParaRPr lang="zh-CN" altLang="en-US" sz="2000"/>
          </a:p>
          <a:p>
            <a:pPr lvl="1"/>
            <a:r>
              <a:rPr lang="zh-CN" altLang="en-US" sz="2330"/>
              <a:t>适用场景</a:t>
            </a:r>
            <a:endParaRPr lang="zh-CN" altLang="en-US" sz="2330"/>
          </a:p>
          <a:p>
            <a:pPr lvl="2"/>
            <a:r>
              <a:rPr lang="zh-CN" altLang="en-US" sz="1995"/>
              <a:t>页面内容不经常变化</a:t>
            </a:r>
            <a:endParaRPr lang="zh-CN" altLang="en-US" sz="1995"/>
          </a:p>
        </p:txBody>
      </p:sp>
      <p:sp>
        <p:nvSpPr>
          <p:cNvPr id="4" name="内容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4572000" y="1124585"/>
            <a:ext cx="4363720" cy="554482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r>
              <a:rPr lang="en-US" altLang="zh-CN" sz="2800"/>
              <a:t>include</a:t>
            </a:r>
            <a:r>
              <a:rPr lang="zh-CN" altLang="en-US" sz="2800"/>
              <a:t>动作标记</a:t>
            </a:r>
            <a:r>
              <a:rPr lang="en-US" altLang="zh-CN" sz="2800"/>
              <a:t> </a:t>
            </a:r>
            <a:endParaRPr lang="en-US" altLang="zh-CN" sz="2800"/>
          </a:p>
          <a:p>
            <a:pPr lvl="1"/>
            <a:r>
              <a:rPr lang="zh-CN" altLang="en-US" sz="2400"/>
              <a:t>语法格式</a:t>
            </a:r>
            <a:endParaRPr lang="zh-CN" altLang="en-US" sz="2400"/>
          </a:p>
          <a:p>
            <a:pPr lvl="2"/>
            <a:r>
              <a:rPr lang="en-US" altLang="zh-CN" sz="2000"/>
              <a:t>&lt;jsp:include page=””&gt;</a:t>
            </a:r>
            <a:endParaRPr lang="en-US" altLang="zh-CN" sz="2000"/>
          </a:p>
          <a:p>
            <a:pPr lvl="1"/>
            <a:r>
              <a:rPr lang="zh-CN" altLang="en-US" sz="2400"/>
              <a:t>作用时间</a:t>
            </a:r>
            <a:endParaRPr lang="zh-CN" altLang="en-US" sz="2400"/>
          </a:p>
          <a:p>
            <a:pPr lvl="2"/>
            <a:r>
              <a:rPr lang="en-US" altLang="zh-CN" sz="2000"/>
              <a:t>servlet</a:t>
            </a:r>
            <a:r>
              <a:rPr lang="zh-CN" altLang="en-US" sz="2000"/>
              <a:t>被执行时</a:t>
            </a:r>
            <a:endParaRPr lang="zh-CN" altLang="en-US" sz="2000"/>
          </a:p>
          <a:p>
            <a:pPr lvl="1"/>
            <a:r>
              <a:rPr lang="zh-CN" altLang="en-US" sz="2400"/>
              <a:t>包含的内容</a:t>
            </a:r>
            <a:endParaRPr lang="zh-CN" altLang="en-US" sz="2400"/>
          </a:p>
          <a:p>
            <a:pPr lvl="2"/>
            <a:r>
              <a:rPr lang="zh-CN" altLang="en-US" sz="2000"/>
              <a:t>相应</a:t>
            </a:r>
            <a:r>
              <a:rPr lang="en-US" altLang="zh-CN" sz="2000"/>
              <a:t>servlet</a:t>
            </a:r>
            <a:r>
              <a:rPr lang="zh-CN" altLang="en-US" sz="2000"/>
              <a:t>的执行结果</a:t>
            </a:r>
            <a:endParaRPr lang="zh-CN" altLang="en-US" sz="2000"/>
          </a:p>
          <a:p>
            <a:pPr lvl="1"/>
            <a:r>
              <a:rPr lang="zh-CN" altLang="en-US" sz="2400"/>
              <a:t>转换为</a:t>
            </a:r>
            <a:r>
              <a:rPr lang="en-US" altLang="zh-CN" sz="2400"/>
              <a:t>servlet</a:t>
            </a:r>
            <a:endParaRPr lang="en-US" altLang="zh-CN" sz="2400"/>
          </a:p>
          <a:p>
            <a:pPr lvl="2"/>
            <a:r>
              <a:rPr lang="zh-CN" altLang="en-US" sz="2000"/>
              <a:t>主页面和包含页分别转换为独立的</a:t>
            </a:r>
            <a:r>
              <a:rPr lang="en-US" altLang="zh-CN" sz="2000"/>
              <a:t>servlet</a:t>
            </a:r>
            <a:endParaRPr lang="en-US" altLang="zh-CN" sz="2000"/>
          </a:p>
          <a:p>
            <a:pPr lvl="1"/>
            <a:r>
              <a:rPr lang="zh-CN" altLang="en-US" sz="2400">
                <a:sym typeface="+mn-ea"/>
              </a:rPr>
              <a:t>编译时间</a:t>
            </a:r>
            <a:r>
              <a:rPr lang="en-US" altLang="zh-CN" sz="2400">
                <a:sym typeface="+mn-ea"/>
              </a:rPr>
              <a:t> vs </a:t>
            </a:r>
            <a:r>
              <a:rPr lang="zh-CN" altLang="en-US" sz="2400">
                <a:sym typeface="+mn-ea"/>
              </a:rPr>
              <a:t>执行时间</a:t>
            </a:r>
            <a:endParaRPr lang="zh-CN" altLang="en-US" sz="2400"/>
          </a:p>
          <a:p>
            <a:pPr lvl="2"/>
            <a:r>
              <a:rPr lang="zh-CN" altLang="en-US">
                <a:sym typeface="+mn-ea"/>
              </a:rPr>
              <a:t>较块</a:t>
            </a:r>
            <a:r>
              <a:rPr lang="en-US" altLang="zh-CN">
                <a:sym typeface="+mn-ea"/>
              </a:rPr>
              <a:t> vs </a:t>
            </a:r>
            <a:r>
              <a:rPr lang="zh-CN" altLang="en-US">
                <a:sym typeface="+mn-ea"/>
              </a:rPr>
              <a:t>较慢</a:t>
            </a:r>
            <a:endParaRPr lang="zh-CN" altLang="en-US">
              <a:sym typeface="+mn-ea"/>
            </a:endParaRPr>
          </a:p>
          <a:p>
            <a:pPr lvl="1" algn="l">
              <a:buClrTx/>
              <a:buSzTx/>
              <a:buFontTx/>
            </a:pPr>
            <a:r>
              <a:rPr lang="zh-CN" altLang="en-US" sz="2330" kern="0">
                <a:cs typeface="+mn-ea"/>
                <a:sym typeface="+mn-ea"/>
              </a:rPr>
              <a:t>适用场景</a:t>
            </a:r>
            <a:endParaRPr lang="zh-CN" altLang="en-US" sz="2330" kern="0">
              <a:cs typeface="+mn-ea"/>
            </a:endParaRPr>
          </a:p>
          <a:p>
            <a:pPr lvl="2" algn="l">
              <a:buClrTx/>
              <a:buSzTx/>
              <a:buFontTx/>
            </a:pPr>
            <a:r>
              <a:rPr lang="zh-CN" altLang="en-US" sz="1995" kern="0">
                <a:cs typeface="+mn-ea"/>
                <a:sym typeface="+mn-ea"/>
              </a:rPr>
              <a:t>页面内容经常变化</a:t>
            </a:r>
            <a:endParaRPr lang="zh-CN" altLang="en-US" sz="1995" kern="0">
              <a:cs typeface="+mn-ea"/>
            </a:endParaRPr>
          </a:p>
          <a:p>
            <a:pPr lvl="2" algn="l">
              <a:buClrTx/>
              <a:buSzTx/>
              <a:buFontTx/>
            </a:pPr>
            <a:endParaRPr lang="en-US" altLang="zh-C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3.2.3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动作元素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jsp:forward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jsp:forward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用于停止当前页面的执行，转向另一个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或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语法格式：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jsp:forward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page="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文件的名字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注意：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在执行某个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页面过程中，遇到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forward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指令，会立即结束当前页面的执行，丢弃缓冲区当前页面的输出结果，转向指定目标对象执行。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表面上看：将用户请求发送给另外一个页面。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4572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实际上：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forward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并没有重新向新页面发送请求。只是采用新页面对用户请求进行相应。即，对客户端来说，依然是同一次请求，所有请求参数不会丢失，客户端的浏览器地址栏的地址也没有改变。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3.2.3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动作元素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</a:t>
            </a:r>
            <a:r>
              <a:rPr kumimoji="0" lang="en-US" altLang="zh-CN" sz="2800" b="1" i="0" u="none" strike="noStrike" kern="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jsp:param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子标签</a:t>
            </a:r>
            <a:endParaRPr kumimoji="0" lang="en-US" altLang="zh-CN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标签不能独立使用，需作为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jsp:include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jsp:forward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标签的子标签来使用。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语法格式：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jsp:include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page="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文件的名字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jsp:param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name="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变量名字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1" value="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变量值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1"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……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&lt;/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jsp:include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&gt;//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标签中的变量值传递给动态加载的文件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jsp:forward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page="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文件的名字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"&gt;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jsp:param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name="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变量名字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1" value="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变量值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1"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/&gt;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……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&lt;/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jsp:forward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标签中的变量值传递给跳转到的文件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3.2.3  JSP</a:t>
            </a:r>
            <a:r>
              <a:rPr lang="zh-CN" altLang="en-US" dirty="0">
                <a:sym typeface="+mn-ea"/>
              </a:rPr>
              <a:t>动作元素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/>
              <a:t>JSP</a:t>
            </a:r>
            <a:r>
              <a:rPr lang="zh-CN" altLang="en-US"/>
              <a:t>文件存放路径和引用</a:t>
            </a:r>
            <a:endParaRPr lang="zh-CN" altLang="en-US"/>
          </a:p>
          <a:p>
            <a:pPr lvl="1"/>
            <a:r>
              <a:rPr lang="zh-CN" altLang="en-US"/>
              <a:t>同级目录文件，直接用</a:t>
            </a:r>
            <a:endParaRPr lang="zh-CN" altLang="en-US"/>
          </a:p>
          <a:p>
            <a:pPr lvl="1"/>
            <a:r>
              <a:rPr lang="zh-CN" altLang="en-US"/>
              <a:t>下级目录文件，采用相对路径</a:t>
            </a:r>
            <a:r>
              <a:rPr lang="en-US" altLang="zh-CN"/>
              <a:t> </a:t>
            </a:r>
            <a:r>
              <a:rPr lang="en-US" altLang="zh-CN" sz="2000"/>
              <a:t>jspFile/common/demo.jsp</a:t>
            </a:r>
            <a:endParaRPr lang="en-US" altLang="zh-CN" sz="2000"/>
          </a:p>
          <a:p>
            <a:pPr lvl="1" algn="l">
              <a:buClrTx/>
              <a:buSzTx/>
              <a:buFontTx/>
            </a:pPr>
            <a:r>
              <a:rPr lang="zh-CN" altLang="en-US" sz="2800">
                <a:cs typeface="+mn-ea"/>
              </a:rPr>
              <a:t>父级目录，</a:t>
            </a:r>
            <a:r>
              <a:rPr lang="en-US" altLang="zh-CN" sz="2800">
                <a:cs typeface="+mn-ea"/>
              </a:rPr>
              <a:t>../</a:t>
            </a:r>
            <a:r>
              <a:rPr lang="zh-CN" altLang="en-US" sz="2800">
                <a:cs typeface="+mn-ea"/>
              </a:rPr>
              <a:t>表示父级目录，</a:t>
            </a:r>
            <a:r>
              <a:rPr lang="en-US" altLang="zh-CN" sz="2800">
                <a:cs typeface="+mn-ea"/>
              </a:rPr>
              <a:t>../../</a:t>
            </a:r>
            <a:r>
              <a:rPr lang="zh-CN" altLang="en-US" sz="2800">
                <a:cs typeface="+mn-ea"/>
              </a:rPr>
              <a:t>表示父级的父级</a:t>
            </a:r>
            <a:endParaRPr lang="zh-CN" altLang="en-US" sz="2800">
              <a:cs typeface="+mn-ea"/>
            </a:endParaRPr>
          </a:p>
          <a:p>
            <a:pPr lvl="1" algn="l">
              <a:buClrTx/>
              <a:buSzTx/>
              <a:buFontTx/>
            </a:pPr>
            <a:endParaRPr lang="zh-CN" altLang="en-US" sz="2800">
              <a:cs typeface="+mn-ea"/>
            </a:endParaRPr>
          </a:p>
          <a:p>
            <a:pPr lvl="1" algn="l">
              <a:buClrTx/>
              <a:buSzTx/>
              <a:buFontTx/>
            </a:pPr>
            <a:r>
              <a:rPr lang="en-US" altLang="zh-CN" sz="2800">
                <a:cs typeface="+mn-ea"/>
              </a:rPr>
              <a:t>WebContent</a:t>
            </a:r>
            <a:r>
              <a:rPr lang="zh-CN" altLang="en-US" sz="2800">
                <a:cs typeface="+mn-ea"/>
              </a:rPr>
              <a:t>目录下的</a:t>
            </a:r>
            <a:r>
              <a:rPr lang="en-US" altLang="zh-CN" sz="2800">
                <a:cs typeface="+mn-ea"/>
              </a:rPr>
              <a:t>WEB-INF</a:t>
            </a:r>
            <a:r>
              <a:rPr lang="zh-CN" altLang="en-US" sz="2800">
                <a:cs typeface="+mn-ea"/>
              </a:rPr>
              <a:t>文件夹是安全目录，即客户端无法访问，只能由服务器端通过</a:t>
            </a:r>
            <a:r>
              <a:rPr lang="en-US" altLang="zh-CN" sz="2800">
                <a:cs typeface="+mn-ea"/>
              </a:rPr>
              <a:t>include</a:t>
            </a:r>
            <a:r>
              <a:rPr lang="zh-CN" altLang="en-US" sz="2800">
                <a:cs typeface="+mn-ea"/>
              </a:rPr>
              <a:t>或</a:t>
            </a:r>
            <a:r>
              <a:rPr lang="en-US" altLang="zh-CN" sz="2800">
                <a:cs typeface="+mn-ea"/>
              </a:rPr>
              <a:t>forward</a:t>
            </a:r>
            <a:r>
              <a:rPr lang="zh-CN" altLang="en-US" sz="2800">
                <a:cs typeface="+mn-ea"/>
              </a:rPr>
              <a:t>等标签或者等价代码访问。</a:t>
            </a:r>
            <a:endParaRPr lang="zh-CN" altLang="en-US" sz="2800">
              <a:cs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3.2.3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动作元素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2159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3-5】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利用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动作实现参数传递，在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ch03_5_string.jsp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中要传递一个字符串“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QQ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”给文件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ch03_5_output.jsp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ch03_5_output.jsp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中接受该参数的值并输出，运行界面如图所示。如果将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换成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forward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命令呢？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2275" y="3429000"/>
            <a:ext cx="5915025" cy="32400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3.3  JSP</a:t>
            </a:r>
            <a:r>
              <a:rPr lang="zh-CN" altLang="en-US" dirty="0">
                <a:sym typeface="+mn-ea"/>
              </a:rPr>
              <a:t>内置对象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/>
              <a:t>前面讲的内容，还不足以实现复杂动态网页。比如：拿到客户端的请求信息。</a:t>
            </a:r>
            <a:endParaRPr lang="en-US" altLang="zh-CN"/>
          </a:p>
          <a:p>
            <a:r>
              <a:rPr lang="en-US" altLang="zh-CN"/>
              <a:t>JSP</a:t>
            </a:r>
            <a:r>
              <a:rPr lang="zh-CN" altLang="en-US"/>
              <a:t>有</a:t>
            </a:r>
            <a:r>
              <a:rPr lang="en-US" altLang="zh-CN"/>
              <a:t>9</a:t>
            </a:r>
            <a:r>
              <a:rPr lang="zh-CN" altLang="en-US"/>
              <a:t>个常用的内置对象，这些对象由容器来实现和管理，内置对象也叫隐含对象。</a:t>
            </a:r>
            <a:endParaRPr lang="zh-CN" altLang="en-US"/>
          </a:p>
          <a:p>
            <a:pPr lvl="1"/>
            <a:r>
              <a:rPr lang="zh-CN" altLang="en-US" sz="2800"/>
              <a:t>这些对象是</a:t>
            </a:r>
            <a:r>
              <a:rPr lang="en-US" altLang="zh-CN" sz="2800"/>
              <a:t>JAVA</a:t>
            </a:r>
            <a:r>
              <a:rPr lang="zh-CN" altLang="en-US" sz="2800"/>
              <a:t>对象，</a:t>
            </a:r>
            <a:r>
              <a:rPr lang="en-US" altLang="zh-CN" sz="2800"/>
              <a:t>java</a:t>
            </a:r>
            <a:r>
              <a:rPr lang="zh-CN" altLang="en-US" sz="2800"/>
              <a:t>在使用一个对象前，需要实例化这个对象。</a:t>
            </a:r>
            <a:endParaRPr lang="zh-CN" altLang="en-US" sz="2800"/>
          </a:p>
          <a:p>
            <a:pPr lvl="1"/>
            <a:r>
              <a:rPr lang="zh-CN" altLang="en-US" sz="2800"/>
              <a:t>但是，</a:t>
            </a:r>
            <a:r>
              <a:rPr lang="en-US" altLang="zh-CN" sz="2800"/>
              <a:t>JSP</a:t>
            </a:r>
            <a:r>
              <a:rPr lang="zh-CN" altLang="en-US" sz="2800"/>
              <a:t>提供的内置对象，开发者不需要显式的创建这些对象，就可以直接使用。</a:t>
            </a:r>
            <a:endParaRPr lang="zh-CN" altLang="en-US"/>
          </a:p>
          <a:p>
            <a:pPr lvl="1"/>
            <a:r>
              <a:rPr lang="zh-CN" altLang="en-US"/>
              <a:t>原因：</a:t>
            </a:r>
            <a:r>
              <a:rPr lang="en-US" altLang="zh-CN"/>
              <a:t>JSP</a:t>
            </a:r>
            <a:r>
              <a:rPr lang="zh-CN" altLang="en-US"/>
              <a:t>引擎在调用</a:t>
            </a:r>
            <a:r>
              <a:rPr lang="en-US" altLang="zh-CN"/>
              <a:t>_jspService()</a:t>
            </a:r>
            <a:r>
              <a:rPr lang="zh-CN" altLang="en-US"/>
              <a:t>方法时，会传递</a:t>
            </a:r>
            <a:r>
              <a:rPr lang="en-US" altLang="zh-CN"/>
              <a:t>request</a:t>
            </a:r>
            <a:r>
              <a:rPr lang="zh-CN" altLang="en-US"/>
              <a:t>和</a:t>
            </a:r>
            <a:r>
              <a:rPr lang="en-US" altLang="zh-CN"/>
              <a:t>response</a:t>
            </a:r>
            <a:r>
              <a:rPr lang="zh-CN" altLang="en-US"/>
              <a:t>这两个对象给它，并在方法开始部分定义并创建其他几个对象。所以，并不违背</a:t>
            </a:r>
            <a:r>
              <a:rPr lang="en-US" altLang="zh-CN"/>
              <a:t>java</a:t>
            </a:r>
            <a:r>
              <a:rPr lang="zh-CN" altLang="en-US"/>
              <a:t>语法。</a:t>
            </a:r>
            <a:endParaRPr lang="zh-CN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3.3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内置对象概述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4925" y="1125538"/>
          <a:ext cx="8929688" cy="5526088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1368723"/>
                <a:gridCol w="2592288"/>
                <a:gridCol w="1152128"/>
                <a:gridCol w="3816549"/>
              </a:tblGrid>
              <a:tr h="507881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对象名称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所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Arial" panose="020B0604020202020204"/>
                          <a:cs typeface="Times New Roman" panose="02020603050405020304"/>
                        </a:rPr>
                        <a:t> 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属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Arial" panose="020B0604020202020204"/>
                          <a:cs typeface="Times New Roman" panose="02020603050405020304"/>
                        </a:rPr>
                        <a:t> 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类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Arial" panose="020B0604020202020204"/>
                          <a:cs typeface="Times New Roman" panose="02020603050405020304"/>
                        </a:rPr>
                        <a:t> 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型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有效范围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说明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application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javax.servlet.ServletContext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application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代表应用程序上下文，允许</a:t>
                      </a: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页面与包括在同一应用程序中的任何</a:t>
                      </a: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Web</a:t>
                      </a: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组件共享信息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881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config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javax.servlet.ServletConfig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page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允许将初始化数据传递给一个</a:t>
                      </a: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页面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881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exception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java.lang.Throwable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page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该对象含有只能由指定的</a:t>
                      </a: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JSP“</a:t>
                      </a: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错误处理页面</a:t>
                      </a: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”</a:t>
                      </a: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访问的异常数据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881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out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javax.servlet.jsp.JspWriter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page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提供对输出流的访问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881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page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javax.servlet.jsp.HttpJspPage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page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代表</a:t>
                      </a: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页面对应的</a:t>
                      </a: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Servlet</a:t>
                      </a: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类实例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881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pageContext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javax.servlet.jsp.PageContext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page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是</a:t>
                      </a: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页面本身的上下文，它提供了唯一一组方法来管理具有不同作用域的属性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881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request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javax.servlet.http.HttpServletRequest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request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提供对请求数据的访问，同时还提供用于加入特定请求数据的上下文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7881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response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javax.servlet.http.HttpServletResponse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page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该对象用来向客户端输入数据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javax.servlet.http.HttpSession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用来保存在服务器与一个客户端之间需要保存的数据，当客户端关闭网站的所有网页时，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变量会自动消失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3.3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内置对象概述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323850" y="1700213"/>
          <a:ext cx="8496300" cy="351472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2016071"/>
                <a:gridCol w="6480229"/>
              </a:tblGrid>
              <a:tr h="576573">
                <a:tc>
                  <a:txBody>
                    <a:bodyPr/>
                    <a:lstStyle/>
                    <a:p>
                      <a:pPr indent="190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alt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4</a:t>
                      </a:r>
                      <a:r>
                        <a:rPr lang="zh-CN" alt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类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作用域</a:t>
                      </a:r>
                      <a:endParaRPr lang="zh-CN" sz="2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90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说明</a:t>
                      </a:r>
                      <a:endParaRPr lang="zh-CN" sz="2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975">
                <a:tc>
                  <a:txBody>
                    <a:bodyPr/>
                    <a:lstStyle/>
                    <a:p>
                      <a:pPr indent="190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page</a:t>
                      </a:r>
                      <a:endParaRPr lang="zh-CN" sz="2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90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对象只能在创建它的</a:t>
                      </a: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页面中被访问</a:t>
                      </a:r>
                      <a:endParaRPr lang="zh-CN" sz="2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393">
                <a:tc>
                  <a:txBody>
                    <a:bodyPr/>
                    <a:lstStyle/>
                    <a:p>
                      <a:pPr indent="190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request</a:t>
                      </a:r>
                      <a:endParaRPr lang="zh-CN" sz="2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90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对象可以在与创建它的</a:t>
                      </a: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页面监听的</a:t>
                      </a: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HTTP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请求相同的任意一个</a:t>
                      </a: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中被访问</a:t>
                      </a:r>
                      <a:endParaRPr lang="zh-CN" sz="2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393">
                <a:tc>
                  <a:txBody>
                    <a:bodyPr/>
                    <a:lstStyle/>
                    <a:p>
                      <a:pPr indent="190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endParaRPr lang="zh-CN" sz="2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90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对象可以在与创建它的</a:t>
                      </a: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页面共享相同的</a:t>
                      </a: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HTTP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会话的任意一个</a:t>
                      </a: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中被访问</a:t>
                      </a:r>
                      <a:endParaRPr lang="zh-CN" sz="2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3393">
                <a:tc>
                  <a:txBody>
                    <a:bodyPr/>
                    <a:lstStyle/>
                    <a:p>
                      <a:pPr indent="190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application</a:t>
                      </a:r>
                      <a:endParaRPr lang="zh-CN" sz="2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5" marR="68575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90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对象可以在与创建它的</a:t>
                      </a: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页面属于相同的</a:t>
                      </a: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Web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应用程序的任意一个</a:t>
                      </a:r>
                      <a:r>
                        <a:rPr lang="en-US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JSP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中被访问</a:t>
                      </a:r>
                      <a:r>
                        <a:rPr lang="zh-CN" sz="2400" kern="10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/>
                          <a:ea typeface="Arial" panose="020B0604020202020204"/>
                          <a:cs typeface="Times New Roman" panose="02020603050405020304"/>
                        </a:rPr>
                        <a:t> </a:t>
                      </a:r>
                      <a:endParaRPr lang="zh-CN" sz="2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75" marR="6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74320" y="5458460"/>
            <a:ext cx="83299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参考：https://www.cnblogs.com/shine-xn/p/16502088.html</a:t>
            </a:r>
            <a:endParaRPr lang="zh-CN" altLang="en-US"/>
          </a:p>
          <a:p>
            <a:r>
              <a:rPr lang="zh-CN" altLang="en-US"/>
              <a:t>https://blog.csdn.net/m0_46973568/article/details/116905058</a:t>
            </a:r>
            <a:endParaRPr lang="zh-CN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3.4  request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对象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4572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对象是从客户端向服务器发出请求的，包括用户提交的信息以及客户端的一些信息。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从这个对象中可以取出客户端用户提交的数据或参数。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当客户端通过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协议请求一个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页面时，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容器会自动创建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对象并将请求信息包装到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对象中，当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容器处理完请求后，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对象就会销毁。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本节内容：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3.4.1  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对象的常用方法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3.4.2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访问（获取）请求参数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3.4.3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新属性的设置和获取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4413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3.4.4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获取客户端信息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3.4.1  request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对象的常用方法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50825" y="1052513"/>
          <a:ext cx="8642350" cy="5732457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312901"/>
                <a:gridCol w="5329449"/>
              </a:tblGrid>
              <a:tr h="28822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方法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说明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2869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setAttribute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name, Object </a:t>
                      </a:r>
                      <a:r>
                        <a:rPr lang="en-US" sz="14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obj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)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用于设置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request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中的属性及其属性值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getAttribute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name)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用于返回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name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指定的属性值，若不存在指定的属性，就返回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null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。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removeAttribute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name)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用于删除请求中的一个属性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getParameter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name)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用于获得客户端传送给服务器端的参数值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705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getParameterNames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()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用于获得客户端传送给服务器端的所有参数名字（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Enumeration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类的实例）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getParameterValues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name)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用于获得指定参数的所有值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getCookies()</a:t>
                      </a:r>
                      <a:endParaRPr lang="zh-CN" sz="1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用于返回客户端的所有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Cookie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对象，结果是一个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Cookie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数组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getCharacterEncoding()</a:t>
                      </a:r>
                      <a:endParaRPr lang="zh-CN" sz="1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返回请求中的字符编码方式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getRequestURI()</a:t>
                      </a:r>
                      <a:endParaRPr lang="zh-CN" sz="1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用于获取发出请求字符串的客户端地址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getRemoteAddr()</a:t>
                      </a:r>
                      <a:endParaRPr lang="zh-CN" sz="1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用于获取客户端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IP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地址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getRemoteHost()</a:t>
                      </a:r>
                      <a:endParaRPr lang="zh-CN" sz="1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用于获取客户端名字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550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getSession([Boolean create])</a:t>
                      </a:r>
                      <a:endParaRPr lang="zh-CN" sz="1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用于返回和请求相关的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。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create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参数是可选的。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true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时，若客户端没有创建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，就创建新的</a:t>
                      </a:r>
                      <a:r>
                        <a:rPr lang="en-US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getServerName()</a:t>
                      </a:r>
                      <a:endParaRPr lang="zh-CN" sz="1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用于获取服务器的名字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getServletPath()</a:t>
                      </a:r>
                      <a:endParaRPr lang="zh-CN" sz="1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用于获取客户端所请求的脚本文件的文件路径。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06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4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getServerPort()</a:t>
                      </a:r>
                      <a:endParaRPr lang="zh-CN" sz="14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1143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4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用于获取服务器的端口号</a:t>
                      </a:r>
                      <a:endParaRPr lang="zh-CN" sz="14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91" marR="6859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3.4.2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访问（获取）请求参数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访问请求参数的方法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访问格式：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String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字符串变量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request.getParameter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客户端提供参数的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属性名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");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其中，参数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与客户端提供参数的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属性名对应，该方法的返回值为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String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类型，如果参数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属性不存在，则返回一个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null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值。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2.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传参数的三种形式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）使用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forward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动作，利用传参数子动作实现传递参数。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页面中，利用表单传递参数。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）追加在网址后的参数传递或追加在超链接后面的参数。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3.4.2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访问（获取）请求参数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35988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3-6】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利用表单传递参数。提交页面上有两个文本框，在文本框中输入姓名和电话号码，单击“提交”按钮后，由服务器端应用程序接收提交的表单信息并显示出来。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分析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假设，该题目的工程为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，则需要设计两个程序：输入页面程序（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ch03_6_infoInput.jsp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，接受信息并处理程序（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ch03_6_infoReceive.jsp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），其传递过程如图所示。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43012" name="对象 4"/>
          <p:cNvGraphicFramePr>
            <a:graphicFrameLocks noChangeAspect="1"/>
          </p:cNvGraphicFramePr>
          <p:nvPr/>
        </p:nvGraphicFramePr>
        <p:xfrm>
          <a:off x="79375" y="4724400"/>
          <a:ext cx="8956675" cy="1368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5139055" imgH="791210" progId="Word.Picture.8">
                  <p:embed/>
                </p:oleObj>
              </mc:Choice>
              <mc:Fallback>
                <p:oleObj name="" r:id="rId1" imgW="5139055" imgH="791210" progId="Word.Picture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9375" y="4724400"/>
                        <a:ext cx="8956675" cy="13684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3.4.2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访问（获取）请求参数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3-7】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采用“追加在网址后实现参数传递”示例，对于例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设计的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网页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ch03_6_infoReceive.jsp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，采用“追加在网址后实现参数传递”。假设要传递的参数是：姓名为“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abcdef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，电话为“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123456789”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，则在网址上输入如下信息：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http://localhost:8080/JavaBook/ch03/ch03_6_infoReceive.jsp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?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rdName=abc&amp;phName=123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注意：所输入的信息之间不能有空格，参数名称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rdName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和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phName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必须与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ch03_6_infoReceive.jsp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中接受参数的属性名相同。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同样，可以采用超链接的方式传递参数，修改例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ch03_6_infoInput.jsp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，将其中的表单，替换为超链接：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&lt;a 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href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="ch03_6_infoReceive.jsp?rdName=</a:t>
            </a:r>
            <a:r>
              <a:rPr kumimoji="0" lang="en-US" altLang="zh-C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abcdef&amp;phName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=123456789"&gt;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传递参数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&lt;/a&gt;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3.4.2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访问（获取）请求参数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3-8】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对于例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，修改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ch03_6_infoReceive.jsp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，采用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getParameterNames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方法获得参数并显示参数值。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修改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ch03_6_infoReceive.jsp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后的主要代码如下：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&lt;body&gt;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&lt;%  String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current_param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"";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String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current_vaul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"";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request.setCharacterEncoding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("UTF-8");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Enumeration params =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request.getParameterNames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while(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params.hasMoreElements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 ) {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current_param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(String)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params.nextElement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(); 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current_vaul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=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request.getParameter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current_param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%&gt;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参数名称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&lt;%=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current_param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%&gt;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参数值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:&lt;%=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current_vaul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%&gt;&lt;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&lt;% }%&gt;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&lt;/body&gt;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3.4.3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新属性的设置和获取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在页面使用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对象的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setAttribute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name",obj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方法，可以把数据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设定在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范围（容器）内，请求转发后的页面使用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getAttribute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("name")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就可以取得数据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的值。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设置数据的方法格式：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void 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request.setAttribute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key",Object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);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其中，参数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key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是键，为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String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类型，属性名称；参数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是键值，为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类型，代表需要保存在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范围内的数据。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获取数据的方法格式：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Object 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request.getAttribute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(String name);</a:t>
            </a:r>
            <a:endParaRPr kumimoji="0" lang="en-US" altLang="zh-CN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其中，参数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表示键名，所获取的数据类型是由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setAttribute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</a:t>
            </a:r>
            <a:r>
              <a:rPr kumimoji="0" lang="en-US" altLang="zh-CN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name",obj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中的</a:t>
            </a:r>
            <a:r>
              <a:rPr kumimoji="0" lang="en-US" altLang="zh-CN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</a:t>
            </a:r>
            <a:r>
              <a:rPr kumimoji="0" lang="zh-CN" alt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类型决定的。</a:t>
            </a:r>
            <a:endParaRPr kumimoji="0" lang="zh-CN" alt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3.4.3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新属性的设置和获取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3-9】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设计一个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程序，实现由提交页面提交的任意两个实数的和，并给出结果显示。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该题目需要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个程序：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ch03_9_input.jsp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，提交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个参数的页面；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ch03_9_sum.jsp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获取表单提交的参数，转换为实数数据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s1,s2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，并求和给属性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，再将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个新属性保存到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对象中（自己定义保存），然后转到显示页面；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ch03_9_output.jsp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对象中获取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个属性值，并显示数据。三者的关系，如图所示。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47108" name="对象 4"/>
          <p:cNvGraphicFramePr>
            <a:graphicFrameLocks noChangeAspect="1"/>
          </p:cNvGraphicFramePr>
          <p:nvPr/>
        </p:nvGraphicFramePr>
        <p:xfrm>
          <a:off x="254000" y="4005263"/>
          <a:ext cx="8648700" cy="2447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" r:id="rId1" imgW="4229100" imgH="987425" progId="Word.Picture.8">
                  <p:embed/>
                </p:oleObj>
              </mc:Choice>
              <mc:Fallback>
                <p:oleObj name="" r:id="rId1" imgW="4229100" imgH="987425" progId="Word.Picture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4000" y="4005263"/>
                        <a:ext cx="8648700" cy="24479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3.4.4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获取客户端信息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18716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3-10】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对象获取客户端的有关信息，运行界面如图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所示。首先由用户通过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ch03_10_input.jsp(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3-9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中设计的程序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输入两个数据，再由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ch03_10_showInfo.jsp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程序，获取客户端的信息并显示。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9438" y="3022600"/>
            <a:ext cx="5372100" cy="3760788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3.5  response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对象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对象相对应，用于响应客户请求，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从服务器向客户端输出信息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。当服务器向客户端传送数据时，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容器会自动创建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对象并请信息封装到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对象中，当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容器处理完请求后，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对象会被销毁。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结合起来完成动态网页的交互功能。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本节内容：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3.5.1  response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对象的常用方法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3.5.2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重定向网页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3.5.3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页面定时刷新或自动跳转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3.5.1  response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对象的常用方法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214313" y="1268413"/>
          <a:ext cx="8713787" cy="5262562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312679"/>
                <a:gridCol w="5401108"/>
              </a:tblGrid>
              <a:tr h="396361">
                <a:tc>
                  <a:txBody>
                    <a:bodyPr/>
                    <a:lstStyle/>
                    <a:p>
                      <a:pPr indent="2095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方法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说明</a:t>
                      </a:r>
                      <a:endParaRPr lang="zh-CN" sz="18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2732">
                <a:tc>
                  <a:txBody>
                    <a:bodyPr/>
                    <a:lstStyle/>
                    <a:p>
                      <a:pPr indent="2095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8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SendRedirect</a:t>
                      </a:r>
                      <a:r>
                        <a:rPr lang="en-US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</a:t>
                      </a:r>
                      <a:r>
                        <a:rPr lang="en-US" sz="18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url</a:t>
                      </a:r>
                      <a:r>
                        <a:rPr lang="en-US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)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使用指定的重定向位置</a:t>
                      </a:r>
                      <a:r>
                        <a:rPr lang="en-US" sz="18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url</a:t>
                      </a: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向客户端发送重定向响应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16103">
                <a:tc>
                  <a:txBody>
                    <a:bodyPr/>
                    <a:lstStyle/>
                    <a:p>
                      <a:pPr indent="2095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8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setDateHeader</a:t>
                      </a:r>
                      <a:r>
                        <a:rPr lang="en-US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</a:t>
                      </a:r>
                      <a:r>
                        <a:rPr lang="en-US" sz="18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name,long</a:t>
                      </a:r>
                      <a:r>
                        <a:rPr lang="en-US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 date)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使用给定的名称和日期值设置一个响应报头，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indent="762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如果指定的名称已经设置，则新值会覆盖旧值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2253">
                <a:tc>
                  <a:txBody>
                    <a:bodyPr/>
                    <a:lstStyle/>
                    <a:p>
                      <a:pPr indent="2095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8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setHeader</a:t>
                      </a:r>
                      <a:r>
                        <a:rPr lang="en-US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</a:t>
                      </a:r>
                      <a:r>
                        <a:rPr lang="en-US" sz="18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name,String</a:t>
                      </a:r>
                      <a:r>
                        <a:rPr lang="en-US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 value)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使用给定的名称和值设置一个响应报头，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indent="762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如果指定的名称已经设置，则新值会覆盖旧值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7239">
                <a:tc>
                  <a:txBody>
                    <a:bodyPr/>
                    <a:lstStyle/>
                    <a:p>
                      <a:pPr indent="2095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8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setHeader(String name,int value)</a:t>
                      </a:r>
                      <a:endParaRPr lang="zh-CN" sz="18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使用给定的名称和整数值设置一个响应报头，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indent="762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如果指定的名称已经设置，则新值会覆盖旧值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4846">
                <a:tc>
                  <a:txBody>
                    <a:bodyPr/>
                    <a:lstStyle/>
                    <a:p>
                      <a:pPr indent="2095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8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setContentType(String type)</a:t>
                      </a:r>
                      <a:endParaRPr lang="zh-CN" sz="18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为响应设置内容类型，其参数值可以为</a:t>
                      </a:r>
                      <a:r>
                        <a:rPr lang="en-US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text/html</a:t>
                      </a: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en-US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text/plain</a:t>
                      </a: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en-US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application/</a:t>
                      </a:r>
                      <a:r>
                        <a:rPr lang="en-US" sz="18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x_msexcel</a:t>
                      </a: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或</a:t>
                      </a:r>
                      <a:r>
                        <a:rPr lang="en-US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application/</a:t>
                      </a:r>
                      <a:r>
                        <a:rPr lang="en-US" sz="18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msword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514">
                <a:tc>
                  <a:txBody>
                    <a:bodyPr/>
                    <a:lstStyle/>
                    <a:p>
                      <a:pPr indent="2095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8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setContentLength(int len)</a:t>
                      </a:r>
                      <a:endParaRPr lang="zh-CN" sz="18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为响应设置内容长度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1514">
                <a:tc>
                  <a:txBody>
                    <a:bodyPr/>
                    <a:lstStyle/>
                    <a:p>
                      <a:pPr indent="20955"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fr-FR" sz="18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setLocale(java.util.Locale loc)</a:t>
                      </a:r>
                      <a:endParaRPr lang="zh-CN" sz="18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7620"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8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为响应设置地区信息</a:t>
                      </a:r>
                      <a:endParaRPr lang="zh-CN" sz="18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6" marR="68586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3.5.2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重定向网页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对象中的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sendRedirect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方法实现重定向到另一个页面。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例如：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将客户请求重定位到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login_ok.jsp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页面的代码如下：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response.sendRedirect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login_ok.jsp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");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注意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：重定向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sendRedirect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(String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url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和转发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jsp:forward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page=" "/&gt;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的区别：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）只能使用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jsp:forward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在本网站内跳转，而使用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response.sendRedirect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跳转到任何一个地址的页面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jsp:forward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带着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中的信息跳转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；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sendRedirect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不带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信息跳转。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3.5.2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重定向网页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3311525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3-11】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用户在登录界面（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ch03_11_userLogin.jsp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）输入用户名和密码，提交后验证（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ch03_11_userReceive.jsp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）登录者输入的用户名和密码是否正确，根据判断结果转向不同的页面，当输入的用户名名是“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abcdef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”，密码为“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123456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”时转发到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ch03_11_loginCorrect.jsp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页面，并显示“用户：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abcdef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成功登入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!”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信息，当输入信息不正确，重定位到北京信息科技大学主页（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https://www.bistu.edu.cn/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分析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根据题目所给出的处理要求，其业务流程如图所示。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52228" name="对象 4"/>
          <p:cNvGraphicFramePr>
            <a:graphicFrameLocks noChangeAspect="1"/>
          </p:cNvGraphicFramePr>
          <p:nvPr/>
        </p:nvGraphicFramePr>
        <p:xfrm>
          <a:off x="311150" y="4222750"/>
          <a:ext cx="8451850" cy="237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Picture" r:id="rId1" imgW="31489650" imgH="6172200" progId="Word.Picture.8">
                  <p:embed/>
                </p:oleObj>
              </mc:Choice>
              <mc:Fallback>
                <p:oleObj name="Picture" r:id="rId1" imgW="31489650" imgH="6172200" progId="Word.Picture.8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1150" y="4222750"/>
                        <a:ext cx="8451850" cy="23749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3.5.3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页面定时刷新或自动跳转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采用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对象的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setHeader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方法，实现页面的定时跳转或定时自刷新。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例如：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response.setHeader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("refresh","5");   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每隔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秒，页面自刷新一次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response.setHeader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("refresh","10;url=https://www.bistu.edu.cn/");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//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延迟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秒后，自动重定向到网页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https://www.bistu.edu.cn/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3.5.3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页面定时刷新或自动跳转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3-12】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设计一个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ch03_12_time.jsp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），每间隔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秒，页面自动刷新，并在页面上显示当前的时间。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实现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】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其关键代码：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&lt;body&gt;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当前时间是：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&lt;%=new Date().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toLocaleString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()%&gt;&lt;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&lt;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&lt;%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response.setHeader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("refresh","1");%&gt; 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&lt;/body&gt;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3.6  session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对象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会话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(session)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的含义：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用户在浏览某个网站时，从进入网站到浏览器关闭所经过的这段时间称为一次会话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当客户重新打开浏览器建立到该网站的连接时，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引擎为该客户再创建一个新的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对象，属于一次新的会话。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本节内容：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7162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3.6.1  session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对象主要方法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71628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3.6.2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创建及获取客户的会话信息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3.6.1  session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对象主要方法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322263" y="1412875"/>
          <a:ext cx="8497887" cy="5100636"/>
        </p:xfrm>
        <a:graphic>
          <a:graphicData uri="http://schemas.openxmlformats.org/drawingml/2006/table">
            <a:tbl>
              <a:tblPr firstRow="1" firstCol="1" lastRow="1" lastCol="1" bandRow="1" bandCol="1"/>
              <a:tblGrid>
                <a:gridCol w="3745111"/>
                <a:gridCol w="4752776"/>
              </a:tblGrid>
              <a:tr h="345251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方法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说明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507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Object 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getAttribute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attriname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)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用于获取与指定名字相联系的属性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如果属性不存在，将会返回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null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507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void 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setAttribute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name,Object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 value)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用于设定指定名字的属性值，并且把它存储在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对象中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5918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void 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removeAttribute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(String 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attriname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)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用于删除指定的属性（包含属性名、属性值）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507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Enumeration getAttributeNames()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用于返回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对象中存储的每一个属性对象，结果集是一个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Enumeration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类的实例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588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long getCreationTime()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用于返回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对象被创建时间，单位为毫秒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044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long getLastAccessedTime()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用于返回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最后发送请求的时间，单位为毫秒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6102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String getId()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用于返回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对象在服务器端的编号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6677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long 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setMaxInactiveInterval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()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用于返回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对象的生存时间，单位为秒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80028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boolean isNew()</a:t>
                      </a:r>
                      <a:endParaRPr lang="zh-CN" sz="1600" kern="100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用于判断目前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是否为新的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，若是则返回</a:t>
                      </a:r>
                      <a:r>
                        <a:rPr lang="en-US" sz="1600" kern="1000" dirty="0" err="1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ture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，否则返回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false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9507">
                <a:tc>
                  <a:txBody>
                    <a:bodyPr/>
                    <a:lstStyle/>
                    <a:p>
                      <a:pPr algn="ctr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void invalidate()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100"/>
                        </a:spcBef>
                        <a:spcAft>
                          <a:spcPts val="100"/>
                        </a:spcAft>
                      </a:pP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用于销毁</a:t>
                      </a:r>
                      <a:r>
                        <a:rPr lang="en-US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  <a:cs typeface="Times New Roman" panose="02020603050405020304"/>
                        </a:rPr>
                        <a:t>session</a:t>
                      </a:r>
                      <a:r>
                        <a:rPr lang="zh-CN" sz="1600" kern="1000" dirty="0">
                          <a:solidFill>
                            <a:srgbClr val="000000"/>
                          </a:solidFill>
                          <a:effectLst/>
                          <a:latin typeface="Arial" panose="020B0604020202020204"/>
                          <a:ea typeface="黑体" panose="02010609060101010101" pitchFamily="49" charset="-122"/>
                        </a:rPr>
                        <a:t>对象，使得与其绑定的对象都无效</a:t>
                      </a:r>
                      <a:endParaRPr lang="zh-CN" sz="1600" kern="1000" dirty="0">
                        <a:solidFill>
                          <a:srgbClr val="000000"/>
                        </a:solidFill>
                        <a:effectLst/>
                        <a:latin typeface="Times New Roman" panose="02020603050405020304"/>
                        <a:ea typeface="宋体" panose="02010600030101010101" pitchFamily="2" charset="-122"/>
                      </a:endParaRPr>
                    </a:p>
                  </a:txBody>
                  <a:tcPr marL="68588" marR="68588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3.6.2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创建及获取客户的会话信息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anchor="t" anchorCtr="0"/>
          <a:lstStyle/>
          <a:p>
            <a:pPr marL="0" indent="0" eaLnBrk="1" hangingPunct="1">
              <a:buNone/>
            </a:pPr>
            <a:r>
              <a:rPr lang="zh-CN" altLang="en-US" sz="2400" dirty="0"/>
              <a:t>内置对象</a:t>
            </a:r>
            <a:r>
              <a:rPr lang="en-US" altLang="zh-CN" sz="2400" dirty="0"/>
              <a:t>session</a:t>
            </a:r>
            <a:r>
              <a:rPr lang="zh-CN" altLang="en-US" sz="2400" dirty="0"/>
              <a:t>用来保持服务器与用户（客户端）之间的会话状态，利用该对象可以获取会话的状态，也可以设置属性信息的存取。</a:t>
            </a:r>
            <a:endParaRPr lang="en-US" altLang="zh-CN" sz="2400" dirty="0"/>
          </a:p>
          <a:p>
            <a:pPr marL="0" indent="0" eaLnBrk="1" hangingPunct="1">
              <a:buNone/>
            </a:pPr>
            <a:r>
              <a:rPr lang="zh-CN" altLang="en-US" sz="2400" dirty="0"/>
              <a:t>对于</a:t>
            </a:r>
            <a:r>
              <a:rPr lang="en-US" altLang="zh-CN" sz="2400" dirty="0"/>
              <a:t>session</a:t>
            </a:r>
            <a:r>
              <a:rPr lang="zh-CN" altLang="en-US" sz="2400" dirty="0"/>
              <a:t>对象中的</a:t>
            </a:r>
            <a:r>
              <a:rPr lang="en-US" altLang="zh-CN" sz="2400" dirty="0"/>
              <a:t>setAttribute()</a:t>
            </a:r>
            <a:r>
              <a:rPr lang="zh-CN" altLang="en-US" sz="2400" dirty="0"/>
              <a:t>和</a:t>
            </a:r>
            <a:r>
              <a:rPr lang="en-US" altLang="zh-CN" sz="2400" dirty="0"/>
              <a:t>getAttribute()</a:t>
            </a:r>
            <a:r>
              <a:rPr lang="zh-CN" altLang="en-US" sz="2400" dirty="0"/>
              <a:t>方法，与</a:t>
            </a:r>
            <a:r>
              <a:rPr lang="en-US" altLang="zh-CN" sz="2400" dirty="0"/>
              <a:t>request</a:t>
            </a:r>
            <a:r>
              <a:rPr lang="zh-CN" altLang="en-US" sz="2400" dirty="0"/>
              <a:t>对象中的</a:t>
            </a:r>
            <a:r>
              <a:rPr lang="en-US" altLang="zh-CN" sz="2400" dirty="0"/>
              <a:t>setAttribute()</a:t>
            </a:r>
            <a:r>
              <a:rPr lang="zh-CN" altLang="en-US" sz="2400" dirty="0"/>
              <a:t>和</a:t>
            </a:r>
            <a:r>
              <a:rPr lang="en-US" altLang="zh-CN" sz="2400" dirty="0"/>
              <a:t>getAttribute()</a:t>
            </a:r>
            <a:r>
              <a:rPr lang="zh-CN" altLang="en-US" sz="2400" dirty="0"/>
              <a:t>方法具有一样的功能和使用方法，只是使用范围不同（</a:t>
            </a:r>
            <a:r>
              <a:rPr lang="en-US" altLang="zh-CN" sz="2400" dirty="0"/>
              <a:t>request</a:t>
            </a:r>
            <a:r>
              <a:rPr lang="zh-CN" altLang="en-US" sz="2400" dirty="0"/>
              <a:t>范围、</a:t>
            </a:r>
            <a:r>
              <a:rPr lang="en-US" altLang="zh-CN" sz="2400" dirty="0"/>
              <a:t>session</a:t>
            </a:r>
            <a:r>
              <a:rPr lang="zh-CN" altLang="en-US" sz="2400" dirty="0"/>
              <a:t>范围）。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3.6.2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创建及获取客户的会话信息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3-13】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利用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对象获取会话信息并显示（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ch03_13_session.jsp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&lt;%@page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contentType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="text/html"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pageEncoding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="UTF-8" import="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java.util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.*"%&gt;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&lt;html&gt;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&lt;head&gt;&lt;title&gt;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利用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对象获取会话信息并显示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&lt;/title&gt; &lt;/head&gt;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&lt;body&gt;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session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的创建时间是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:&lt;%=new Date(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session.getCreationTime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())%&gt; 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session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号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:&lt;%=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session.getId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()%&gt;&lt;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客户最近一次访问时间是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&lt;%=new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java.sql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Time(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session.getLastAccessedTime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())%&gt; 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两次请求间隔多长时间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将被取消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ms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):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&lt;%=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session.getMaxInactiveInterval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()%&gt; 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是否是新创建的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session:&lt;%=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session.isNew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()?"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是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":"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否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"%&gt;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&lt;/body&gt;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&lt;/html&gt;</a:t>
            </a:r>
            <a:endParaRPr kumimoji="0" lang="zh-CN" altLang="en-US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3.7  application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对象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对象用于保存应用程序中的公有数据，在服务器启动时对每个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Web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程序都自动创建一个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对象，只要不关闭服务器，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对象将一直存在，所有访问同一工程的用户可以共享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本节主要内容：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3.7.1  application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对象的主要方法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5334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3.7.2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案例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——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统计网站访问人数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3.7.1  application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对象的主要方法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对象中也可以实现属性的设置、获取，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对象的属性操作有：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getAttribute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(String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attriname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获取指定属性的值；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void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setAttribute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(String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attriname,Object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attrivalue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设置一个新属性并保存值。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void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removeAttribute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(String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attriname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从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对象中删除指定的属性。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Enumeration </a:t>
            </a:r>
            <a:r>
              <a:rPr kumimoji="0" lang="en-US" altLang="zh-CN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getAttributeNames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：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获取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对象中所有属性的形成。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3.7.2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案例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——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统计网站访问人数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3-14】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利用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对象的属性存储统计网站访问人数。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分析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】</a:t>
            </a: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对于统计网站访问人数，需要判断是否是一个新的会话</a:t>
            </a: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，从而判断是否是一个新访问网站的用户，然后才能统计人数。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3.7.2 application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request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、</a:t>
            </a:r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session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62467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anchor="t" anchorCtr="0"/>
          <a:lstStyle/>
          <a:p>
            <a:pPr marL="0" indent="0" algn="just">
              <a:buNone/>
            </a:pPr>
            <a:r>
              <a:rPr lang="en-US" altLang="zh-CN" dirty="0">
                <a:solidFill>
                  <a:srgbClr val="0000FF"/>
                </a:solidFill>
              </a:rPr>
              <a:t>session</a:t>
            </a:r>
            <a:r>
              <a:rPr lang="zh-CN" altLang="en-US" dirty="0"/>
              <a:t>：</a:t>
            </a:r>
            <a:r>
              <a:rPr lang="en-US" altLang="zh-CN" dirty="0"/>
              <a:t>session</a:t>
            </a:r>
            <a:r>
              <a:rPr lang="zh-CN" altLang="en-US" dirty="0"/>
              <a:t>对象与用户会话相关，不同用户的</a:t>
            </a:r>
            <a:r>
              <a:rPr lang="en-US" altLang="zh-CN" dirty="0"/>
              <a:t>session</a:t>
            </a:r>
            <a:r>
              <a:rPr lang="zh-CN" altLang="en-US" dirty="0"/>
              <a:t>是完全不同的，在</a:t>
            </a:r>
            <a:r>
              <a:rPr lang="en-US" altLang="zh-CN" dirty="0"/>
              <a:t>session</a:t>
            </a:r>
            <a:r>
              <a:rPr lang="zh-CN" altLang="en-US" dirty="0"/>
              <a:t>中设置的属性只在当前客户的会话范围内有效，客户超过保存时间不发送请求时，</a:t>
            </a:r>
            <a:r>
              <a:rPr lang="en-US" altLang="zh-CN" dirty="0"/>
              <a:t>session</a:t>
            </a:r>
            <a:r>
              <a:rPr lang="zh-CN" altLang="en-US" dirty="0"/>
              <a:t>对象将被收回。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>
                <a:solidFill>
                  <a:srgbClr val="0000FF"/>
                </a:solidFill>
              </a:rPr>
              <a:t>application</a:t>
            </a:r>
            <a:r>
              <a:rPr lang="zh-CN" altLang="en-US" dirty="0"/>
              <a:t>：所有访问同一网站的用户都有一个相同的</a:t>
            </a:r>
            <a:r>
              <a:rPr lang="en-US" altLang="zh-CN" dirty="0"/>
              <a:t>application</a:t>
            </a:r>
            <a:r>
              <a:rPr lang="zh-CN" altLang="en-US" dirty="0"/>
              <a:t>对象，只有关闭服务器后，</a:t>
            </a:r>
            <a:r>
              <a:rPr lang="en-US" altLang="zh-CN" dirty="0"/>
              <a:t>application</a:t>
            </a:r>
            <a:r>
              <a:rPr lang="zh-CN" altLang="en-US" dirty="0"/>
              <a:t>对象中设置的属性才会被收回。</a:t>
            </a:r>
            <a:endParaRPr lang="en-US" altLang="zh-CN" dirty="0"/>
          </a:p>
          <a:p>
            <a:pPr marL="0" indent="0" algn="just">
              <a:buNone/>
            </a:pPr>
            <a:r>
              <a:rPr lang="en-US" altLang="zh-CN" dirty="0">
                <a:solidFill>
                  <a:srgbClr val="0000FF"/>
                </a:solidFill>
              </a:rPr>
              <a:t>request</a:t>
            </a:r>
            <a:r>
              <a:rPr lang="zh-CN" altLang="en-US" dirty="0"/>
              <a:t>：当客户端提交请求时，才创建</a:t>
            </a:r>
            <a:r>
              <a:rPr lang="en-US" altLang="zh-CN" dirty="0"/>
              <a:t>request</a:t>
            </a:r>
            <a:r>
              <a:rPr lang="zh-CN" altLang="en-US" dirty="0"/>
              <a:t>对象，当返回响应处理时，</a:t>
            </a:r>
            <a:r>
              <a:rPr lang="en-US" altLang="zh-CN" dirty="0"/>
              <a:t>request</a:t>
            </a:r>
            <a:r>
              <a:rPr lang="zh-CN" altLang="en-US" dirty="0"/>
              <a:t>对象自动销毁。</a:t>
            </a:r>
            <a:endParaRPr lang="zh-CN" alt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3.8  out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对象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对象的主要功能是向客户输出响应信息。其主要方法为“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print()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”，可以输出任意类型的数据，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标签可以作为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输出的内容。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3-15】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分析下面程序的运行情况，并给出运行界面。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&lt;%@ page language="java"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pageEncoding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="UTF-8"%&gt;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&lt;html&gt;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&lt;head&gt;&lt;title&gt;out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的使用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&lt;/title&gt;&lt;/head&gt;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&lt;body&gt;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利用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对象输出的页面信息：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&lt;%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out.print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aaa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/&gt;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bbb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");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out.print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/&gt;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用户名或密码不正确，请重新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&lt;a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href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='http://www.bistu.edu.cn'&gt;&lt;font size='15' color='red'&gt;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登录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&lt;/font&gt;&lt;/a&gt;");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  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out.print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("&lt;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br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&gt;&lt;a 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href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='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javascript:history.back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()'&gt;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后退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&lt;/a&gt;……");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    %&gt;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&lt;/body&gt;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&lt;/html&gt;</a:t>
            </a: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3.9  JSP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应用程序设计综合示例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8985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8985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8985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3.9.1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网上答题及其自动评测系统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89852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3.9.2  </a:t>
            </a:r>
            <a:r>
              <a:rPr kumimoji="0" lang="zh-CN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设计简单的购物车应用案例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3.9.1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网上答题及其自动评测系统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19431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3-16】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设计一个网上答题及其自动评测系统。本案例设计一个简单的网上答题与评测，其运行界面如图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所示。该程序包括两部分，首先是试题页面的设计及其解答的提交，其次是，当提交解答后，系统自动评阅并给出评阅结果。图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）是试题页面，图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3-17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）是评阅后给出的解答页面。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713" y="3316288"/>
            <a:ext cx="3989388" cy="28082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/>
          <a:srcRect r="9264"/>
          <a:stretch>
            <a:fillRect/>
          </a:stretch>
        </p:blipFill>
        <p:spPr>
          <a:xfrm>
            <a:off x="4427538" y="3316288"/>
            <a:ext cx="4130675" cy="28082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3.9.1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网上答题及其自动评测系统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分析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】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该案例的设计，需要设计两个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页面：一个是提交信息页面，另一个是获取提交信息并进行处理显示结果页面。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其设计关键是如下三点：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）对于互斥的单选框、只允许的单选的列表框，只传递一个参数。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）对于复选框、可多选列表框，需传递多个参数，通过数组保存并获取参数值。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eclipse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创建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dynamic web project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32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3.9.2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设计简单的购物车应用案例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2303463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例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3-17】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设计一个简单的购物车程序。该案例提供了两类不同的商品，不同类型的商品需要在不同的网页上浏览，并添加到购物车中，最后显示购物车中所选购的商品。其运行界面如图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3-18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所示，图（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）是购买“肉类”商品的页面，图（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）是购买“球类”的页面，两个页面可以互相跳转，并可以再向购物车中添加商品，图（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）是购物车中已经购买的商品显示页面。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" y="4292600"/>
            <a:ext cx="2862263" cy="213042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3725" y="4303713"/>
            <a:ext cx="2862263" cy="21097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3150" y="4303713"/>
            <a:ext cx="2862263" cy="21097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en-US" altLang="zh-CN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3.9.2  </a:t>
            </a:r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设计简单的购物车应用案例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【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分析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】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    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从所给出的需求，该系统需要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个页面，且三个页面共享购物信息，直到购物结束，显然，该购物过程是在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范围内完成的，需要使用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对象实现信息的共享。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本章小结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本章介绍了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的基本语法，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动作并通过案例介绍其使用方法。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脚本：变量、方法的声明，表达式，脚本段。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注释：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注释，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注释，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语言注释。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指令：定义整个页面的全局属性；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include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指令：用于包含一个文本或代码的文件。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动作：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jsp:include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动作：在页面得到请求时包含一个文件；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jsp:forward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动作：引导请求者进入新的页面。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）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JSP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内置对象：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pageContext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page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exception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，主要介绍了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request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response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、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application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对象的常用方法和常用属性。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/>
          <p:cNvSpPr>
            <a:spLocks noGrp="1"/>
          </p:cNvSpPr>
          <p:nvPr>
            <p:ph type="title"/>
          </p:nvPr>
        </p:nvSpPr>
        <p:spPr>
          <a:xfrm>
            <a:off x="250825" y="98425"/>
            <a:ext cx="8569325" cy="777875"/>
          </a:xfrm>
        </p:spPr>
        <p:txBody>
          <a:bodyPr vert="horz" wrap="square" lIns="91440" tIns="45720" rIns="91440" bIns="45720" anchor="ctr" anchorCtr="0"/>
          <a:lstStyle/>
          <a:p>
            <a:r>
              <a:rPr lang="zh-CN" altLang="en-US" dirty="0">
                <a:latin typeface="Times New Roman" panose="02020603050405020304" pitchFamily="18" charset="0"/>
                <a:ea typeface="黑体" panose="02010609060101010101" pitchFamily="49" charset="-122"/>
                <a:cs typeface="+mj-cs"/>
              </a:rPr>
              <a:t>课后作业</a:t>
            </a:r>
            <a:endParaRPr lang="zh-CN" altLang="en-US" dirty="0">
              <a:latin typeface="Times New Roman" panose="02020603050405020304" pitchFamily="18" charset="0"/>
              <a:ea typeface="黑体" panose="02010609060101010101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7950" y="1125538"/>
            <a:ext cx="8928100" cy="554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课本习题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【83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页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】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：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2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3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4</a:t>
            </a: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、</a:t>
            </a:r>
            <a:r>
              <a:rPr kumimoji="0" lang="en-US" altLang="zh-CN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作业要求：</a:t>
            </a:r>
            <a:endParaRPr kumimoji="0" lang="en-US" altLang="zh-CN" sz="3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575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程序代码（代码规范易读，代码背景色为白色）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575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程序注释（简要、准确）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575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运行截图（不同情况下运行截图，有相关说明文字，图片清晰规范）</a:t>
            </a:r>
            <a:endParaRPr kumimoji="0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357505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文本格式规范（宋体、五号；行距：最小值</a:t>
            </a:r>
            <a:r>
              <a:rPr kumimoji="0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18</a:t>
            </a:r>
            <a:r>
              <a:rPr kumimoji="0" lang="zh-CN" alt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磅）</a:t>
            </a:r>
            <a:endParaRPr kumimoji="0" lang="zh-CN" altLang="en-US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UNIT_TABLE_BEAUTIFY" val="smartTable{ad13135b-07b8-4ec7-89e8-27d7cc1fb8e4}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TABLE_BEAUTIFY" val="smartTable{84488cb2-04be-4fa5-b0be-8af8145d5230}"/>
</p:tagLst>
</file>

<file path=ppt/tags/tag6.xml><?xml version="1.0" encoding="utf-8"?>
<p:tagLst xmlns:p="http://schemas.openxmlformats.org/presentationml/2006/main">
  <p:tag name="KSO_WPP_MARK_KEY" val="ebf537b1-8119-4af4-b6c5-4b1150db4197"/>
  <p:tag name="COMMONDATA" val="eyJoZGlkIjoiMjhhNDVhN2Q4MjliZjQ4ODViYzNmODgyM2JhYWY0Mzg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17643</Words>
  <Application>WPS 演示</Application>
  <PresentationFormat>全屏显示(4:3)</PresentationFormat>
  <Paragraphs>906</Paragraphs>
  <Slides>65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65</vt:i4>
      </vt:variant>
    </vt:vector>
  </HeadingPairs>
  <TitlesOfParts>
    <vt:vector size="83" baseType="lpstr">
      <vt:lpstr>Arial</vt:lpstr>
      <vt:lpstr>宋体</vt:lpstr>
      <vt:lpstr>Wingdings</vt:lpstr>
      <vt:lpstr>Calibri</vt:lpstr>
      <vt:lpstr>Times New Roman</vt:lpstr>
      <vt:lpstr>黑体</vt:lpstr>
      <vt:lpstr>Calibri</vt:lpstr>
      <vt:lpstr>微软雅黑</vt:lpstr>
      <vt:lpstr>Arial Unicode MS</vt:lpstr>
      <vt:lpstr>Arial</vt:lpstr>
      <vt:lpstr>Times New Roman</vt:lpstr>
      <vt:lpstr>默认设计模板</vt:lpstr>
      <vt:lpstr>1_默认设计模板</vt:lpstr>
      <vt:lpstr>Word.Picture.8</vt:lpstr>
      <vt:lpstr>Visio.Drawing.15</vt:lpstr>
      <vt:lpstr>Word.Picture.8</vt:lpstr>
      <vt:lpstr>Word.Picture.8</vt:lpstr>
      <vt:lpstr>Word.Picture.8</vt:lpstr>
      <vt:lpstr>Web 应用系统实践</vt:lpstr>
      <vt:lpstr>第3章 JSP技术</vt:lpstr>
      <vt:lpstr>第3章 JSP技术</vt:lpstr>
      <vt:lpstr>3.1  JSP技术概述</vt:lpstr>
      <vt:lpstr>初窥JSP</vt:lpstr>
      <vt:lpstr>3.2  JSP语法</vt:lpstr>
      <vt:lpstr>3.1.1  JSP页面的结构</vt:lpstr>
      <vt:lpstr>3.1.1  JSP页面的结构</vt:lpstr>
      <vt:lpstr>3.1.2  JSP程序的运行机制</vt:lpstr>
      <vt:lpstr>3.2  JSP语法</vt:lpstr>
      <vt:lpstr>3.2.1  JSP基本元素</vt:lpstr>
      <vt:lpstr>3.2.1  JSP基本元素</vt:lpstr>
      <vt:lpstr>3.2.1  JSP基本元素</vt:lpstr>
      <vt:lpstr>3.2.1  JSP基本元素</vt:lpstr>
      <vt:lpstr>思考：JSP引擎的工作过程？</vt:lpstr>
      <vt:lpstr>思考：JSP引擎的工作过程？</vt:lpstr>
      <vt:lpstr>3.2.1  JSP基本元素</vt:lpstr>
      <vt:lpstr>3.2.2  JSP指令元素</vt:lpstr>
      <vt:lpstr>3.2.2  JSP指令元素</vt:lpstr>
      <vt:lpstr>3.2.2  JSP指令元素</vt:lpstr>
      <vt:lpstr>3.2.2  JSP指令元素</vt:lpstr>
      <vt:lpstr>3.2.2  JSP指令元素</vt:lpstr>
      <vt:lpstr>3.2.2  JSP指令元素</vt:lpstr>
      <vt:lpstr>3.2.2  JSP指令元素</vt:lpstr>
      <vt:lpstr>3.2.3  JSP动作元素</vt:lpstr>
      <vt:lpstr>3.2.3  JSP动作元素</vt:lpstr>
      <vt:lpstr>思考：include和include的不同</vt:lpstr>
      <vt:lpstr>3.2.3  JSP动作元素</vt:lpstr>
      <vt:lpstr>3.2.3  JSP动作元素</vt:lpstr>
      <vt:lpstr>3.2.3  JSP动作元素</vt:lpstr>
      <vt:lpstr>3.2.3  JSP动作元素</vt:lpstr>
      <vt:lpstr>3.3  JSP内置对象</vt:lpstr>
      <vt:lpstr>3.3  JSP内置对象概述</vt:lpstr>
      <vt:lpstr>3.3  JSP内置对象概述</vt:lpstr>
      <vt:lpstr>3.4  request对象</vt:lpstr>
      <vt:lpstr>3.4.1  request对象的常用方法</vt:lpstr>
      <vt:lpstr>3.4.2  访问（获取）请求参数</vt:lpstr>
      <vt:lpstr>3.4.2  访问（获取）请求参数</vt:lpstr>
      <vt:lpstr>3.4.2  访问（获取）请求参数</vt:lpstr>
      <vt:lpstr>3.4.2  访问（获取）请求参数</vt:lpstr>
      <vt:lpstr>3.4.3  新属性的设置和获取</vt:lpstr>
      <vt:lpstr>3.4.3  新属性的设置和获取</vt:lpstr>
      <vt:lpstr>3.4.4  获取客户端信息</vt:lpstr>
      <vt:lpstr>3.5  response 对象</vt:lpstr>
      <vt:lpstr>3.5.1  response 对象的常用方法</vt:lpstr>
      <vt:lpstr>3.5.2  重定向网页</vt:lpstr>
      <vt:lpstr>3.5.2  重定向网页</vt:lpstr>
      <vt:lpstr>3.5.3  页面定时刷新或自动跳转</vt:lpstr>
      <vt:lpstr>3.5.3  页面定时刷新或自动跳转</vt:lpstr>
      <vt:lpstr>3.6  session对象</vt:lpstr>
      <vt:lpstr>3.6.1  session对象主要方法</vt:lpstr>
      <vt:lpstr>3.6.2  创建及获取客户的会话信息</vt:lpstr>
      <vt:lpstr>3.6.2  创建及获取客户的会话信息</vt:lpstr>
      <vt:lpstr>3.7  application对象</vt:lpstr>
      <vt:lpstr>3.7.1  application对象的主要方法</vt:lpstr>
      <vt:lpstr>3.7.2  案例——统计网站访问人数</vt:lpstr>
      <vt:lpstr>3.7.2 application、request、session</vt:lpstr>
      <vt:lpstr>3.8  out对象</vt:lpstr>
      <vt:lpstr>3.9  JSP应用程序设计综合示例</vt:lpstr>
      <vt:lpstr>3.9.1  网上答题及其自动评测系统</vt:lpstr>
      <vt:lpstr>3.9.1  网上答题及其自动评测系统</vt:lpstr>
      <vt:lpstr>3.9.2  设计简单的购物车应用案例</vt:lpstr>
      <vt:lpstr>3.9.2  设计简单的购物车应用案例</vt:lpstr>
      <vt:lpstr>本章小结</vt:lpstr>
      <vt:lpstr>课后作业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第1章  Java Web应用开发技术概述</dc:title>
  <dc:creator>lenovo</dc:creator>
  <cp:lastModifiedBy>豹</cp:lastModifiedBy>
  <cp:revision>909</cp:revision>
  <dcterms:created xsi:type="dcterms:W3CDTF">2014-02-23T13:52:00Z</dcterms:created>
  <dcterms:modified xsi:type="dcterms:W3CDTF">2023-11-14T12:01:40Z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9FDB34791D7247B4B16DA70DE7136996_12</vt:lpwstr>
  </property>
  <property fmtid="{D5CDD505-2E9C-101B-9397-08002B2CF9AE}" pid="3" name="KSOProductBuildVer">
    <vt:lpwstr>2052-12.1.0.15712</vt:lpwstr>
  </property>
</Properties>
</file>