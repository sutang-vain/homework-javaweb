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sldIdLst>
    <p:sldId id="288" r:id="rId3"/>
    <p:sldId id="414" r:id="rId4"/>
    <p:sldId id="417" r:id="rId5"/>
    <p:sldId id="411" r:id="rId6"/>
    <p:sldId id="323" r:id="rId7"/>
    <p:sldId id="324" r:id="rId8"/>
    <p:sldId id="325" r:id="rId9"/>
    <p:sldId id="326" r:id="rId10"/>
    <p:sldId id="413" r:id="rId11"/>
    <p:sldId id="327" r:id="rId12"/>
    <p:sldId id="328" r:id="rId13"/>
    <p:sldId id="329" r:id="rId14"/>
    <p:sldId id="333" r:id="rId15"/>
    <p:sldId id="416" r:id="rId16"/>
    <p:sldId id="330" r:id="rId17"/>
    <p:sldId id="331" r:id="rId18"/>
    <p:sldId id="332" r:id="rId19"/>
    <p:sldId id="334" r:id="rId20"/>
    <p:sldId id="335" r:id="rId21"/>
    <p:sldId id="412" r:id="rId22"/>
    <p:sldId id="336" r:id="rId23"/>
    <p:sldId id="337" r:id="rId24"/>
    <p:sldId id="338" r:id="rId25"/>
    <p:sldId id="339" r:id="rId26"/>
    <p:sldId id="340" r:id="rId27"/>
    <p:sldId id="341" r:id="rId28"/>
    <p:sldId id="342" r:id="rId29"/>
    <p:sldId id="343" r:id="rId30"/>
    <p:sldId id="344" r:id="rId31"/>
    <p:sldId id="345" r:id="rId32"/>
    <p:sldId id="346" r:id="rId33"/>
    <p:sldId id="347" r:id="rId34"/>
    <p:sldId id="348" r:id="rId35"/>
    <p:sldId id="349" r:id="rId36"/>
    <p:sldId id="350" r:id="rId37"/>
    <p:sldId id="351" r:id="rId38"/>
    <p:sldId id="352" r:id="rId39"/>
    <p:sldId id="353" r:id="rId40"/>
    <p:sldId id="354" r:id="rId41"/>
    <p:sldId id="355" r:id="rId42"/>
    <p:sldId id="356" r:id="rId43"/>
    <p:sldId id="357" r:id="rId44"/>
    <p:sldId id="358" r:id="rId45"/>
    <p:sldId id="403" r:id="rId46"/>
    <p:sldId id="404" r:id="rId47"/>
    <p:sldId id="405" r:id="rId48"/>
    <p:sldId id="406" r:id="rId49"/>
    <p:sldId id="359" r:id="rId50"/>
    <p:sldId id="360" r:id="rId51"/>
    <p:sldId id="361" r:id="rId52"/>
    <p:sldId id="408" r:id="rId53"/>
    <p:sldId id="363" r:id="rId54"/>
    <p:sldId id="362" r:id="rId55"/>
    <p:sldId id="365" r:id="rId56"/>
    <p:sldId id="364" r:id="rId57"/>
    <p:sldId id="366" r:id="rId58"/>
    <p:sldId id="367" r:id="rId59"/>
    <p:sldId id="407" r:id="rId60"/>
    <p:sldId id="368" r:id="rId61"/>
    <p:sldId id="369" r:id="rId62"/>
    <p:sldId id="370" r:id="rId63"/>
    <p:sldId id="371" r:id="rId64"/>
    <p:sldId id="372" r:id="rId65"/>
    <p:sldId id="373" r:id="rId66"/>
    <p:sldId id="374" r:id="rId67"/>
    <p:sldId id="375" r:id="rId68"/>
    <p:sldId id="409" r:id="rId69"/>
    <p:sldId id="376" r:id="rId70"/>
    <p:sldId id="377" r:id="rId71"/>
    <p:sldId id="378" r:id="rId72"/>
    <p:sldId id="379" r:id="rId73"/>
    <p:sldId id="380" r:id="rId74"/>
    <p:sldId id="381" r:id="rId75"/>
    <p:sldId id="382" r:id="rId76"/>
    <p:sldId id="383" r:id="rId77"/>
    <p:sldId id="384" r:id="rId78"/>
    <p:sldId id="385" r:id="rId79"/>
    <p:sldId id="386" r:id="rId80"/>
    <p:sldId id="387" r:id="rId81"/>
    <p:sldId id="388" r:id="rId82"/>
    <p:sldId id="389" r:id="rId83"/>
    <p:sldId id="390" r:id="rId84"/>
    <p:sldId id="391" r:id="rId85"/>
    <p:sldId id="392" r:id="rId86"/>
    <p:sldId id="393" r:id="rId87"/>
    <p:sldId id="394" r:id="rId88"/>
    <p:sldId id="395" r:id="rId89"/>
    <p:sldId id="396" r:id="rId90"/>
    <p:sldId id="397" r:id="rId91"/>
    <p:sldId id="398" r:id="rId92"/>
    <p:sldId id="399" r:id="rId93"/>
    <p:sldId id="400" r:id="rId94"/>
    <p:sldId id="401" r:id="rId95"/>
    <p:sldId id="402" r:id="rId96"/>
    <p:sldId id="410" r:id="rId97"/>
  </p:sldIdLst>
  <p:sldSz cx="9144000" cy="6858000" type="screen4x3"/>
  <p:notesSz cx="6858000" cy="9144000"/>
  <p:custDataLst>
    <p:tags r:id="rId102"/>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8203"/>
    <p:restoredTop sz="95859"/>
  </p:normalViewPr>
  <p:slideViewPr>
    <p:cSldViewPr showGuides="1">
      <p:cViewPr varScale="1">
        <p:scale>
          <a:sx n="75" d="100"/>
          <a:sy n="75" d="100"/>
        </p:scale>
        <p:origin x="53" y="72"/>
      </p:cViewPr>
      <p:guideLst>
        <p:guide orient="horz" pos="2160"/>
        <p:guide pos="2880"/>
      </p:guideLst>
    </p:cSldViewPr>
  </p:slideViewPr>
  <p:notesTextViewPr>
    <p:cViewPr>
      <p:scale>
        <a:sx n="1" d="1"/>
        <a:sy n="1" d="1"/>
      </p:scale>
      <p:origin x="0" y="0"/>
    </p:cViewPr>
  </p:notesTextViewPr>
  <p:sorterViewPr showFormatting="0">
    <p:cViewPr>
      <p:scale>
        <a:sx n="100" d="100"/>
        <a:sy n="100" d="100"/>
      </p:scale>
      <p:origin x="0" y="-953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notesMaster" Target="notesMasters/notesMaster1.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gs" Target="tags/tag1.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4B5E212E-8AA6-469C-A429-A36E6D0B1F6B}" type="datetimeFigureOut">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3317" name="备注占位符 4"/>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fontAlgn="base" hangingPunct="1">
              <a:buNone/>
            </a:pPr>
            <a:fld id="{9A0DB2DC-4C9A-4742-B13C-FB6460FD3503}" type="slidenum">
              <a:rPr lang="zh-CN" altLang="en-US" sz="1200" strike="noStrike" noProof="1" dirty="0">
                <a:latin typeface="Calibri" panose="020F050202020403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3074" name="Picture 1"/>
          <p:cNvPicPr>
            <a:picLocks noChangeAspect="1"/>
          </p:cNvPicPr>
          <p:nvPr userDrawn="1"/>
        </p:nvPicPr>
        <p:blipFill>
          <a:blip r:embed="rId2"/>
          <a:stretch>
            <a:fillRect/>
          </a:stretch>
        </p:blipFill>
        <p:spPr>
          <a:xfrm>
            <a:off x="0" y="935038"/>
            <a:ext cx="9150350" cy="79375"/>
          </a:xfrm>
          <a:prstGeom prst="rect">
            <a:avLst/>
          </a:prstGeom>
          <a:noFill/>
          <a:ln w="9525">
            <a:noFill/>
          </a:ln>
        </p:spPr>
      </p:pic>
      <p:sp>
        <p:nvSpPr>
          <p:cNvPr id="2" name="标题 1"/>
          <p:cNvSpPr>
            <a:spLocks noGrp="1"/>
          </p:cNvSpPr>
          <p:nvPr>
            <p:ph type="title"/>
          </p:nvPr>
        </p:nvSpPr>
        <p:spPr>
          <a:xfrm>
            <a:off x="251520" y="98870"/>
            <a:ext cx="8568952" cy="778098"/>
          </a:xfrm>
        </p:spPr>
        <p:txBody>
          <a:bodyPr/>
          <a:lstStyle>
            <a:lvl1pPr algn="l">
              <a:defRPr sz="4000" baseline="0">
                <a:latin typeface="Times New Roman" panose="02020603050405020304" pitchFamily="18" charset="0"/>
                <a:ea typeface="黑体" panose="02010609060101010101" pitchFamily="49" charset="-122"/>
              </a:defRPr>
            </a:lvl1pPr>
          </a:lstStyle>
          <a:p>
            <a:pPr fontAlgn="base"/>
            <a:r>
              <a:rPr lang="zh-CN" altLang="en-US" strike="noStrike" noProof="1" dirty="0"/>
              <a:t>单击此处编辑母版标题样式</a:t>
            </a:r>
            <a:endParaRPr lang="zh-CN" altLang="en-US" strike="noStrike" noProof="1" dirty="0"/>
          </a:p>
        </p:txBody>
      </p:sp>
      <p:sp>
        <p:nvSpPr>
          <p:cNvPr id="3" name="内容占位符 2"/>
          <p:cNvSpPr>
            <a:spLocks noGrp="1"/>
          </p:cNvSpPr>
          <p:nvPr>
            <p:ph idx="1"/>
          </p:nvPr>
        </p:nvSpPr>
        <p:spPr>
          <a:xfrm>
            <a:off x="107504" y="1124744"/>
            <a:ext cx="8928992" cy="5544616"/>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457200" y="6245225"/>
            <a:ext cx="2133600" cy="476250"/>
          </a:xfrm>
          <a:prstGeom prst="rect">
            <a:avLst/>
          </a:prstGeom>
          <a:noFill/>
          <a:ln>
            <a:noFill/>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5" name="页脚占位符 4"/>
          <p:cNvSpPr>
            <a:spLocks noGrp="1"/>
          </p:cNvSpPr>
          <p:nvPr>
            <p:ph type="ftr" sz="quarter" idx="11"/>
          </p:nvPr>
        </p:nvSpPr>
        <p:spPr>
          <a:xfrm>
            <a:off x="3124200" y="6245225"/>
            <a:ext cx="2895600" cy="476250"/>
          </a:xfrm>
          <a:prstGeom prst="rect">
            <a:avLst/>
          </a:prstGeom>
          <a:noFill/>
          <a:ln>
            <a:noFill/>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灯片编号占位符 5"/>
          <p:cNvSpPr>
            <a:spLocks noGrp="1"/>
          </p:cNvSpPr>
          <p:nvPr>
            <p:ph type="sldNum" sz="quarter" idx="12"/>
          </p:nvPr>
        </p:nvSpPr>
        <p:spPr>
          <a:xfrm>
            <a:off x="6553200" y="6245225"/>
            <a:ext cx="2133600" cy="476250"/>
          </a:xfrm>
          <a:prstGeom prst="rect">
            <a:avLst/>
          </a:prstGeom>
          <a:noFill/>
          <a:ln>
            <a:noFill/>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Calibri" panose="020F0502020204030204" pitchFamily="34" charset="0"/>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8" name="页脚占位符 7"/>
          <p:cNvSpPr>
            <a:spLocks noGrp="1"/>
          </p:cNvSpPr>
          <p:nvPr>
            <p:ph type="ftr" sz="quarter" idx="1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9" name="灯片编号占位符 8"/>
          <p:cNvSpPr>
            <a:spLocks noGrp="1"/>
          </p:cNvSpPr>
          <p:nvPr>
            <p:ph type="sldNum" sz="quarter" idx="1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4" name="页脚占位符 3"/>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5" name="灯片编号占位符 4"/>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3" name="页脚占位符 2"/>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4" name="灯片编号占位符 3"/>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页脚占位符 5"/>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7" name="灯片编号占位符 6"/>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5" name="页脚占位符 4"/>
          <p:cNvSpPr>
            <a:spLocks noGrp="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fontAlgn="auto">
              <a:spcBef>
                <a:spcPts val="0"/>
              </a:spcBef>
              <a:spcAft>
                <a:spcPts val="0"/>
              </a:spcAf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6" name="灯片编号占位符 5"/>
          <p:cNvSpPr>
            <a:spLocks noGrp="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
            <a:pPr algn="r"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Arial" panose="020B0604020202020204" pitchFamily="34" charset="0"/>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eaLnBrk="1" hangingPunct="1">
              <a:defRPr sz="1400">
                <a:solidFill>
                  <a:srgbClr val="000000"/>
                </a:solidFill>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solidFill>
                  <a:srgbClr val="000000"/>
                </a:solidFill>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mn-lt"/>
              <a:ea typeface="+mn-ea"/>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lstStyle>
            <a:lvl1pPr algn="r">
              <a:defRPr sz="1400">
                <a:solidFill>
                  <a:srgbClr val="000000"/>
                </a:solidFill>
                <a:latin typeface="Arial" panose="020B0604020202020204" pitchFamily="34" charset="0"/>
              </a:defRPr>
            </a:lvl1pPr>
          </a:lstStyle>
          <a:p>
            <a:pPr lvl="0" eaLnBrk="1" fontAlgn="base" hangingPunct="1">
              <a:buNone/>
            </a:pPr>
            <a:fld id="{9A0DB2DC-4C9A-4742-B13C-FB6460FD3503}" type="slidenum">
              <a:rPr lang="en-US" altLang="zh-CN" strike="noStrike" noProof="1" dirty="0">
                <a:latin typeface="Arial" panose="020B0604020202020204" pitchFamily="34" charset="0"/>
                <a:ea typeface="宋体" panose="02010600030101010101" pitchFamily="2" charset="-122"/>
                <a:cs typeface="+mn-cs"/>
              </a:rPr>
            </a:fld>
            <a:endParaRPr lang="en-US" altLang="zh-CN" strike="noStrike" noProof="1"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image" Target="../media/image3.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标题 1"/>
          <p:cNvSpPr>
            <a:spLocks noGrp="1"/>
          </p:cNvSpPr>
          <p:nvPr>
            <p:ph type="ctrTitle"/>
          </p:nvPr>
        </p:nvSpPr>
        <p:spPr>
          <a:xfrm>
            <a:off x="360363" y="2205038"/>
            <a:ext cx="8423275" cy="1296987"/>
          </a:xfrm>
        </p:spPr>
        <p:txBody>
          <a:bodyPr vert="horz" wrap="square" lIns="91440" tIns="45720" rIns="91440" bIns="45720" anchor="ctr" anchorCtr="0"/>
          <a:p>
            <a:pPr>
              <a:buClrTx/>
              <a:buSzTx/>
              <a:buFontTx/>
            </a:pPr>
            <a:r>
              <a:rPr lang="en-US" altLang="zh-CN" sz="4800" b="1" dirty="0"/>
              <a:t>Web </a:t>
            </a:r>
            <a:r>
              <a:rPr lang="zh-CN" altLang="en-US" sz="4800" b="1" dirty="0"/>
              <a:t>应用系统实践</a:t>
            </a:r>
            <a:endParaRPr lang="zh-CN" altLang="en-US" sz="4800" b="1" dirty="0"/>
          </a:p>
        </p:txBody>
      </p:sp>
      <p:pic>
        <p:nvPicPr>
          <p:cNvPr id="3" name="Picture 3"/>
          <p:cNvPicPr>
            <a:picLocks noChangeAspect="1" noChangeArrowheads="1"/>
          </p:cNvPicPr>
          <p:nvPr/>
        </p:nvPicPr>
        <p:blipFill>
          <a:blip r:embed="rId1" cstate="print"/>
          <a:srcRect/>
          <a:stretch>
            <a:fillRect/>
          </a:stretch>
        </p:blipFill>
        <p:spPr bwMode="gray">
          <a:xfrm>
            <a:off x="-1" y="152400"/>
            <a:ext cx="4201571" cy="900335"/>
          </a:xfrm>
          <a:prstGeom prst="rect">
            <a:avLst/>
          </a:prstGeom>
          <a:ln>
            <a:noFill/>
          </a:ln>
          <a:effectLst>
            <a:softEdge rad="112500"/>
          </a:effectLst>
        </p:spPr>
      </p:pic>
      <p:sp>
        <p:nvSpPr>
          <p:cNvPr id="14339" name="标题 1"/>
          <p:cNvSpPr txBox="1"/>
          <p:nvPr/>
        </p:nvSpPr>
        <p:spPr>
          <a:xfrm>
            <a:off x="360363" y="4437063"/>
            <a:ext cx="8423275" cy="1296987"/>
          </a:xfrm>
          <a:prstGeom prst="rect">
            <a:avLst/>
          </a:prstGeom>
          <a:noFill/>
          <a:ln w="9525">
            <a:noFill/>
          </a:ln>
        </p:spPr>
        <p:txBody>
          <a:bodyPr anchor="ctr" anchorCtr="0"/>
          <a:p>
            <a:pPr algn="ctr" eaLnBrk="0" hangingPunct="0">
              <a:lnSpc>
                <a:spcPct val="150000"/>
              </a:lnSpc>
            </a:pPr>
            <a:r>
              <a:rPr lang="zh-CN" altLang="en-US" sz="2400" b="1" dirty="0">
                <a:solidFill>
                  <a:schemeClr val="tx2"/>
                </a:solidFill>
                <a:latin typeface="Arial" panose="020B0604020202020204" pitchFamily="34" charset="0"/>
                <a:ea typeface="宋体" panose="02010600030101010101" pitchFamily="2" charset="-122"/>
              </a:rPr>
              <a:t>教师：乔文豹 </a:t>
            </a:r>
            <a:endParaRPr lang="en-US" altLang="zh-CN" sz="2400" b="1" dirty="0">
              <a:solidFill>
                <a:schemeClr val="tx2"/>
              </a:solidFill>
              <a:latin typeface="Arial" panose="020B0604020202020204" pitchFamily="34" charset="0"/>
              <a:ea typeface="宋体" panose="02010600030101010101" pitchFamily="2" charset="-122"/>
            </a:endParaRPr>
          </a:p>
          <a:p>
            <a:pPr algn="ctr" eaLnBrk="0" hangingPunct="0">
              <a:lnSpc>
                <a:spcPct val="150000"/>
              </a:lnSpc>
            </a:pPr>
            <a:r>
              <a:rPr lang="en-US" altLang="zh-CN" sz="2400" b="1" dirty="0">
                <a:solidFill>
                  <a:schemeClr val="tx2"/>
                </a:solidFill>
                <a:latin typeface="Arial" panose="020B0604020202020204" pitchFamily="34" charset="0"/>
                <a:ea typeface="宋体" panose="02010600030101010101" pitchFamily="2" charset="-122"/>
              </a:rPr>
              <a:t>2023</a:t>
            </a:r>
            <a:r>
              <a:rPr lang="zh-CN" altLang="en-US" sz="2400" b="1" dirty="0">
                <a:solidFill>
                  <a:schemeClr val="tx2"/>
                </a:solidFill>
                <a:latin typeface="Arial" panose="020B0604020202020204" pitchFamily="34" charset="0"/>
                <a:ea typeface="宋体" panose="02010600030101010101" pitchFamily="2" charset="-122"/>
              </a:rPr>
              <a:t>年</a:t>
            </a:r>
            <a:r>
              <a:rPr lang="en-US" altLang="zh-CN" sz="2400" b="1" dirty="0">
                <a:solidFill>
                  <a:schemeClr val="tx2"/>
                </a:solidFill>
                <a:latin typeface="Arial" panose="020B0604020202020204" pitchFamily="34" charset="0"/>
                <a:ea typeface="宋体" panose="02010600030101010101" pitchFamily="2" charset="-122"/>
              </a:rPr>
              <a:t>5</a:t>
            </a:r>
            <a:r>
              <a:rPr lang="zh-CN" altLang="en-US" sz="2400" b="1" dirty="0">
                <a:solidFill>
                  <a:schemeClr val="tx2"/>
                </a:solidFill>
                <a:latin typeface="Arial" panose="020B0604020202020204" pitchFamily="34" charset="0"/>
                <a:ea typeface="宋体" panose="02010600030101010101" pitchFamily="2" charset="-122"/>
              </a:rPr>
              <a:t>月</a:t>
            </a:r>
            <a:r>
              <a:rPr lang="en-US" altLang="zh-CN" sz="2400" b="1" dirty="0">
                <a:solidFill>
                  <a:schemeClr val="tx2"/>
                </a:solidFill>
                <a:latin typeface="Arial" panose="020B0604020202020204" pitchFamily="34" charset="0"/>
                <a:ea typeface="宋体" panose="02010600030101010101" pitchFamily="2" charset="-122"/>
              </a:rPr>
              <a:t>24</a:t>
            </a:r>
            <a:r>
              <a:rPr lang="zh-CN" altLang="en-US" sz="2400" b="1" dirty="0">
                <a:solidFill>
                  <a:schemeClr val="tx2"/>
                </a:solidFill>
                <a:latin typeface="Arial" panose="020B0604020202020204" pitchFamily="34" charset="0"/>
                <a:ea typeface="宋体" panose="02010600030101010101" pitchFamily="2" charset="-122"/>
              </a:rPr>
              <a:t>日</a:t>
            </a:r>
            <a:endParaRPr lang="zh-CN" altLang="en-US" sz="2400" b="1" dirty="0">
              <a:solidFill>
                <a:schemeClr val="tx2"/>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1"/>
          <p:cNvSpPr>
            <a:spLocks noGrp="1"/>
          </p:cNvSpPr>
          <p:nvPr>
            <p:ph type="title"/>
          </p:nvPr>
        </p:nvSpPr>
        <p:spPr>
          <a:xfrm>
            <a:off x="250825" y="98425"/>
            <a:ext cx="8569325" cy="777875"/>
          </a:xfrm>
        </p:spPr>
        <p:txBody>
          <a:bodyPr vert="horz" wrap="square" lIns="91440" tIns="45720" rIns="91440" bIns="45720" anchor="ctr" anchorCtr="0"/>
          <a:p>
            <a:pPr>
              <a:buNone/>
            </a:pPr>
            <a:r>
              <a:rPr lang="zh-CN" altLang="en-US" baseline="0" dirty="0">
                <a:latin typeface="Times New Roman" panose="02020603050405020304" pitchFamily="18" charset="0"/>
                <a:ea typeface="黑体" panose="02010609060101010101" pitchFamily="49" charset="-122"/>
                <a:cs typeface="+mj-cs"/>
              </a:rPr>
              <a:t>教学大纲及课程规划</a:t>
            </a:r>
            <a:endParaRPr lang="zh-CN" altLang="en-US" baseline="0" dirty="0">
              <a:latin typeface="Times New Roman" panose="02020603050405020304" pitchFamily="18" charset="0"/>
              <a:ea typeface="黑体" panose="02010609060101010101" pitchFamily="49" charset="-122"/>
              <a:cs typeface="+mj-cs"/>
            </a:endParaRPr>
          </a:p>
        </p:txBody>
      </p:sp>
      <p:sp>
        <p:nvSpPr>
          <p:cNvPr id="15362" name="内容占位符 2"/>
          <p:cNvSpPr>
            <a:spLocks noGrp="1"/>
          </p:cNvSpPr>
          <p:nvPr>
            <p:ph idx="1"/>
          </p:nvPr>
        </p:nvSpPr>
        <p:spPr>
          <a:xfrm>
            <a:off x="107950" y="910273"/>
            <a:ext cx="8928100" cy="5543550"/>
          </a:xfrm>
        </p:spPr>
        <p:txBody>
          <a:bodyPr vert="horz" wrap="square" lIns="91440" tIns="45720" rIns="91440" bIns="45720" anchor="t" anchorCtr="0"/>
          <a:p>
            <a:r>
              <a:rPr lang="zh-CN" altLang="en-US" sz="2800" dirty="0"/>
              <a:t>教学大纲：</a:t>
            </a:r>
            <a:r>
              <a:rPr lang="en-US" altLang="zh-CN" sz="2400" dirty="0"/>
              <a:t>20</a:t>
            </a:r>
            <a:r>
              <a:rPr lang="zh-CN" altLang="en-US" sz="2400" dirty="0"/>
              <a:t>级教学大纲，计算机科学技术</a:t>
            </a:r>
            <a:endParaRPr lang="en-US" altLang="zh-CN" sz="2400" dirty="0"/>
          </a:p>
          <a:p>
            <a:r>
              <a:rPr lang="zh-CN" altLang="en-US" sz="2800" dirty="0"/>
              <a:t>课程培养目标</a:t>
            </a:r>
            <a:endParaRPr lang="en-US" altLang="zh-CN" sz="2800" dirty="0"/>
          </a:p>
          <a:p>
            <a:pPr algn="just">
              <a:lnSpc>
                <a:spcPct val="125000"/>
              </a:lnSpc>
            </a:pPr>
            <a:r>
              <a:rPr lang="zh-CN" altLang="zh-CN" sz="1800" b="1" dirty="0">
                <a:latin typeface="Times New Roman" panose="02020603050405020304" pitchFamily="18" charset="0"/>
              </a:rPr>
              <a:t>课程目标</a:t>
            </a:r>
            <a:r>
              <a:rPr lang="en-US" altLang="zh-CN" sz="1800" b="1" dirty="0">
                <a:latin typeface="Times New Roman" panose="02020603050405020304" pitchFamily="18" charset="0"/>
              </a:rPr>
              <a:t>1</a:t>
            </a:r>
            <a:r>
              <a:rPr lang="zh-CN" altLang="zh-CN" sz="1800" b="1" dirty="0">
                <a:latin typeface="Times New Roman" panose="02020603050405020304" pitchFamily="18" charset="0"/>
              </a:rPr>
              <a:t>：</a:t>
            </a:r>
            <a:r>
              <a:rPr lang="zh-CN" altLang="zh-CN" sz="1800" dirty="0">
                <a:latin typeface="Times New Roman" panose="02020603050405020304" pitchFamily="18" charset="0"/>
              </a:rPr>
              <a:t>掌握</a:t>
            </a:r>
            <a:r>
              <a:rPr lang="en-US" altLang="zh-CN" sz="1800" dirty="0">
                <a:latin typeface="Times New Roman" panose="02020603050405020304" pitchFamily="18" charset="0"/>
              </a:rPr>
              <a:t>Java Web</a:t>
            </a:r>
            <a:r>
              <a:rPr lang="zh-CN" altLang="zh-CN" sz="1800" dirty="0">
                <a:latin typeface="Times New Roman" panose="02020603050405020304" pitchFamily="18" charset="0"/>
              </a:rPr>
              <a:t>开发中基本的</a:t>
            </a:r>
            <a:r>
              <a:rPr lang="en-US" altLang="zh-CN" sz="1800" dirty="0">
                <a:latin typeface="Times New Roman" panose="02020603050405020304" pitchFamily="18" charset="0"/>
              </a:rPr>
              <a:t>JSP</a:t>
            </a:r>
            <a:r>
              <a:rPr lang="zh-CN" altLang="zh-CN" sz="1800" dirty="0">
                <a:latin typeface="Times New Roman" panose="02020603050405020304" pitchFamily="18" charset="0"/>
              </a:rPr>
              <a:t>、</a:t>
            </a:r>
            <a:r>
              <a:rPr lang="en-US" altLang="zh-CN" sz="1800" dirty="0">
                <a:latin typeface="Times New Roman" panose="02020603050405020304" pitchFamily="18" charset="0"/>
              </a:rPr>
              <a:t>JavaBean</a:t>
            </a:r>
            <a:r>
              <a:rPr lang="zh-CN" altLang="zh-CN" sz="1800" dirty="0">
                <a:latin typeface="Times New Roman" panose="02020603050405020304" pitchFamily="18" charset="0"/>
              </a:rPr>
              <a:t>、</a:t>
            </a:r>
            <a:r>
              <a:rPr lang="en-US" altLang="zh-CN" sz="1800" dirty="0">
                <a:latin typeface="Times New Roman" panose="02020603050405020304" pitchFamily="18" charset="0"/>
              </a:rPr>
              <a:t>JDBC</a:t>
            </a:r>
            <a:r>
              <a:rPr lang="zh-CN" altLang="zh-CN" sz="1800" dirty="0">
                <a:latin typeface="Times New Roman" panose="02020603050405020304" pitchFamily="18" charset="0"/>
              </a:rPr>
              <a:t>、</a:t>
            </a:r>
            <a:r>
              <a:rPr lang="en-US" altLang="zh-CN" sz="1800" dirty="0">
                <a:latin typeface="Times New Roman" panose="02020603050405020304" pitchFamily="18" charset="0"/>
              </a:rPr>
              <a:t>Servlet</a:t>
            </a:r>
            <a:r>
              <a:rPr lang="zh-CN" altLang="zh-CN" sz="1800" dirty="0">
                <a:latin typeface="Times New Roman" panose="02020603050405020304" pitchFamily="18" charset="0"/>
              </a:rPr>
              <a:t>等开发技术和</a:t>
            </a:r>
            <a:r>
              <a:rPr lang="en-US" altLang="zh-CN" sz="1800" dirty="0">
                <a:latin typeface="Times New Roman" panose="02020603050405020304" pitchFamily="18" charset="0"/>
              </a:rPr>
              <a:t>MVC</a:t>
            </a:r>
            <a:r>
              <a:rPr lang="zh-CN" altLang="zh-CN" sz="1800" dirty="0">
                <a:latin typeface="Times New Roman" panose="02020603050405020304" pitchFamily="18" charset="0"/>
              </a:rPr>
              <a:t>设计模式</a:t>
            </a:r>
            <a:r>
              <a:rPr lang="en-US" altLang="zh-CN" sz="1800" dirty="0">
                <a:latin typeface="Times New Roman" panose="02020603050405020304" pitchFamily="18" charset="0"/>
              </a:rPr>
              <a:t>,</a:t>
            </a:r>
            <a:r>
              <a:rPr lang="zh-CN" altLang="zh-CN" sz="1800" dirty="0">
                <a:latin typeface="Times New Roman" panose="02020603050405020304" pitchFamily="18" charset="0"/>
              </a:rPr>
              <a:t>能够在项目实践中体现代码规范性、代码重用性、界面友好性等。</a:t>
            </a:r>
            <a:endParaRPr lang="zh-CN" altLang="zh-CN" sz="1800" dirty="0">
              <a:latin typeface="Times New Roman" panose="02020603050405020304" pitchFamily="18" charset="0"/>
            </a:endParaRPr>
          </a:p>
          <a:p>
            <a:pPr algn="just">
              <a:lnSpc>
                <a:spcPct val="125000"/>
              </a:lnSpc>
            </a:pPr>
            <a:r>
              <a:rPr lang="zh-CN" altLang="zh-CN" sz="1800" b="1" dirty="0">
                <a:latin typeface="Times New Roman" panose="02020603050405020304" pitchFamily="18" charset="0"/>
              </a:rPr>
              <a:t>课程目标</a:t>
            </a:r>
            <a:r>
              <a:rPr lang="en-US" altLang="zh-CN" sz="1800" b="1" dirty="0">
                <a:latin typeface="Times New Roman" panose="02020603050405020304" pitchFamily="18" charset="0"/>
              </a:rPr>
              <a:t>2</a:t>
            </a:r>
            <a:r>
              <a:rPr lang="zh-CN" altLang="zh-CN" sz="1800" b="1" dirty="0">
                <a:latin typeface="Times New Roman" panose="02020603050405020304" pitchFamily="18" charset="0"/>
              </a:rPr>
              <a:t>：</a:t>
            </a:r>
            <a:r>
              <a:rPr lang="zh-CN" altLang="zh-CN" sz="1800" dirty="0">
                <a:latin typeface="Times New Roman" panose="02020603050405020304" pitchFamily="18" charset="0"/>
              </a:rPr>
              <a:t>掌握</a:t>
            </a:r>
            <a:r>
              <a:rPr lang="en-US" altLang="zh-CN" sz="1800" dirty="0">
                <a:latin typeface="宋体" panose="02010600030101010101" pitchFamily="2" charset="-122"/>
              </a:rPr>
              <a:t> Java Web</a:t>
            </a:r>
            <a:r>
              <a:rPr lang="zh-CN" altLang="zh-CN" sz="1800" dirty="0">
                <a:latin typeface="Times New Roman" panose="02020603050405020304" pitchFamily="18" charset="0"/>
              </a:rPr>
              <a:t>常用开发模式，能合理的选用开发模式，具备评价系统解决方案的能力。</a:t>
            </a:r>
            <a:endParaRPr lang="zh-CN" altLang="zh-CN" sz="1800" dirty="0">
              <a:latin typeface="Times New Roman" panose="02020603050405020304" pitchFamily="18" charset="0"/>
            </a:endParaRPr>
          </a:p>
          <a:p>
            <a:pPr algn="just">
              <a:lnSpc>
                <a:spcPct val="125000"/>
              </a:lnSpc>
            </a:pPr>
            <a:r>
              <a:rPr lang="zh-CN" altLang="zh-CN" sz="1800" b="1" dirty="0">
                <a:latin typeface="Times New Roman" panose="02020603050405020304" pitchFamily="18" charset="0"/>
              </a:rPr>
              <a:t>课程目标</a:t>
            </a:r>
            <a:r>
              <a:rPr lang="en-US" altLang="zh-CN" sz="1800" b="1" dirty="0">
                <a:latin typeface="Times New Roman" panose="02020603050405020304" pitchFamily="18" charset="0"/>
              </a:rPr>
              <a:t>3</a:t>
            </a:r>
            <a:r>
              <a:rPr lang="zh-CN" altLang="zh-CN" sz="1800" b="1" dirty="0">
                <a:latin typeface="Times New Roman" panose="02020603050405020304" pitchFamily="18" charset="0"/>
              </a:rPr>
              <a:t>：</a:t>
            </a:r>
            <a:r>
              <a:rPr lang="zh-CN" altLang="zh-CN" sz="1800" dirty="0">
                <a:latin typeface="Times New Roman" panose="02020603050405020304" pitchFamily="18" charset="0"/>
              </a:rPr>
              <a:t>培养学生具有</a:t>
            </a:r>
            <a:r>
              <a:rPr lang="en-US" altLang="zh-CN" sz="1800" dirty="0">
                <a:latin typeface="Times New Roman" panose="02020603050405020304" pitchFamily="18" charset="0"/>
              </a:rPr>
              <a:t>Java Web</a:t>
            </a:r>
            <a:r>
              <a:rPr lang="zh-CN" altLang="zh-CN" sz="1800" dirty="0">
                <a:latin typeface="Times New Roman" panose="02020603050405020304" pitchFamily="18" charset="0"/>
              </a:rPr>
              <a:t>应用系统开发、调试的基本能力，提升学生软件开发能力及团队合作与沟通能力。</a:t>
            </a:r>
            <a:endParaRPr lang="zh-CN" altLang="zh-CN" sz="1800" dirty="0">
              <a:latin typeface="Times New Roman" panose="02020603050405020304" pitchFamily="18" charset="0"/>
            </a:endParaRPr>
          </a:p>
          <a:p>
            <a:r>
              <a:rPr lang="zh-CN" altLang="en-US" sz="2800" dirty="0"/>
              <a:t>课程整体规划</a:t>
            </a:r>
            <a:endParaRPr lang="en-US" altLang="zh-CN" sz="2800" dirty="0"/>
          </a:p>
          <a:p>
            <a:pPr lvl="1"/>
            <a:r>
              <a:rPr lang="en-US" altLang="zh-CN" sz="2000" dirty="0"/>
              <a:t>16</a:t>
            </a:r>
            <a:r>
              <a:rPr lang="zh-CN" altLang="en-US" sz="2000" dirty="0"/>
              <a:t>学时理论课</a:t>
            </a:r>
            <a:r>
              <a:rPr lang="en-US" altLang="zh-CN" sz="2000" dirty="0"/>
              <a:t>+16</a:t>
            </a:r>
            <a:r>
              <a:rPr lang="zh-CN" altLang="en-US" sz="2000" dirty="0"/>
              <a:t>学时的实践课，理论与实际结合，一边讲一边实践。</a:t>
            </a:r>
            <a:endParaRPr lang="en-US" altLang="zh-CN" sz="2000" dirty="0"/>
          </a:p>
          <a:p>
            <a:pPr lvl="1"/>
            <a:r>
              <a:rPr lang="zh-CN" altLang="en-US" sz="2000" dirty="0"/>
              <a:t>讲课过程中：激发学生思考、不引入无关话题、启发学生提出问题和自主解决问题、重点介绍关键知识点和难点</a:t>
            </a:r>
            <a:endParaRPr lang="en-US" altLang="zh-CN" sz="2000" dirty="0"/>
          </a:p>
          <a:p>
            <a:pPr lvl="1"/>
            <a:r>
              <a:rPr lang="zh-CN" altLang="en-US" sz="2000" dirty="0"/>
              <a:t>思政教育：坚持主流价值观导向、保证意识形态的正确性、培养学生团结合作的能力</a:t>
            </a:r>
            <a:r>
              <a:rPr lang="en-US" altLang="zh-CN" sz="2000" dirty="0"/>
              <a:t>,</a:t>
            </a:r>
            <a:r>
              <a:rPr lang="zh-CN" altLang="en-US" sz="2000" dirty="0"/>
              <a:t>设计内容。</a:t>
            </a:r>
            <a:endParaRPr lang="zh-CN" altLang="en-US" sz="2000"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标题 1"/>
          <p:cNvSpPr>
            <a:spLocks noGrp="1"/>
          </p:cNvSpPr>
          <p:nvPr>
            <p:ph type="ctrTitle"/>
          </p:nvPr>
        </p:nvSpPr>
        <p:spPr>
          <a:xfrm>
            <a:off x="360363" y="2205038"/>
            <a:ext cx="8423275" cy="1296987"/>
          </a:xfrm>
        </p:spPr>
        <p:txBody>
          <a:bodyPr vert="horz" wrap="square" lIns="91440" tIns="45720" rIns="91440" bIns="45720" anchor="ctr" anchorCtr="0"/>
          <a:p>
            <a:pPr>
              <a:buClrTx/>
              <a:buSzTx/>
              <a:buFontTx/>
            </a:pPr>
            <a:r>
              <a:rPr lang="en-US" altLang="zh-CN" sz="4800" b="1" dirty="0"/>
              <a:t>Web </a:t>
            </a:r>
            <a:r>
              <a:rPr lang="zh-CN" altLang="en-US" sz="4800" b="1" dirty="0"/>
              <a:t>应用系统实践</a:t>
            </a:r>
            <a:endParaRPr lang="zh-CN" altLang="en-US" sz="4800" b="1" dirty="0"/>
          </a:p>
        </p:txBody>
      </p:sp>
      <p:pic>
        <p:nvPicPr>
          <p:cNvPr id="3" name="Picture 3"/>
          <p:cNvPicPr>
            <a:picLocks noChangeAspect="1" noChangeArrowheads="1"/>
          </p:cNvPicPr>
          <p:nvPr/>
        </p:nvPicPr>
        <p:blipFill>
          <a:blip r:embed="rId1" cstate="print"/>
          <a:srcRect/>
          <a:stretch>
            <a:fillRect/>
          </a:stretch>
        </p:blipFill>
        <p:spPr bwMode="gray">
          <a:xfrm>
            <a:off x="-1" y="152400"/>
            <a:ext cx="4201571" cy="900335"/>
          </a:xfrm>
          <a:prstGeom prst="rect">
            <a:avLst/>
          </a:prstGeom>
          <a:ln>
            <a:noFill/>
          </a:ln>
          <a:effectLst>
            <a:softEdge rad="112500"/>
          </a:effectLst>
        </p:spPr>
      </p:pic>
      <p:sp>
        <p:nvSpPr>
          <p:cNvPr id="16387" name="标题 1"/>
          <p:cNvSpPr txBox="1"/>
          <p:nvPr/>
        </p:nvSpPr>
        <p:spPr>
          <a:xfrm>
            <a:off x="360363" y="4437063"/>
            <a:ext cx="8423275" cy="1296987"/>
          </a:xfrm>
          <a:prstGeom prst="rect">
            <a:avLst/>
          </a:prstGeom>
          <a:noFill/>
          <a:ln w="9525">
            <a:noFill/>
          </a:ln>
        </p:spPr>
        <p:txBody>
          <a:bodyPr anchor="ctr" anchorCtr="0"/>
          <a:p>
            <a:pPr algn="ctr" eaLnBrk="0" hangingPunct="0">
              <a:lnSpc>
                <a:spcPct val="150000"/>
              </a:lnSpc>
            </a:pPr>
            <a:r>
              <a:rPr lang="zh-CN" altLang="en-US" sz="2400" b="1" dirty="0">
                <a:solidFill>
                  <a:schemeClr val="tx2"/>
                </a:solidFill>
                <a:latin typeface="Arial" panose="020B0604020202020204" pitchFamily="34" charset="0"/>
                <a:ea typeface="宋体" panose="02010600030101010101" pitchFamily="2" charset="-122"/>
              </a:rPr>
              <a:t>教师：乔文豹 计算机学院</a:t>
            </a:r>
            <a:endParaRPr lang="en-US" altLang="zh-CN" sz="2400" b="1" dirty="0">
              <a:solidFill>
                <a:schemeClr val="tx2"/>
              </a:solidFill>
              <a:latin typeface="Arial" panose="020B0604020202020204" pitchFamily="34" charset="0"/>
              <a:ea typeface="宋体" panose="02010600030101010101" pitchFamily="2" charset="-122"/>
            </a:endParaRPr>
          </a:p>
          <a:p>
            <a:pPr algn="ctr" eaLnBrk="0" hangingPunct="0">
              <a:lnSpc>
                <a:spcPct val="150000"/>
              </a:lnSpc>
            </a:pPr>
            <a:r>
              <a:rPr lang="zh-CN" altLang="en-US" sz="2400" b="1" dirty="0">
                <a:solidFill>
                  <a:schemeClr val="tx2"/>
                </a:solidFill>
                <a:latin typeface="Arial" panose="020B0604020202020204" pitchFamily="34" charset="0"/>
                <a:ea typeface="宋体" panose="02010600030101010101" pitchFamily="2" charset="-122"/>
              </a:rPr>
              <a:t>联系方式：</a:t>
            </a:r>
            <a:r>
              <a:rPr lang="en-US" altLang="zh-CN" sz="2400" b="1" dirty="0">
                <a:solidFill>
                  <a:schemeClr val="tx2"/>
                </a:solidFill>
                <a:latin typeface="Arial" panose="020B0604020202020204" pitchFamily="34" charset="0"/>
                <a:ea typeface="宋体" panose="02010600030101010101" pitchFamily="2" charset="-122"/>
              </a:rPr>
              <a:t>17611396031</a:t>
            </a:r>
            <a:endParaRPr lang="en-US" altLang="zh-CN" sz="2400" b="1" dirty="0">
              <a:solidFill>
                <a:schemeClr val="tx2"/>
              </a:solidFill>
              <a:latin typeface="Arial" panose="020B0604020202020204" pitchFamily="34" charset="0"/>
              <a:ea typeface="宋体" panose="02010600030101010101" pitchFamily="2" charset="-122"/>
            </a:endParaRPr>
          </a:p>
          <a:p>
            <a:pPr algn="ctr" eaLnBrk="0" hangingPunct="0">
              <a:lnSpc>
                <a:spcPct val="150000"/>
              </a:lnSpc>
            </a:pPr>
            <a:r>
              <a:rPr lang="en-US" altLang="zh-CN" sz="2400" b="1" dirty="0">
                <a:solidFill>
                  <a:schemeClr val="tx2"/>
                </a:solidFill>
                <a:latin typeface="Arial" panose="020B0604020202020204" pitchFamily="34" charset="0"/>
                <a:ea typeface="宋体" panose="02010600030101010101" pitchFamily="2" charset="-122"/>
              </a:rPr>
              <a:t>2023</a:t>
            </a:r>
            <a:r>
              <a:rPr lang="zh-CN" altLang="en-US" sz="2400" b="1" dirty="0">
                <a:solidFill>
                  <a:schemeClr val="tx2"/>
                </a:solidFill>
                <a:latin typeface="Arial" panose="020B0604020202020204" pitchFamily="34" charset="0"/>
                <a:ea typeface="宋体" panose="02010600030101010101" pitchFamily="2" charset="-122"/>
              </a:rPr>
              <a:t>年</a:t>
            </a:r>
            <a:r>
              <a:rPr lang="en-US" altLang="zh-CN" sz="2400" b="1" dirty="0">
                <a:solidFill>
                  <a:schemeClr val="tx2"/>
                </a:solidFill>
                <a:latin typeface="Arial" panose="020B0604020202020204" pitchFamily="34" charset="0"/>
                <a:ea typeface="宋体" panose="02010600030101010101" pitchFamily="2" charset="-122"/>
              </a:rPr>
              <a:t>5</a:t>
            </a:r>
            <a:r>
              <a:rPr lang="zh-CN" altLang="en-US" sz="2400" b="1" dirty="0">
                <a:solidFill>
                  <a:schemeClr val="tx2"/>
                </a:solidFill>
                <a:latin typeface="Arial" panose="020B0604020202020204" pitchFamily="34" charset="0"/>
                <a:ea typeface="宋体" panose="02010600030101010101" pitchFamily="2" charset="-122"/>
              </a:rPr>
              <a:t>月</a:t>
            </a:r>
            <a:r>
              <a:rPr lang="en-US" altLang="zh-CN" sz="2400" b="1" dirty="0">
                <a:solidFill>
                  <a:schemeClr val="tx2"/>
                </a:solidFill>
                <a:latin typeface="Arial" panose="020B0604020202020204" pitchFamily="34" charset="0"/>
                <a:ea typeface="宋体" panose="02010600030101010101" pitchFamily="2" charset="-122"/>
              </a:rPr>
              <a:t>24</a:t>
            </a:r>
            <a:r>
              <a:rPr lang="zh-CN" altLang="en-US" sz="2400" b="1" dirty="0">
                <a:solidFill>
                  <a:schemeClr val="tx2"/>
                </a:solidFill>
                <a:latin typeface="Arial" panose="020B0604020202020204" pitchFamily="34" charset="0"/>
                <a:ea typeface="宋体" panose="02010600030101010101" pitchFamily="2" charset="-122"/>
              </a:rPr>
              <a:t>日</a:t>
            </a:r>
            <a:endParaRPr lang="zh-CN" altLang="en-US" sz="2400" b="1" dirty="0">
              <a:solidFill>
                <a:schemeClr val="tx2"/>
              </a:solidFill>
              <a:latin typeface="Arial" panose="020B0604020202020204" pitchFamily="34" charset="0"/>
              <a:ea typeface="宋体" panose="02010600030101010101" pitchFamily="2"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1"/>
          <p:cNvSpPr>
            <a:spLocks noGrp="1"/>
          </p:cNvSpPr>
          <p:nvPr>
            <p:ph type="title"/>
          </p:nvPr>
        </p:nvSpPr>
        <p:spPr>
          <a:xfrm>
            <a:off x="250825" y="98425"/>
            <a:ext cx="8569325" cy="777875"/>
          </a:xfrm>
        </p:spPr>
        <p:txBody>
          <a:bodyPr vert="horz" wrap="square" lIns="91440" tIns="45720" rIns="91440" bIns="45720" anchor="ctr" anchorCtr="0"/>
          <a:p>
            <a:r>
              <a:rPr lang="zh-CN" altLang="en-US" baseline="0" dirty="0">
                <a:latin typeface="Times New Roman" panose="02020603050405020304" pitchFamily="18" charset="0"/>
                <a:ea typeface="黑体" panose="02010609060101010101" pitchFamily="49" charset="-122"/>
                <a:cs typeface="+mj-cs"/>
              </a:rPr>
              <a:t>前情回顾</a:t>
            </a:r>
            <a:endParaRPr lang="zh-CN" altLang="en-US" baseline="0" dirty="0">
              <a:latin typeface="Times New Roman" panose="02020603050405020304" pitchFamily="18" charset="0"/>
              <a:ea typeface="黑体" panose="02010609060101010101" pitchFamily="49" charset="-122"/>
              <a:cs typeface="+mj-cs"/>
            </a:endParaRPr>
          </a:p>
        </p:txBody>
      </p:sp>
      <p:sp>
        <p:nvSpPr>
          <p:cNvPr id="17410" name="内容占位符 2"/>
          <p:cNvSpPr>
            <a:spLocks noGrp="1"/>
          </p:cNvSpPr>
          <p:nvPr>
            <p:ph idx="1"/>
          </p:nvPr>
        </p:nvSpPr>
        <p:spPr>
          <a:xfrm>
            <a:off x="107950" y="1125538"/>
            <a:ext cx="8928100" cy="5543550"/>
          </a:xfrm>
        </p:spPr>
        <p:txBody>
          <a:bodyPr vert="horz" wrap="square" lIns="91440" tIns="45720" rIns="91440" bIns="45720" anchor="t" anchorCtr="0"/>
          <a:p>
            <a:r>
              <a:rPr lang="zh-CN" altLang="en-US" dirty="0"/>
              <a:t>课程总体内容概况</a:t>
            </a:r>
            <a:endParaRPr lang="en-US" altLang="zh-CN" dirty="0"/>
          </a:p>
          <a:p>
            <a:pPr lvl="1"/>
            <a:r>
              <a:rPr lang="zh-CN" altLang="en-US" dirty="0"/>
              <a:t>章节、每章节之间的联系</a:t>
            </a:r>
            <a:endParaRPr lang="en-US" altLang="zh-CN" dirty="0"/>
          </a:p>
          <a:p>
            <a:pPr lvl="1"/>
            <a:r>
              <a:rPr lang="zh-CN" altLang="en-US" dirty="0"/>
              <a:t>常见的基本概念和术语</a:t>
            </a:r>
            <a:endParaRPr lang="en-US" altLang="zh-CN" dirty="0"/>
          </a:p>
          <a:p>
            <a:pPr lvl="2"/>
            <a:r>
              <a:rPr lang="zh-CN" altLang="en-US" dirty="0"/>
              <a:t>单机程序、</a:t>
            </a:r>
            <a:r>
              <a:rPr lang="en-US" altLang="zh-CN" dirty="0"/>
              <a:t>Web</a:t>
            </a:r>
            <a:r>
              <a:rPr lang="zh-CN" altLang="en-US" dirty="0"/>
              <a:t>程序、客户端、浏览器、服务器（软件）</a:t>
            </a:r>
            <a:r>
              <a:rPr lang="en-US" altLang="zh-CN" dirty="0"/>
              <a:t>B/S</a:t>
            </a:r>
            <a:r>
              <a:rPr lang="zh-CN" altLang="en-US" dirty="0"/>
              <a:t>模式、</a:t>
            </a:r>
            <a:r>
              <a:rPr lang="en-US" altLang="zh-CN" dirty="0"/>
              <a:t>C/S</a:t>
            </a:r>
            <a:r>
              <a:rPr lang="zh-CN" altLang="en-US" dirty="0"/>
              <a:t>模式、</a:t>
            </a:r>
            <a:r>
              <a:rPr lang="en-US" altLang="zh-CN" dirty="0"/>
              <a:t>http</a:t>
            </a:r>
            <a:r>
              <a:rPr lang="zh-CN" altLang="en-US" dirty="0"/>
              <a:t>协议</a:t>
            </a:r>
            <a:endParaRPr lang="en-US" altLang="zh-CN" dirty="0"/>
          </a:p>
          <a:p>
            <a:r>
              <a:rPr lang="zh-CN" altLang="en-US" dirty="0"/>
              <a:t>第一章</a:t>
            </a:r>
            <a:r>
              <a:rPr lang="en-US" altLang="zh-CN" dirty="0"/>
              <a:t>Java Web</a:t>
            </a:r>
            <a:r>
              <a:rPr lang="zh-CN" altLang="en-US" dirty="0"/>
              <a:t>应用开发技术概述</a:t>
            </a:r>
            <a:endParaRPr lang="en-US" altLang="zh-CN" dirty="0"/>
          </a:p>
          <a:p>
            <a:pPr lvl="1"/>
            <a:r>
              <a:rPr lang="en-US" altLang="zh-CN" dirty="0"/>
              <a:t>Java Web</a:t>
            </a:r>
            <a:r>
              <a:rPr lang="zh-CN" altLang="en-US" dirty="0"/>
              <a:t>开发技术简介</a:t>
            </a:r>
            <a:endParaRPr lang="en-US" altLang="zh-CN" dirty="0"/>
          </a:p>
          <a:p>
            <a:pPr lvl="2"/>
            <a:r>
              <a:rPr lang="en-US" altLang="zh-CN" dirty="0"/>
              <a:t>Java web</a:t>
            </a:r>
            <a:r>
              <a:rPr lang="zh-CN" altLang="en-US" dirty="0"/>
              <a:t>应用、容器和组件及其关系</a:t>
            </a:r>
            <a:endParaRPr lang="en-US" altLang="zh-CN" dirty="0"/>
          </a:p>
          <a:p>
            <a:pPr lvl="2"/>
            <a:r>
              <a:rPr lang="zh-CN" altLang="en-US" dirty="0"/>
              <a:t>页面</a:t>
            </a:r>
            <a:r>
              <a:rPr lang="en-US" altLang="zh-CN" dirty="0"/>
              <a:t>HTML</a:t>
            </a:r>
            <a:r>
              <a:rPr lang="zh-CN" altLang="en-US" dirty="0"/>
              <a:t>等、服务器</a:t>
            </a:r>
            <a:r>
              <a:rPr lang="en-US" altLang="zh-CN" dirty="0"/>
              <a:t>Servlet</a:t>
            </a:r>
            <a:r>
              <a:rPr lang="zh-CN" altLang="en-US" dirty="0"/>
              <a:t>等、业务逻辑处理</a:t>
            </a:r>
            <a:r>
              <a:rPr lang="en-US" altLang="zh-CN" dirty="0"/>
              <a:t>JavaBean</a:t>
            </a:r>
            <a:r>
              <a:rPr lang="zh-CN" altLang="en-US" dirty="0"/>
              <a:t>、持久层</a:t>
            </a:r>
            <a:r>
              <a:rPr lang="en-US" altLang="zh-CN" dirty="0"/>
              <a:t>JDBC</a:t>
            </a:r>
            <a:r>
              <a:rPr lang="zh-CN" altLang="en-US" dirty="0"/>
              <a:t>的整体概念</a:t>
            </a:r>
            <a:endParaRPr lang="en-US" altLang="zh-CN" dirty="0"/>
          </a:p>
          <a:p>
            <a:pPr lvl="1"/>
            <a:r>
              <a:rPr lang="zh-CN" altLang="en-US" dirty="0"/>
              <a:t>开发环境</a:t>
            </a:r>
            <a:r>
              <a:rPr lang="en-US" altLang="zh-CN" sz="1800" dirty="0"/>
              <a:t>Java/Tomcat/Eclipse</a:t>
            </a:r>
            <a:r>
              <a:rPr lang="zh-CN" altLang="en-US" dirty="0"/>
              <a:t>、</a:t>
            </a:r>
            <a:r>
              <a:rPr lang="en-US" altLang="zh-CN" dirty="0"/>
              <a:t>Web</a:t>
            </a:r>
            <a:r>
              <a:rPr lang="zh-CN" altLang="en-US" dirty="0"/>
              <a:t>开发过程示例</a:t>
            </a:r>
            <a:endParaRPr lang="en-US" altLang="zh-CN" dirty="0"/>
          </a:p>
          <a:p>
            <a:endParaRPr lang="zh-CN" altLang="en-US" dirty="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标题 1"/>
          <p:cNvSpPr>
            <a:spLocks noGrp="1"/>
          </p:cNvSpPr>
          <p:nvPr>
            <p:ph type="title"/>
          </p:nvPr>
        </p:nvSpPr>
        <p:spPr>
          <a:xfrm>
            <a:off x="250825" y="98425"/>
            <a:ext cx="8569325" cy="777875"/>
          </a:xfrm>
        </p:spPr>
        <p:txBody>
          <a:bodyPr vert="horz" wrap="square" lIns="91440" tIns="45720" rIns="91440" bIns="45720" anchor="ctr" anchorCtr="0"/>
          <a:p>
            <a:r>
              <a:rPr lang="zh-CN" altLang="en-US" baseline="0" dirty="0">
                <a:latin typeface="Times New Roman" panose="02020603050405020304" pitchFamily="18" charset="0"/>
                <a:ea typeface="黑体" panose="02010609060101010101" pitchFamily="49" charset="-122"/>
                <a:cs typeface="+mj-cs"/>
              </a:rPr>
              <a:t>第</a:t>
            </a:r>
            <a:r>
              <a:rPr lang="en-US" altLang="zh-CN" baseline="0" dirty="0">
                <a:latin typeface="Times New Roman" panose="02020603050405020304" pitchFamily="18" charset="0"/>
                <a:ea typeface="黑体" panose="02010609060101010101" pitchFamily="49" charset="-122"/>
                <a:cs typeface="+mj-cs"/>
              </a:rPr>
              <a:t>2</a:t>
            </a:r>
            <a:r>
              <a:rPr lang="zh-CN" altLang="en-US" baseline="0" dirty="0">
                <a:latin typeface="Times New Roman" panose="02020603050405020304" pitchFamily="18" charset="0"/>
                <a:ea typeface="黑体" panose="02010609060101010101" pitchFamily="49" charset="-122"/>
                <a:cs typeface="+mj-cs"/>
              </a:rPr>
              <a:t>章 静态网页开发技术</a:t>
            </a:r>
            <a:endParaRPr lang="zh-CN" altLang="en-US" baseline="0" dirty="0">
              <a:latin typeface="Times New Roman" panose="02020603050405020304" pitchFamily="18" charset="0"/>
              <a:ea typeface="黑体" panose="02010609060101010101" pitchFamily="49" charset="-122"/>
              <a:cs typeface="+mj-cs"/>
            </a:endParaRPr>
          </a:p>
        </p:txBody>
      </p:sp>
      <p:sp>
        <p:nvSpPr>
          <p:cNvPr id="18434" name="内容占位符 2"/>
          <p:cNvSpPr>
            <a:spLocks noGrp="1"/>
          </p:cNvSpPr>
          <p:nvPr>
            <p:ph idx="1"/>
          </p:nvPr>
        </p:nvSpPr>
        <p:spPr>
          <a:xfrm>
            <a:off x="107950" y="1125538"/>
            <a:ext cx="8928100" cy="5543550"/>
          </a:xfrm>
        </p:spPr>
        <p:txBody>
          <a:bodyPr vert="horz" wrap="square" lIns="91440" tIns="45720" rIns="91440" bIns="45720" anchor="t" anchorCtr="0"/>
          <a:p>
            <a:pPr marL="0" indent="0" eaLnBrk="1" hangingPunct="1">
              <a:buNone/>
            </a:pPr>
            <a:r>
              <a:rPr lang="en-US" altLang="zh-CN" dirty="0">
                <a:solidFill>
                  <a:srgbClr val="000000"/>
                </a:solidFill>
                <a:latin typeface="Times New Roman" panose="02020603050405020304" pitchFamily="18" charset="0"/>
              </a:rPr>
              <a:t>2.1  HTML</a:t>
            </a:r>
            <a:r>
              <a:rPr lang="zh-CN" altLang="en-US" dirty="0">
                <a:solidFill>
                  <a:srgbClr val="000000"/>
                </a:solidFill>
                <a:latin typeface="Times New Roman" panose="02020603050405020304" pitchFamily="18" charset="0"/>
              </a:rPr>
              <a:t>网页设计</a:t>
            </a:r>
            <a:endParaRPr lang="en-US" altLang="zh-CN" dirty="0">
              <a:solidFill>
                <a:srgbClr val="000000"/>
              </a:solidFill>
              <a:latin typeface="Times New Roman" panose="02020603050405020304" pitchFamily="18" charset="0"/>
            </a:endParaRPr>
          </a:p>
          <a:p>
            <a:pPr marL="0" indent="0" eaLnBrk="1" hangingPunct="1">
              <a:buNone/>
            </a:pPr>
            <a:r>
              <a:rPr lang="en-US" altLang="zh-CN" dirty="0">
                <a:solidFill>
                  <a:srgbClr val="000000"/>
                </a:solidFill>
                <a:latin typeface="Times New Roman" panose="02020603050405020304" pitchFamily="18" charset="0"/>
              </a:rPr>
              <a:t>2.2  CSS</a:t>
            </a:r>
            <a:r>
              <a:rPr lang="zh-CN" altLang="en-US" dirty="0">
                <a:solidFill>
                  <a:srgbClr val="000000"/>
                </a:solidFill>
                <a:latin typeface="Times New Roman" panose="02020603050405020304" pitchFamily="18" charset="0"/>
              </a:rPr>
              <a:t>样式表	</a:t>
            </a:r>
            <a:endParaRPr lang="en-US" altLang="zh-CN" dirty="0">
              <a:solidFill>
                <a:srgbClr val="000000"/>
              </a:solidFill>
              <a:latin typeface="Times New Roman" panose="02020603050405020304" pitchFamily="18" charset="0"/>
            </a:endParaRPr>
          </a:p>
          <a:p>
            <a:pPr marL="0" indent="0" eaLnBrk="1" hangingPunct="1">
              <a:buNone/>
            </a:pPr>
            <a:r>
              <a:rPr lang="en-US" altLang="zh-CN" dirty="0">
                <a:solidFill>
                  <a:srgbClr val="000000"/>
                </a:solidFill>
                <a:latin typeface="Times New Roman" panose="02020603050405020304" pitchFamily="18" charset="0"/>
              </a:rPr>
              <a:t>2.3  JavaScript</a:t>
            </a:r>
            <a:r>
              <a:rPr lang="zh-CN" altLang="en-US" dirty="0">
                <a:solidFill>
                  <a:srgbClr val="000000"/>
                </a:solidFill>
                <a:latin typeface="Times New Roman" panose="02020603050405020304" pitchFamily="18" charset="0"/>
              </a:rPr>
              <a:t>脚本语言	</a:t>
            </a:r>
            <a:endParaRPr lang="en-US" altLang="zh-CN" dirty="0">
              <a:solidFill>
                <a:srgbClr val="000000"/>
              </a:solidFill>
              <a:latin typeface="Times New Roman" panose="02020603050405020304" pitchFamily="18" charset="0"/>
            </a:endParaRPr>
          </a:p>
          <a:p>
            <a:pPr marL="0" indent="0" eaLnBrk="1" hangingPunct="1">
              <a:buNone/>
            </a:pPr>
            <a:r>
              <a:rPr lang="en-US" altLang="zh-CN" dirty="0">
                <a:solidFill>
                  <a:srgbClr val="000000"/>
                </a:solidFill>
                <a:latin typeface="Times New Roman" panose="02020603050405020304" pitchFamily="18" charset="0"/>
              </a:rPr>
              <a:t>2.4  </a:t>
            </a:r>
            <a:r>
              <a:rPr lang="zh-CN" altLang="en-US" dirty="0">
                <a:solidFill>
                  <a:srgbClr val="000000"/>
                </a:solidFill>
                <a:latin typeface="Times New Roman" panose="02020603050405020304" pitchFamily="18" charset="0"/>
              </a:rPr>
              <a:t>基于</a:t>
            </a:r>
            <a:r>
              <a:rPr lang="en-US" altLang="zh-CN" dirty="0">
                <a:solidFill>
                  <a:srgbClr val="000000"/>
                </a:solidFill>
                <a:latin typeface="Times New Roman" panose="02020603050405020304" pitchFamily="18" charset="0"/>
              </a:rPr>
              <a:t>HTML+JavaScript+CSS</a:t>
            </a:r>
            <a:r>
              <a:rPr lang="zh-CN" altLang="en-US" dirty="0">
                <a:solidFill>
                  <a:srgbClr val="000000"/>
                </a:solidFill>
                <a:latin typeface="Times New Roman" panose="02020603050405020304" pitchFamily="18" charset="0"/>
              </a:rPr>
              <a:t>的开发案例</a:t>
            </a:r>
            <a:endParaRPr lang="en-US" altLang="zh-CN" dirty="0">
              <a:solidFill>
                <a:srgbClr val="000000"/>
              </a:solidFill>
              <a:latin typeface="Times New Roman" panose="02020603050405020304" pitchFamily="18" charset="0"/>
            </a:endParaRPr>
          </a:p>
          <a:p>
            <a:pPr marL="0" indent="0" eaLnBrk="1" hangingPunct="1">
              <a:buNone/>
            </a:pPr>
            <a:endParaRPr lang="en-US" altLang="zh-CN" dirty="0">
              <a:solidFill>
                <a:srgbClr val="000000"/>
              </a:solidFill>
              <a:latin typeface="Times New Roman" panose="02020603050405020304" pitchFamily="18" charset="0"/>
            </a:endParaRPr>
          </a:p>
          <a:p>
            <a:pPr marL="0" indent="0" eaLnBrk="1" hangingPunct="1">
              <a:buNone/>
            </a:pPr>
            <a:r>
              <a:rPr lang="zh-CN" altLang="en-US" dirty="0">
                <a:solidFill>
                  <a:srgbClr val="000000"/>
                </a:solidFill>
                <a:latin typeface="Times New Roman" panose="02020603050405020304" pitchFamily="18" charset="0"/>
              </a:rPr>
              <a:t>本章学习目标：</a:t>
            </a:r>
            <a:endParaRPr lang="en-US" altLang="zh-CN" dirty="0">
              <a:solidFill>
                <a:srgbClr val="000000"/>
              </a:solidFill>
              <a:latin typeface="Times New Roman" panose="02020603050405020304" pitchFamily="18" charset="0"/>
            </a:endParaRPr>
          </a:p>
          <a:p>
            <a:pPr marL="0" indent="0" eaLnBrk="1" hangingPunct="1">
              <a:buNone/>
            </a:pPr>
            <a:r>
              <a:rPr lang="en-US" altLang="zh-CN" dirty="0">
                <a:solidFill>
                  <a:srgbClr val="000000"/>
                </a:solidFill>
                <a:latin typeface="Times New Roman" panose="02020603050405020304" pitchFamily="18" charset="0"/>
              </a:rPr>
              <a:t>	</a:t>
            </a:r>
            <a:r>
              <a:rPr lang="en-US" altLang="zh-CN" sz="2800" dirty="0">
                <a:solidFill>
                  <a:srgbClr val="000000"/>
                </a:solidFill>
                <a:latin typeface="Times New Roman" panose="02020603050405020304" pitchFamily="18" charset="0"/>
              </a:rPr>
              <a:t>1. </a:t>
            </a:r>
            <a:r>
              <a:rPr lang="zh-CN" altLang="en-US" sz="2800" dirty="0">
                <a:solidFill>
                  <a:srgbClr val="000000"/>
                </a:solidFill>
                <a:latin typeface="Times New Roman" panose="02020603050405020304" pitchFamily="18" charset="0"/>
              </a:rPr>
              <a:t>了解静态网页</a:t>
            </a:r>
            <a:endParaRPr lang="en-US" altLang="zh-CN" sz="2800" dirty="0">
              <a:solidFill>
                <a:srgbClr val="000000"/>
              </a:solidFill>
              <a:latin typeface="Times New Roman" panose="02020603050405020304" pitchFamily="18" charset="0"/>
            </a:endParaRPr>
          </a:p>
          <a:p>
            <a:pPr marL="0" indent="0" eaLnBrk="1" hangingPunct="1">
              <a:buNone/>
            </a:pPr>
            <a:r>
              <a:rPr lang="en-US" altLang="zh-CN" sz="2800" dirty="0">
                <a:solidFill>
                  <a:srgbClr val="000000"/>
                </a:solidFill>
                <a:latin typeface="Times New Roman" panose="02020603050405020304" pitchFamily="18" charset="0"/>
              </a:rPr>
              <a:t>	2. </a:t>
            </a:r>
            <a:r>
              <a:rPr lang="zh-CN" altLang="en-US" sz="2800" dirty="0">
                <a:solidFill>
                  <a:srgbClr val="000000"/>
                </a:solidFill>
                <a:latin typeface="Times New Roman" panose="02020603050405020304" pitchFamily="18" charset="0"/>
              </a:rPr>
              <a:t>掌握静态页面的实现方法</a:t>
            </a:r>
            <a:endParaRPr lang="en-US" altLang="zh-CN" sz="2800" dirty="0">
              <a:solidFill>
                <a:srgbClr val="000000"/>
              </a:solidFill>
              <a:latin typeface="Times New Roman" panose="02020603050405020304" pitchFamily="18" charset="0"/>
            </a:endParaRPr>
          </a:p>
          <a:p>
            <a:pPr marL="0" indent="0" eaLnBrk="1" hangingPunct="1">
              <a:buNone/>
            </a:pPr>
            <a:r>
              <a:rPr lang="en-US" altLang="zh-CN" sz="2800" dirty="0">
                <a:solidFill>
                  <a:srgbClr val="000000"/>
                </a:solidFill>
                <a:latin typeface="Times New Roman" panose="02020603050405020304" pitchFamily="18" charset="0"/>
              </a:rPr>
              <a:t>	3. </a:t>
            </a:r>
            <a:r>
              <a:rPr lang="zh-CN" altLang="en-US" sz="2800" dirty="0">
                <a:solidFill>
                  <a:srgbClr val="FF0000"/>
                </a:solidFill>
                <a:latin typeface="Times New Roman" panose="02020603050405020304" pitchFamily="18" charset="0"/>
              </a:rPr>
              <a:t>实践</a:t>
            </a:r>
            <a:r>
              <a:rPr lang="en-US" altLang="zh-CN" sz="2800" dirty="0">
                <a:solidFill>
                  <a:srgbClr val="000000"/>
                </a:solidFill>
                <a:latin typeface="Times New Roman" panose="02020603050405020304" pitchFamily="18" charset="0"/>
              </a:rPr>
              <a:t>HTML</a:t>
            </a:r>
            <a:r>
              <a:rPr lang="zh-CN" altLang="en-US" sz="28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CSS</a:t>
            </a:r>
            <a:r>
              <a:rPr lang="zh-CN" altLang="en-US" sz="28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JavaScript</a:t>
            </a:r>
            <a:r>
              <a:rPr lang="zh-CN" altLang="en-US" sz="2800" dirty="0">
                <a:solidFill>
                  <a:srgbClr val="000000"/>
                </a:solidFill>
                <a:latin typeface="Times New Roman" panose="02020603050405020304" pitchFamily="18" charset="0"/>
              </a:rPr>
              <a:t>的开发方法</a:t>
            </a:r>
            <a:endParaRPr lang="en-US" altLang="zh-CN" sz="2800" dirty="0">
              <a:solidFill>
                <a:srgbClr val="000000"/>
              </a:solidFill>
              <a:latin typeface="Times New Roman" panose="02020603050405020304" pitchFamily="18" charset="0"/>
            </a:endParaRPr>
          </a:p>
          <a:p>
            <a:pPr marL="0" indent="0" eaLnBrk="1" hangingPunct="1">
              <a:buNone/>
            </a:pPr>
            <a:r>
              <a:rPr lang="en-US" altLang="zh-CN" dirty="0">
                <a:solidFill>
                  <a:srgbClr val="000000"/>
                </a:solidFill>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
          <p:cNvSpPr>
            <a:spLocks noGrp="1"/>
          </p:cNvSpPr>
          <p:nvPr>
            <p:ph type="title"/>
          </p:nvPr>
        </p:nvSpPr>
        <p:spPr>
          <a:xfrm>
            <a:off x="250825" y="98425"/>
            <a:ext cx="8569325" cy="777875"/>
          </a:xfrm>
        </p:spPr>
        <p:txBody>
          <a:bodyPr vert="horz" wrap="square" lIns="91440" tIns="45720" rIns="91440" bIns="45720" anchor="ctr" anchorCtr="0"/>
          <a:p>
            <a:r>
              <a:rPr lang="zh-CN" altLang="en-US" baseline="0" dirty="0">
                <a:latin typeface="Times New Roman" panose="02020603050405020304" pitchFamily="18" charset="0"/>
                <a:ea typeface="黑体" panose="02010609060101010101" pitchFamily="49" charset="-122"/>
                <a:cs typeface="+mj-cs"/>
              </a:rPr>
              <a:t>静态网页</a:t>
            </a:r>
            <a:endParaRPr lang="zh-CN" altLang="en-US" baseline="0" dirty="0">
              <a:latin typeface="Times New Roman" panose="02020603050405020304" pitchFamily="18" charset="0"/>
              <a:ea typeface="黑体" panose="02010609060101010101" pitchFamily="49" charset="-122"/>
              <a:cs typeface="+mj-cs"/>
            </a:endParaRPr>
          </a:p>
        </p:txBody>
      </p:sp>
      <p:sp>
        <p:nvSpPr>
          <p:cNvPr id="19458" name="内容占位符 2"/>
          <p:cNvSpPr>
            <a:spLocks noGrp="1"/>
          </p:cNvSpPr>
          <p:nvPr>
            <p:ph idx="1"/>
          </p:nvPr>
        </p:nvSpPr>
        <p:spPr>
          <a:xfrm>
            <a:off x="107950" y="1125538"/>
            <a:ext cx="8928100" cy="5543550"/>
          </a:xfrm>
        </p:spPr>
        <p:txBody>
          <a:bodyPr vert="horz" wrap="square" lIns="91440" tIns="45720" rIns="91440" bIns="45720" anchor="t" anchorCtr="0"/>
          <a:p>
            <a:pPr eaLnBrk="1" hangingPunct="1">
              <a:lnSpc>
                <a:spcPct val="130000"/>
              </a:lnSpc>
              <a:spcBef>
                <a:spcPct val="0"/>
              </a:spcBef>
            </a:pPr>
            <a:r>
              <a:rPr lang="zh-CN" altLang="en-US" sz="2800" dirty="0">
                <a:solidFill>
                  <a:srgbClr val="000000"/>
                </a:solidFill>
                <a:latin typeface="宋体" panose="02010600030101010101" pitchFamily="2" charset="-122"/>
              </a:rPr>
              <a:t>静态网页示例：</a:t>
            </a:r>
            <a:endParaRPr lang="en-US" altLang="zh-CN" sz="2800" dirty="0">
              <a:solidFill>
                <a:srgbClr val="000000"/>
              </a:solidFill>
              <a:latin typeface="宋体" panose="02010600030101010101" pitchFamily="2" charset="-122"/>
            </a:endParaRPr>
          </a:p>
          <a:p>
            <a:pPr eaLnBrk="1" hangingPunct="1">
              <a:lnSpc>
                <a:spcPct val="130000"/>
              </a:lnSpc>
              <a:spcBef>
                <a:spcPct val="0"/>
              </a:spcBef>
            </a:pPr>
            <a:r>
              <a:rPr lang="zh-CN" altLang="en-US" sz="2800" dirty="0">
                <a:solidFill>
                  <a:srgbClr val="000000"/>
                </a:solidFill>
                <a:latin typeface="宋体" panose="02010600030101010101" pitchFamily="2" charset="-122"/>
              </a:rPr>
              <a:t>静态网页：</a:t>
            </a:r>
            <a:r>
              <a:rPr lang="zh-CN" altLang="en-US" sz="2800" dirty="0">
                <a:solidFill>
                  <a:srgbClr val="FF0000"/>
                </a:solidFill>
                <a:latin typeface="宋体" panose="02010600030101010101" pitchFamily="2" charset="-122"/>
              </a:rPr>
              <a:t>网页的内容在用户访问的过程中原封不动地待在</a:t>
            </a:r>
            <a:r>
              <a:rPr lang="en-US" altLang="zh-CN" sz="2800" dirty="0">
                <a:solidFill>
                  <a:srgbClr val="FF0000"/>
                </a:solidFill>
                <a:latin typeface="宋体" panose="02010600030101010101" pitchFamily="2" charset="-122"/>
              </a:rPr>
              <a:t>Web</a:t>
            </a:r>
            <a:r>
              <a:rPr lang="zh-CN" altLang="en-US" sz="2800" dirty="0">
                <a:solidFill>
                  <a:srgbClr val="FF0000"/>
                </a:solidFill>
                <a:latin typeface="宋体" panose="02010600030101010101" pitchFamily="2" charset="-122"/>
              </a:rPr>
              <a:t>服务器中，服务器找到静态页面，并把它原样传回客户端。每个客户端看到的内容都是一样的。</a:t>
            </a:r>
            <a:endParaRPr lang="zh-CN" altLang="en-US" sz="2800" dirty="0">
              <a:solidFill>
                <a:srgbClr val="FF0000"/>
              </a:solidFill>
              <a:latin typeface="宋体" panose="02010600030101010101" pitchFamily="2" charset="-122"/>
            </a:endParaRPr>
          </a:p>
          <a:p>
            <a:pPr eaLnBrk="1" hangingPunct="1">
              <a:lnSpc>
                <a:spcPct val="130000"/>
              </a:lnSpc>
              <a:spcBef>
                <a:spcPct val="0"/>
              </a:spcBef>
            </a:pPr>
            <a:r>
              <a:rPr lang="zh-CN" altLang="en-US" sz="2800" dirty="0">
                <a:solidFill>
                  <a:srgbClr val="000000"/>
                </a:solidFill>
                <a:latin typeface="宋体" panose="02010600030101010101" pitchFamily="2" charset="-122"/>
              </a:rPr>
              <a:t>静态网页是以</a:t>
            </a:r>
            <a:r>
              <a:rPr lang="en-US" altLang="zh-CN" sz="2800" dirty="0">
                <a:solidFill>
                  <a:srgbClr val="000000"/>
                </a:solidFill>
                <a:latin typeface="宋体" panose="02010600030101010101" pitchFamily="2" charset="-122"/>
              </a:rPr>
              <a:t>htm</a:t>
            </a:r>
            <a:r>
              <a:rPr lang="zh-CN" altLang="en-US" sz="2800" dirty="0">
                <a:solidFill>
                  <a:srgbClr val="000000"/>
                </a:solidFill>
                <a:latin typeface="宋体" panose="02010600030101010101" pitchFamily="2" charset="-122"/>
              </a:rPr>
              <a:t>或</a:t>
            </a:r>
            <a:r>
              <a:rPr lang="en-US" altLang="zh-CN" sz="2800" dirty="0">
                <a:solidFill>
                  <a:srgbClr val="000000"/>
                </a:solidFill>
                <a:latin typeface="宋体" panose="02010600030101010101" pitchFamily="2" charset="-122"/>
              </a:rPr>
              <a:t>html</a:t>
            </a:r>
            <a:r>
              <a:rPr lang="zh-CN" altLang="en-US" sz="2800" dirty="0">
                <a:solidFill>
                  <a:srgbClr val="000000"/>
                </a:solidFill>
                <a:latin typeface="宋体" panose="02010600030101010101" pitchFamily="2" charset="-122"/>
              </a:rPr>
              <a:t>结尾的</a:t>
            </a:r>
            <a:r>
              <a:rPr lang="en-US" altLang="zh-CN" sz="2800" dirty="0">
                <a:solidFill>
                  <a:srgbClr val="000000"/>
                </a:solidFill>
                <a:latin typeface="宋体" panose="02010600030101010101" pitchFamily="2" charset="-122"/>
              </a:rPr>
              <a:t>html</a:t>
            </a:r>
            <a:r>
              <a:rPr lang="zh-CN" altLang="en-US" sz="2800" dirty="0">
                <a:solidFill>
                  <a:srgbClr val="000000"/>
                </a:solidFill>
                <a:latin typeface="宋体" panose="02010600030101010101" pitchFamily="2" charset="-122"/>
              </a:rPr>
              <a:t>文件编写的。在程序设计中一般又把</a:t>
            </a:r>
            <a:r>
              <a:rPr lang="en-US" altLang="zh-CN" sz="2800" dirty="0">
                <a:solidFill>
                  <a:srgbClr val="000000"/>
                </a:solidFill>
                <a:latin typeface="宋体" panose="02010600030101010101" pitchFamily="2" charset="-122"/>
              </a:rPr>
              <a:t>html</a:t>
            </a:r>
            <a:r>
              <a:rPr lang="zh-CN" altLang="en-US" sz="2800" dirty="0">
                <a:solidFill>
                  <a:srgbClr val="000000"/>
                </a:solidFill>
                <a:latin typeface="宋体" panose="02010600030101010101" pitchFamily="2" charset="-122"/>
              </a:rPr>
              <a:t>网页称为静态网页。</a:t>
            </a:r>
            <a:endParaRPr lang="zh-CN" altLang="en-US" sz="2800" dirty="0">
              <a:solidFill>
                <a:srgbClr val="000000"/>
              </a:solidFill>
              <a:latin typeface="宋体" panose="02010600030101010101" pitchFamily="2" charset="-122"/>
            </a:endParaRPr>
          </a:p>
          <a:p>
            <a:pPr eaLnBrk="1" hangingPunct="1">
              <a:lnSpc>
                <a:spcPct val="130000"/>
              </a:lnSpc>
              <a:spcBef>
                <a:spcPct val="0"/>
              </a:spcBef>
            </a:pPr>
            <a:r>
              <a:rPr lang="en-US" altLang="zh-CN" sz="2800" dirty="0">
                <a:solidFill>
                  <a:srgbClr val="000000"/>
                </a:solidFill>
                <a:latin typeface="宋体" panose="02010600030101010101" pitchFamily="2" charset="-122"/>
              </a:rPr>
              <a:t>HTML</a:t>
            </a:r>
            <a:r>
              <a:rPr lang="zh-CN" altLang="en-US" sz="2800" dirty="0">
                <a:solidFill>
                  <a:srgbClr val="000000"/>
                </a:solidFill>
                <a:latin typeface="宋体" panose="02010600030101010101" pitchFamily="2" charset="-122"/>
              </a:rPr>
              <a:t>是</a:t>
            </a:r>
            <a:r>
              <a:rPr lang="en-US" altLang="zh-CN" sz="2800" dirty="0">
                <a:solidFill>
                  <a:srgbClr val="000000"/>
                </a:solidFill>
                <a:latin typeface="宋体" panose="02010600030101010101" pitchFamily="2" charset="-122"/>
              </a:rPr>
              <a:t>Hypertext Markup Language</a:t>
            </a:r>
            <a:r>
              <a:rPr lang="zh-CN" altLang="en-US" sz="2800" dirty="0">
                <a:solidFill>
                  <a:srgbClr val="000000"/>
                </a:solidFill>
                <a:latin typeface="宋体" panose="02010600030101010101" pitchFamily="2" charset="-122"/>
              </a:rPr>
              <a:t>的缩写，中文也就是超文本标记语言。</a:t>
            </a:r>
            <a:endParaRPr lang="zh-CN" altLang="en-US" sz="2800" dirty="0">
              <a:solidFill>
                <a:srgbClr val="000000"/>
              </a:solidFill>
              <a:latin typeface="宋体" panose="02010600030101010101" pitchFamily="2" charset="-122"/>
            </a:endParaRPr>
          </a:p>
          <a:p>
            <a:pPr eaLnBrk="1" hangingPunct="1">
              <a:lnSpc>
                <a:spcPct val="130000"/>
              </a:lnSpc>
              <a:spcBef>
                <a:spcPct val="0"/>
              </a:spcBef>
            </a:pPr>
            <a:r>
              <a:rPr lang="en-US" altLang="zh-CN" sz="2800" dirty="0">
                <a:solidFill>
                  <a:srgbClr val="000000"/>
                </a:solidFill>
                <a:latin typeface="宋体" panose="02010600030101010101" pitchFamily="2" charset="-122"/>
              </a:rPr>
              <a:t>HTML</a:t>
            </a:r>
            <a:r>
              <a:rPr lang="zh-CN" altLang="en-US" sz="2800" dirty="0">
                <a:solidFill>
                  <a:srgbClr val="000000"/>
                </a:solidFill>
                <a:latin typeface="宋体" panose="02010600030101010101" pitchFamily="2" charset="-122"/>
              </a:rPr>
              <a:t>文本是由</a:t>
            </a:r>
            <a:r>
              <a:rPr lang="en-US" altLang="zh-CN" sz="2800" dirty="0">
                <a:solidFill>
                  <a:srgbClr val="000000"/>
                </a:solidFill>
                <a:latin typeface="宋体" panose="02010600030101010101" pitchFamily="2" charset="-122"/>
              </a:rPr>
              <a:t>HTML</a:t>
            </a:r>
            <a:r>
              <a:rPr lang="zh-CN" altLang="en-US" sz="2800" dirty="0">
                <a:solidFill>
                  <a:srgbClr val="000000"/>
                </a:solidFill>
                <a:latin typeface="宋体" panose="02010600030101010101" pitchFamily="2" charset="-122"/>
              </a:rPr>
              <a:t>命令组成的描述性文本，</a:t>
            </a:r>
            <a:r>
              <a:rPr lang="en-US" altLang="zh-CN" sz="2800" dirty="0">
                <a:solidFill>
                  <a:srgbClr val="000000"/>
                </a:solidFill>
                <a:latin typeface="宋体" panose="02010600030101010101" pitchFamily="2" charset="-122"/>
              </a:rPr>
              <a:t>HTML</a:t>
            </a:r>
            <a:r>
              <a:rPr lang="zh-CN" altLang="en-US" sz="2800" dirty="0">
                <a:solidFill>
                  <a:srgbClr val="000000"/>
                </a:solidFill>
                <a:latin typeface="宋体" panose="02010600030101010101" pitchFamily="2" charset="-122"/>
              </a:rPr>
              <a:t>命令可以说明文字、图形、动画、声音、表格、链接等。</a:t>
            </a:r>
            <a:endParaRPr lang="zh-CN" altLang="en-US" sz="2800" dirty="0">
              <a:solidFill>
                <a:srgbClr val="000000"/>
              </a:solidFill>
              <a:latin typeface="宋体" panose="02010600030101010101" pitchFamily="2" charset="-122"/>
            </a:endParaRPr>
          </a:p>
          <a:p>
            <a:pPr eaLnBrk="1" hangingPunct="1">
              <a:lnSpc>
                <a:spcPct val="130000"/>
              </a:lnSpc>
              <a:spcBef>
                <a:spcPct val="0"/>
              </a:spcBef>
            </a:pPr>
            <a:endParaRPr lang="zh-CN" altLang="en-US" sz="2800" dirty="0">
              <a:solidFill>
                <a:srgbClr val="000000"/>
              </a:solidFill>
              <a:latin typeface="宋体" panose="02010600030101010101" pitchFamily="2" charset="-122"/>
            </a:endParaRPr>
          </a:p>
          <a:p>
            <a:endParaRPr lang="zh-CN" altLang="en-US"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a:xfrm>
            <a:off x="250825" y="98425"/>
            <a:ext cx="8569325" cy="777875"/>
          </a:xfrm>
        </p:spPr>
        <p:txBody>
          <a:bodyPr vert="horz" wrap="square" lIns="91440" tIns="45720" rIns="91440" bIns="45720" anchor="ctr" anchorCtr="0"/>
          <a:p>
            <a:r>
              <a:rPr lang="zh-CN" altLang="en-US" baseline="0" dirty="0">
                <a:latin typeface="Times New Roman" panose="02020603050405020304" pitchFamily="18" charset="0"/>
                <a:ea typeface="黑体" panose="02010609060101010101" pitchFamily="49" charset="-122"/>
                <a:cs typeface="+mj-cs"/>
              </a:rPr>
              <a:t>静态网页开发相关技术基础</a:t>
            </a:r>
            <a:endParaRPr lang="zh-CN" altLang="en-US" baseline="0" dirty="0">
              <a:latin typeface="Times New Roman" panose="02020603050405020304" pitchFamily="18" charset="0"/>
              <a:ea typeface="黑体" panose="02010609060101010101" pitchFamily="49" charset="-122"/>
              <a:cs typeface="+mj-cs"/>
            </a:endParaRPr>
          </a:p>
        </p:txBody>
      </p:sp>
      <p:sp>
        <p:nvSpPr>
          <p:cNvPr id="20482" name="内容占位符 2"/>
          <p:cNvSpPr>
            <a:spLocks noGrp="1"/>
          </p:cNvSpPr>
          <p:nvPr>
            <p:ph idx="1"/>
          </p:nvPr>
        </p:nvSpPr>
        <p:spPr>
          <a:xfrm>
            <a:off x="107950" y="1125538"/>
            <a:ext cx="8928100" cy="5543550"/>
          </a:xfrm>
        </p:spPr>
        <p:txBody>
          <a:bodyPr vert="horz" wrap="square" lIns="91440" tIns="45720" rIns="91440" bIns="45720" anchor="t" anchorCtr="0"/>
          <a:p>
            <a:pPr eaLnBrk="1" hangingPunct="1">
              <a:lnSpc>
                <a:spcPct val="150000"/>
              </a:lnSpc>
              <a:spcBef>
                <a:spcPct val="0"/>
              </a:spcBef>
              <a:buNone/>
            </a:pPr>
            <a:r>
              <a:rPr lang="zh-CN" altLang="en-US" sz="2800" dirty="0"/>
              <a:t>相关的一系列技术：</a:t>
            </a:r>
            <a:r>
              <a:rPr lang="en-US" altLang="zh-CN" sz="2800" dirty="0">
                <a:solidFill>
                  <a:srgbClr val="FF0000"/>
                </a:solidFill>
              </a:rPr>
              <a:t>HTML</a:t>
            </a:r>
            <a:r>
              <a:rPr lang="zh-CN" altLang="en-US" sz="2800" dirty="0"/>
              <a:t>、</a:t>
            </a:r>
            <a:r>
              <a:rPr lang="en-US" altLang="zh-CN" sz="2800" dirty="0">
                <a:solidFill>
                  <a:srgbClr val="FF0000"/>
                </a:solidFill>
              </a:rPr>
              <a:t>JavaScript</a:t>
            </a:r>
            <a:r>
              <a:rPr lang="zh-CN" altLang="en-US" sz="2800" dirty="0"/>
              <a:t>和</a:t>
            </a:r>
            <a:r>
              <a:rPr lang="en-US" altLang="zh-CN" sz="2800" dirty="0">
                <a:solidFill>
                  <a:srgbClr val="FF0000"/>
                </a:solidFill>
              </a:rPr>
              <a:t>CSS</a:t>
            </a:r>
            <a:r>
              <a:rPr lang="zh-CN" altLang="en-US" sz="2800" dirty="0"/>
              <a:t>。</a:t>
            </a:r>
            <a:endParaRPr lang="zh-CN" altLang="en-US" sz="2800" dirty="0"/>
          </a:p>
          <a:p>
            <a:pPr eaLnBrk="1" hangingPunct="1">
              <a:lnSpc>
                <a:spcPct val="150000"/>
              </a:lnSpc>
              <a:spcBef>
                <a:spcPct val="0"/>
              </a:spcBef>
              <a:buNone/>
            </a:pPr>
            <a:r>
              <a:rPr lang="zh-CN" altLang="en-US" sz="2800" dirty="0"/>
              <a:t>   （</a:t>
            </a:r>
            <a:r>
              <a:rPr lang="en-US" altLang="zh-CN" sz="2800" dirty="0"/>
              <a:t>1</a:t>
            </a:r>
            <a:r>
              <a:rPr lang="zh-CN" altLang="en-US" sz="2800" dirty="0"/>
              <a:t>） </a:t>
            </a:r>
            <a:r>
              <a:rPr lang="en-US" altLang="zh-CN" sz="2800" dirty="0">
                <a:solidFill>
                  <a:srgbClr val="FF0000"/>
                </a:solidFill>
              </a:rPr>
              <a:t>HTML</a:t>
            </a:r>
            <a:r>
              <a:rPr lang="zh-CN" altLang="en-US" sz="2800" dirty="0"/>
              <a:t>：</a:t>
            </a:r>
            <a:r>
              <a:rPr lang="en-US" altLang="zh-CN" sz="2800" dirty="0"/>
              <a:t>HTML</a:t>
            </a:r>
            <a:r>
              <a:rPr lang="zh-CN" altLang="en-US" sz="2800" dirty="0"/>
              <a:t>是一组标签，负责网页的基本表现形式；</a:t>
            </a:r>
            <a:endParaRPr lang="zh-CN" altLang="en-US" sz="2800" dirty="0"/>
          </a:p>
          <a:p>
            <a:pPr eaLnBrk="1" hangingPunct="1">
              <a:lnSpc>
                <a:spcPct val="150000"/>
              </a:lnSpc>
              <a:spcBef>
                <a:spcPct val="0"/>
              </a:spcBef>
              <a:buNone/>
            </a:pPr>
            <a:r>
              <a:rPr lang="zh-CN" altLang="en-US" sz="2800" dirty="0"/>
              <a:t>   （</a:t>
            </a:r>
            <a:r>
              <a:rPr lang="en-US" altLang="zh-CN" sz="2800" dirty="0"/>
              <a:t>2</a:t>
            </a:r>
            <a:r>
              <a:rPr lang="zh-CN" altLang="en-US" sz="2800" dirty="0"/>
              <a:t>）</a:t>
            </a:r>
            <a:r>
              <a:rPr lang="en-US" altLang="zh-CN" sz="2800" dirty="0">
                <a:solidFill>
                  <a:srgbClr val="FF0000"/>
                </a:solidFill>
              </a:rPr>
              <a:t>JavaScript</a:t>
            </a:r>
            <a:r>
              <a:rPr lang="zh-CN" altLang="en-US" sz="2800" dirty="0"/>
              <a:t>：</a:t>
            </a:r>
            <a:r>
              <a:rPr lang="en-US" altLang="zh-CN" sz="2800" dirty="0"/>
              <a:t>JavaScript</a:t>
            </a:r>
            <a:r>
              <a:rPr lang="zh-CN" altLang="en-US" sz="2800" dirty="0"/>
              <a:t>是在客户端浏览器运行的语言，负责在客户端与用户的互动；</a:t>
            </a:r>
            <a:endParaRPr lang="zh-CN" altLang="en-US" sz="2800" dirty="0"/>
          </a:p>
          <a:p>
            <a:pPr eaLnBrk="1" hangingPunct="1">
              <a:lnSpc>
                <a:spcPct val="150000"/>
              </a:lnSpc>
              <a:spcBef>
                <a:spcPct val="0"/>
              </a:spcBef>
              <a:buNone/>
            </a:pPr>
            <a:r>
              <a:rPr lang="zh-CN" altLang="en-US" sz="2800" dirty="0"/>
              <a:t>   （</a:t>
            </a:r>
            <a:r>
              <a:rPr lang="en-US" altLang="zh-CN" sz="2800" dirty="0"/>
              <a:t>3</a:t>
            </a:r>
            <a:r>
              <a:rPr lang="zh-CN" altLang="en-US" sz="2800" dirty="0"/>
              <a:t>）</a:t>
            </a:r>
            <a:r>
              <a:rPr lang="en-US" altLang="zh-CN" sz="2800" dirty="0">
                <a:solidFill>
                  <a:srgbClr val="FF0000"/>
                </a:solidFill>
              </a:rPr>
              <a:t>CSS</a:t>
            </a:r>
            <a:r>
              <a:rPr lang="zh-CN" altLang="en-US" sz="2800" dirty="0"/>
              <a:t>： </a:t>
            </a:r>
            <a:r>
              <a:rPr lang="en-US" altLang="zh-CN" sz="2800" dirty="0"/>
              <a:t>CSS</a:t>
            </a:r>
            <a:r>
              <a:rPr lang="zh-CN" altLang="en-US" sz="2800" dirty="0"/>
              <a:t>是一个样式表，起到美化整个页面的功能。</a:t>
            </a:r>
            <a:endParaRPr lang="en-US" altLang="zh-CN" sz="2800" dirty="0"/>
          </a:p>
          <a:p>
            <a:pPr eaLnBrk="1" hangingPunct="1">
              <a:lnSpc>
                <a:spcPct val="150000"/>
              </a:lnSpc>
              <a:spcBef>
                <a:spcPct val="0"/>
              </a:spcBef>
              <a:buNone/>
            </a:pPr>
            <a:endParaRPr lang="zh-CN" altLang="en-US" sz="2800" dirty="0">
              <a:solidFill>
                <a:srgbClr val="FF0000"/>
              </a:solidFill>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  HTML</a:t>
            </a:r>
            <a:r>
              <a:rPr lang="zh-CN" altLang="en-US" baseline="0" dirty="0">
                <a:latin typeface="Times New Roman" panose="02020603050405020304" pitchFamily="18" charset="0"/>
                <a:ea typeface="黑体" panose="02010609060101010101" pitchFamily="49" charset="-122"/>
                <a:cs typeface="+mj-cs"/>
              </a:rPr>
              <a:t>网页设计</a:t>
            </a:r>
            <a:endParaRPr lang="zh-CN" altLang="en-US" baseline="0" dirty="0">
              <a:latin typeface="Times New Roman" panose="02020603050405020304" pitchFamily="18" charset="0"/>
              <a:ea typeface="黑体" panose="02010609060101010101" pitchFamily="49" charset="-122"/>
              <a:cs typeface="+mj-cs"/>
            </a:endParaRPr>
          </a:p>
        </p:txBody>
      </p:sp>
      <p:sp>
        <p:nvSpPr>
          <p:cNvPr id="21506" name="内容占位符 2"/>
          <p:cNvSpPr>
            <a:spLocks noGrp="1"/>
          </p:cNvSpPr>
          <p:nvPr>
            <p:ph idx="1"/>
          </p:nvPr>
        </p:nvSpPr>
        <p:spPr>
          <a:xfrm>
            <a:off x="755650" y="1125538"/>
            <a:ext cx="8280400" cy="5543550"/>
          </a:xfrm>
        </p:spPr>
        <p:txBody>
          <a:bodyPr vert="horz" wrap="square" lIns="91440" tIns="45720" rIns="91440" bIns="45720" anchor="t" anchorCtr="0"/>
          <a:p>
            <a:pPr marL="0" indent="0">
              <a:buNone/>
            </a:pPr>
            <a:r>
              <a:rPr lang="en-US" altLang="zh-CN" sz="2800" dirty="0">
                <a:solidFill>
                  <a:srgbClr val="000000"/>
                </a:solidFill>
              </a:rPr>
              <a:t>2.1.1  HTML</a:t>
            </a:r>
            <a:r>
              <a:rPr lang="zh-CN" altLang="en-US" sz="2800" dirty="0">
                <a:solidFill>
                  <a:srgbClr val="000000"/>
                </a:solidFill>
              </a:rPr>
              <a:t>文档结构与标签基本语法	</a:t>
            </a:r>
            <a:endParaRPr lang="zh-CN" altLang="en-US" sz="2800" dirty="0">
              <a:solidFill>
                <a:srgbClr val="000000"/>
              </a:solidFill>
            </a:endParaRPr>
          </a:p>
          <a:p>
            <a:pPr marL="0" indent="0">
              <a:buNone/>
            </a:pPr>
            <a:r>
              <a:rPr lang="en-US" altLang="zh-CN" sz="2800" dirty="0">
                <a:solidFill>
                  <a:srgbClr val="000000"/>
                </a:solidFill>
              </a:rPr>
              <a:t>2.1.2  HTML</a:t>
            </a:r>
            <a:r>
              <a:rPr lang="zh-CN" altLang="en-US" sz="2800" dirty="0">
                <a:solidFill>
                  <a:srgbClr val="000000"/>
                </a:solidFill>
              </a:rPr>
              <a:t>基本标签与使用</a:t>
            </a:r>
            <a:endParaRPr lang="en-US" altLang="zh-CN" sz="2800" dirty="0">
              <a:solidFill>
                <a:srgbClr val="000000"/>
              </a:solidFill>
            </a:endParaRPr>
          </a:p>
          <a:p>
            <a:pPr marL="0" indent="0">
              <a:buNone/>
            </a:pPr>
            <a:r>
              <a:rPr lang="zh-CN" altLang="en-US" sz="2800" dirty="0">
                <a:solidFill>
                  <a:srgbClr val="000000"/>
                </a:solidFill>
              </a:rPr>
              <a:t>	</a:t>
            </a:r>
            <a:endParaRPr lang="zh-CN" altLang="en-US" sz="2800" dirty="0">
              <a:solidFill>
                <a:srgbClr val="000000"/>
              </a:solidFill>
            </a:endParaRPr>
          </a:p>
          <a:p>
            <a:pPr marL="0" indent="0">
              <a:buNone/>
            </a:pPr>
            <a:r>
              <a:rPr lang="en-US" altLang="zh-CN" sz="2800" dirty="0">
                <a:solidFill>
                  <a:srgbClr val="000000"/>
                </a:solidFill>
              </a:rPr>
              <a:t>2.1.3  HTML</a:t>
            </a:r>
            <a:r>
              <a:rPr lang="zh-CN" altLang="en-US" sz="2800" dirty="0">
                <a:solidFill>
                  <a:srgbClr val="000000"/>
                </a:solidFill>
              </a:rPr>
              <a:t>表单标签与表单设计</a:t>
            </a:r>
            <a:endParaRPr lang="zh-CN" altLang="en-US" sz="2800" dirty="0">
              <a:solidFill>
                <a:srgbClr val="000000"/>
              </a:solidFill>
            </a:endParaRPr>
          </a:p>
          <a:p>
            <a:pPr marL="0" indent="0">
              <a:buNone/>
            </a:pPr>
            <a:r>
              <a:rPr lang="en-US" altLang="zh-CN" sz="2800" dirty="0">
                <a:solidFill>
                  <a:srgbClr val="000000"/>
                </a:solidFill>
              </a:rPr>
              <a:t>2.1.4  </a:t>
            </a:r>
            <a:r>
              <a:rPr lang="zh-CN" altLang="en-US" sz="2800" dirty="0">
                <a:solidFill>
                  <a:srgbClr val="000000"/>
                </a:solidFill>
              </a:rPr>
              <a:t>表单设计案例</a:t>
            </a:r>
            <a:r>
              <a:rPr lang="en-US" altLang="zh-CN" sz="2800" dirty="0">
                <a:solidFill>
                  <a:srgbClr val="000000"/>
                </a:solidFill>
              </a:rPr>
              <a:t>—</a:t>
            </a:r>
            <a:r>
              <a:rPr lang="zh-CN" altLang="en-US" sz="2800" dirty="0">
                <a:solidFill>
                  <a:srgbClr val="000000"/>
                </a:solidFill>
              </a:rPr>
              <a:t>学生入校注册页面设计</a:t>
            </a:r>
            <a:endParaRPr lang="en-US" altLang="zh-CN" sz="2800" dirty="0">
              <a:solidFill>
                <a:srgbClr val="000000"/>
              </a:solidFill>
            </a:endParaRPr>
          </a:p>
          <a:p>
            <a:pPr marL="0" indent="0">
              <a:buNone/>
            </a:pPr>
            <a:r>
              <a:rPr lang="zh-CN" altLang="en-US" sz="2800" dirty="0">
                <a:solidFill>
                  <a:srgbClr val="000000"/>
                </a:solidFill>
              </a:rPr>
              <a:t>	</a:t>
            </a:r>
            <a:endParaRPr lang="zh-CN" altLang="en-US" sz="2800" dirty="0">
              <a:solidFill>
                <a:srgbClr val="000000"/>
              </a:solidFill>
            </a:endParaRPr>
          </a:p>
          <a:p>
            <a:pPr marL="0" indent="0">
              <a:buNone/>
            </a:pPr>
            <a:r>
              <a:rPr lang="en-US" altLang="zh-CN" sz="2800" dirty="0">
                <a:solidFill>
                  <a:srgbClr val="000000"/>
                </a:solidFill>
              </a:rPr>
              <a:t>2.1.5  HTML</a:t>
            </a:r>
            <a:r>
              <a:rPr lang="zh-CN" altLang="en-US" sz="2800" dirty="0">
                <a:solidFill>
                  <a:srgbClr val="000000"/>
                </a:solidFill>
              </a:rPr>
              <a:t>框架标签与框架设计</a:t>
            </a:r>
            <a:endParaRPr lang="zh-CN" altLang="en-US" sz="2800" dirty="0">
              <a:solidFill>
                <a:srgbClr val="000000"/>
              </a:solidFill>
            </a:endParaRPr>
          </a:p>
          <a:p>
            <a:pPr marL="0" indent="0">
              <a:buNone/>
            </a:pPr>
            <a:r>
              <a:rPr lang="en-US" altLang="zh-CN" sz="2800" dirty="0">
                <a:solidFill>
                  <a:srgbClr val="000000"/>
                </a:solidFill>
              </a:rPr>
              <a:t>2.1.6  </a:t>
            </a:r>
            <a:r>
              <a:rPr lang="zh-CN" altLang="en-US" sz="2800" dirty="0">
                <a:solidFill>
                  <a:srgbClr val="000000"/>
                </a:solidFill>
              </a:rPr>
              <a:t>框架设计案例</a:t>
            </a:r>
            <a:r>
              <a:rPr lang="en-US" altLang="zh-CN" sz="2800" dirty="0">
                <a:solidFill>
                  <a:srgbClr val="000000"/>
                </a:solidFill>
              </a:rPr>
              <a:t>—</a:t>
            </a:r>
            <a:r>
              <a:rPr lang="zh-CN" altLang="en-US" sz="2800" dirty="0">
                <a:solidFill>
                  <a:srgbClr val="000000"/>
                </a:solidFill>
              </a:rPr>
              <a:t>多媒体播放系统设计</a:t>
            </a:r>
            <a:endParaRPr lang="en-US" altLang="zh-CN" sz="2800" dirty="0">
              <a:solidFill>
                <a:srgbClr val="000000"/>
              </a:solidFill>
            </a:endParaRPr>
          </a:p>
          <a:p>
            <a:pPr marL="0" indent="0">
              <a:buNone/>
            </a:pPr>
            <a:endParaRPr lang="en-US" altLang="zh-CN" sz="2800" dirty="0">
              <a:solidFill>
                <a:srgbClr val="000000"/>
              </a:solidFill>
            </a:endParaRPr>
          </a:p>
          <a:p>
            <a:pPr marL="0" indent="0">
              <a:buNone/>
            </a:pPr>
            <a:r>
              <a:rPr lang="en-US" altLang="zh-CN" sz="2800" dirty="0">
                <a:solidFill>
                  <a:srgbClr val="000000"/>
                </a:solidFill>
              </a:rPr>
              <a:t>2.1.7 HTML5</a:t>
            </a:r>
            <a:r>
              <a:rPr lang="zh-CN" altLang="en-US" sz="2800" dirty="0">
                <a:solidFill>
                  <a:srgbClr val="000000"/>
                </a:solidFill>
              </a:rPr>
              <a:t>语法与</a:t>
            </a:r>
            <a:r>
              <a:rPr lang="en-US" altLang="zh-CN" sz="2800" dirty="0">
                <a:solidFill>
                  <a:srgbClr val="000000"/>
                </a:solidFill>
              </a:rPr>
              <a:t>HTML5</a:t>
            </a:r>
            <a:r>
              <a:rPr lang="zh-CN" altLang="en-US" sz="2800" dirty="0">
                <a:solidFill>
                  <a:srgbClr val="000000"/>
                </a:solidFill>
              </a:rPr>
              <a:t>表单新特性</a:t>
            </a:r>
            <a:endParaRPr lang="en-US" altLang="zh-CN" sz="2800" dirty="0">
              <a:solidFill>
                <a:srgbClr val="000000"/>
              </a:solidFill>
            </a:endParaRPr>
          </a:p>
          <a:p>
            <a:pPr marL="0" indent="0">
              <a:buNone/>
            </a:pPr>
            <a:r>
              <a:rPr lang="en-US" altLang="zh-CN" sz="2800" dirty="0">
                <a:solidFill>
                  <a:srgbClr val="000000"/>
                </a:solidFill>
              </a:rPr>
              <a:t>2.1.8 </a:t>
            </a:r>
            <a:r>
              <a:rPr lang="zh-CN" altLang="en-US" sz="2400" dirty="0">
                <a:solidFill>
                  <a:srgbClr val="000000"/>
                </a:solidFill>
              </a:rPr>
              <a:t>案例</a:t>
            </a:r>
            <a:r>
              <a:rPr lang="en-US" altLang="zh-CN" sz="2400" dirty="0">
                <a:solidFill>
                  <a:srgbClr val="000000"/>
                </a:solidFill>
              </a:rPr>
              <a:t>—</a:t>
            </a:r>
            <a:r>
              <a:rPr lang="zh-CN" altLang="en-US" sz="2400" dirty="0">
                <a:solidFill>
                  <a:srgbClr val="000000"/>
                </a:solidFill>
              </a:rPr>
              <a:t>基于</a:t>
            </a:r>
            <a:r>
              <a:rPr lang="en-US" altLang="zh-CN" sz="2400" dirty="0">
                <a:solidFill>
                  <a:srgbClr val="000000"/>
                </a:solidFill>
              </a:rPr>
              <a:t>HTML5</a:t>
            </a:r>
            <a:r>
              <a:rPr lang="zh-CN" altLang="en-US" sz="2400" dirty="0">
                <a:solidFill>
                  <a:srgbClr val="000000"/>
                </a:solidFill>
              </a:rPr>
              <a:t>表单新特性实现客户注册输入校验</a:t>
            </a:r>
            <a:endParaRPr lang="zh-CN" altLang="en-US" sz="2800" dirty="0">
              <a:solidFill>
                <a:srgbClr val="000000"/>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  HTML</a:t>
            </a:r>
            <a:r>
              <a:rPr lang="zh-CN" altLang="en-US" baseline="0" dirty="0">
                <a:latin typeface="Times New Roman" panose="02020603050405020304" pitchFamily="18" charset="0"/>
                <a:ea typeface="黑体" panose="02010609060101010101" pitchFamily="49" charset="-122"/>
                <a:cs typeface="+mj-cs"/>
              </a:rPr>
              <a:t>网页设计</a:t>
            </a:r>
            <a:endParaRPr lang="zh-CN" altLang="en-US" baseline="0" dirty="0">
              <a:latin typeface="Times New Roman" panose="02020603050405020304" pitchFamily="18" charset="0"/>
              <a:ea typeface="黑体" panose="02010609060101010101" pitchFamily="49" charset="-122"/>
              <a:cs typeface="+mj-cs"/>
            </a:endParaRPr>
          </a:p>
        </p:txBody>
      </p:sp>
      <p:sp>
        <p:nvSpPr>
          <p:cNvPr id="22530" name="内容占位符 2"/>
          <p:cNvSpPr>
            <a:spLocks noGrp="1"/>
          </p:cNvSpPr>
          <p:nvPr>
            <p:ph idx="1"/>
          </p:nvPr>
        </p:nvSpPr>
        <p:spPr>
          <a:xfrm>
            <a:off x="755650" y="1125538"/>
            <a:ext cx="8280400" cy="5543550"/>
          </a:xfrm>
        </p:spPr>
        <p:txBody>
          <a:bodyPr vert="horz" wrap="square" lIns="91440" tIns="45720" rIns="91440" bIns="45720" anchor="t" anchorCtr="0"/>
          <a:p>
            <a:pPr marL="0" indent="0">
              <a:buNone/>
            </a:pPr>
            <a:r>
              <a:rPr lang="en-US" altLang="zh-CN" sz="2800" dirty="0">
                <a:solidFill>
                  <a:srgbClr val="000000"/>
                </a:solidFill>
              </a:rPr>
              <a:t>2.1.1  HTML</a:t>
            </a:r>
            <a:r>
              <a:rPr lang="zh-CN" altLang="en-US" sz="2800" dirty="0">
                <a:solidFill>
                  <a:srgbClr val="000000"/>
                </a:solidFill>
              </a:rPr>
              <a:t>文档结构与标签基本语法	</a:t>
            </a:r>
            <a:endParaRPr lang="zh-CN" altLang="en-US" sz="2800" dirty="0">
              <a:solidFill>
                <a:srgbClr val="000000"/>
              </a:solidFill>
            </a:endParaRPr>
          </a:p>
          <a:p>
            <a:pPr marL="0" indent="0">
              <a:buNone/>
            </a:pPr>
            <a:r>
              <a:rPr lang="en-US" altLang="zh-CN" sz="2800" dirty="0">
                <a:solidFill>
                  <a:srgbClr val="D9D9D9"/>
                </a:solidFill>
              </a:rPr>
              <a:t>2.1.2  HTML</a:t>
            </a:r>
            <a:r>
              <a:rPr lang="zh-CN" altLang="en-US" sz="2800" dirty="0">
                <a:solidFill>
                  <a:srgbClr val="D9D9D9"/>
                </a:solidFill>
              </a:rPr>
              <a:t>基本标签与使用</a:t>
            </a:r>
            <a:endParaRPr lang="en-US" altLang="zh-CN" sz="2800" dirty="0">
              <a:solidFill>
                <a:srgbClr val="D9D9D9"/>
              </a:solidFill>
            </a:endParaRPr>
          </a:p>
          <a:p>
            <a:pPr marL="0" indent="0">
              <a:buNone/>
            </a:pPr>
            <a:r>
              <a:rPr lang="zh-CN" altLang="en-US" sz="2800" dirty="0">
                <a:solidFill>
                  <a:srgbClr val="000000"/>
                </a:solidFill>
              </a:rPr>
              <a:t>	</a:t>
            </a:r>
            <a:endParaRPr lang="zh-CN" altLang="en-US" sz="2800" dirty="0">
              <a:solidFill>
                <a:srgbClr val="000000"/>
              </a:solidFill>
            </a:endParaRPr>
          </a:p>
          <a:p>
            <a:pPr marL="0" indent="0">
              <a:buNone/>
            </a:pPr>
            <a:r>
              <a:rPr lang="en-US" altLang="zh-CN" sz="2800" dirty="0">
                <a:solidFill>
                  <a:srgbClr val="D9D9D9"/>
                </a:solidFill>
              </a:rPr>
              <a:t>2.1.3  HTML</a:t>
            </a:r>
            <a:r>
              <a:rPr lang="zh-CN" altLang="en-US" sz="2800" dirty="0">
                <a:solidFill>
                  <a:srgbClr val="D9D9D9"/>
                </a:solidFill>
              </a:rPr>
              <a:t>表单标签与表单设计</a:t>
            </a:r>
            <a:endParaRPr lang="zh-CN" altLang="en-US" sz="2800" dirty="0">
              <a:solidFill>
                <a:srgbClr val="D9D9D9"/>
              </a:solidFill>
            </a:endParaRPr>
          </a:p>
          <a:p>
            <a:pPr marL="0" indent="0">
              <a:buNone/>
            </a:pPr>
            <a:r>
              <a:rPr lang="en-US" altLang="zh-CN" sz="2800" dirty="0">
                <a:solidFill>
                  <a:srgbClr val="D9D9D9"/>
                </a:solidFill>
              </a:rPr>
              <a:t>2.1.4  </a:t>
            </a:r>
            <a:r>
              <a:rPr lang="zh-CN" altLang="en-US" sz="2800" dirty="0">
                <a:solidFill>
                  <a:srgbClr val="D9D9D9"/>
                </a:solidFill>
              </a:rPr>
              <a:t>表单设计案例</a:t>
            </a:r>
            <a:r>
              <a:rPr lang="en-US" altLang="zh-CN" sz="2800" dirty="0">
                <a:solidFill>
                  <a:srgbClr val="D9D9D9"/>
                </a:solidFill>
              </a:rPr>
              <a:t>—</a:t>
            </a:r>
            <a:r>
              <a:rPr lang="zh-CN" altLang="en-US" sz="2800" dirty="0">
                <a:solidFill>
                  <a:srgbClr val="D9D9D9"/>
                </a:solidFill>
              </a:rPr>
              <a:t>学生入校注册页面设计</a:t>
            </a:r>
            <a:endParaRPr lang="en-US" altLang="zh-CN" sz="2800" dirty="0">
              <a:solidFill>
                <a:srgbClr val="D9D9D9"/>
              </a:solidFill>
            </a:endParaRPr>
          </a:p>
          <a:p>
            <a:pPr marL="0" indent="0">
              <a:buNone/>
            </a:pPr>
            <a:r>
              <a:rPr lang="zh-CN" altLang="en-US" sz="2800" dirty="0">
                <a:solidFill>
                  <a:srgbClr val="D9D9D9"/>
                </a:solidFill>
              </a:rPr>
              <a:t>	</a:t>
            </a:r>
            <a:endParaRPr lang="zh-CN" altLang="en-US" sz="2800" dirty="0">
              <a:solidFill>
                <a:srgbClr val="D9D9D9"/>
              </a:solidFill>
            </a:endParaRPr>
          </a:p>
          <a:p>
            <a:pPr marL="0" indent="0">
              <a:buNone/>
            </a:pPr>
            <a:r>
              <a:rPr lang="en-US" altLang="zh-CN" sz="2800" dirty="0">
                <a:solidFill>
                  <a:srgbClr val="D9D9D9"/>
                </a:solidFill>
              </a:rPr>
              <a:t>2.1.5  HTML</a:t>
            </a:r>
            <a:r>
              <a:rPr lang="zh-CN" altLang="en-US" sz="2800" dirty="0">
                <a:solidFill>
                  <a:srgbClr val="D9D9D9"/>
                </a:solidFill>
              </a:rPr>
              <a:t>框架标签与框架设计</a:t>
            </a:r>
            <a:endParaRPr lang="zh-CN" altLang="en-US" sz="2800" dirty="0">
              <a:solidFill>
                <a:srgbClr val="D9D9D9"/>
              </a:solidFill>
            </a:endParaRPr>
          </a:p>
          <a:p>
            <a:pPr marL="0" indent="0">
              <a:buNone/>
            </a:pPr>
            <a:r>
              <a:rPr lang="en-US" altLang="zh-CN" sz="2800" dirty="0">
                <a:solidFill>
                  <a:srgbClr val="D9D9D9"/>
                </a:solidFill>
              </a:rPr>
              <a:t>2.1.6  </a:t>
            </a:r>
            <a:r>
              <a:rPr lang="zh-CN" altLang="en-US" sz="2800" dirty="0">
                <a:solidFill>
                  <a:srgbClr val="D9D9D9"/>
                </a:solidFill>
              </a:rPr>
              <a:t>框架设计案例</a:t>
            </a:r>
            <a:r>
              <a:rPr lang="en-US" altLang="zh-CN" sz="2800" dirty="0">
                <a:solidFill>
                  <a:srgbClr val="D9D9D9"/>
                </a:solidFill>
              </a:rPr>
              <a:t>—</a:t>
            </a:r>
            <a:r>
              <a:rPr lang="zh-CN" altLang="en-US" sz="2800" dirty="0">
                <a:solidFill>
                  <a:srgbClr val="D9D9D9"/>
                </a:solidFill>
              </a:rPr>
              <a:t>多媒体播放系统设计</a:t>
            </a:r>
            <a:endParaRPr lang="en-US" altLang="zh-CN" sz="2800" dirty="0">
              <a:solidFill>
                <a:srgbClr val="D9D9D9"/>
              </a:solidFill>
            </a:endParaRPr>
          </a:p>
          <a:p>
            <a:pPr marL="0" indent="0">
              <a:buNone/>
            </a:pPr>
            <a:endParaRPr lang="en-US" altLang="zh-CN" sz="2800" dirty="0">
              <a:solidFill>
                <a:srgbClr val="D9D9D9"/>
              </a:solidFill>
            </a:endParaRPr>
          </a:p>
          <a:p>
            <a:pPr marL="0" indent="0">
              <a:buNone/>
            </a:pPr>
            <a:r>
              <a:rPr lang="en-US" altLang="zh-CN" sz="2800" dirty="0">
                <a:solidFill>
                  <a:srgbClr val="D9D9D9"/>
                </a:solidFill>
              </a:rPr>
              <a:t>2.1.7 HTML5</a:t>
            </a:r>
            <a:r>
              <a:rPr lang="zh-CN" altLang="en-US" sz="2800" dirty="0">
                <a:solidFill>
                  <a:srgbClr val="D9D9D9"/>
                </a:solidFill>
              </a:rPr>
              <a:t>语法与</a:t>
            </a:r>
            <a:r>
              <a:rPr lang="en-US" altLang="zh-CN" sz="2800" dirty="0">
                <a:solidFill>
                  <a:srgbClr val="D9D9D9"/>
                </a:solidFill>
              </a:rPr>
              <a:t>HTML5</a:t>
            </a:r>
            <a:r>
              <a:rPr lang="zh-CN" altLang="en-US" sz="2800" dirty="0">
                <a:solidFill>
                  <a:srgbClr val="D9D9D9"/>
                </a:solidFill>
              </a:rPr>
              <a:t>表单新特性</a:t>
            </a:r>
            <a:endParaRPr lang="en-US" altLang="zh-CN" sz="2800" dirty="0">
              <a:solidFill>
                <a:srgbClr val="D9D9D9"/>
              </a:solidFill>
            </a:endParaRPr>
          </a:p>
          <a:p>
            <a:pPr marL="0" indent="0">
              <a:buNone/>
            </a:pPr>
            <a:r>
              <a:rPr lang="en-US" altLang="zh-CN" sz="2800" dirty="0">
                <a:solidFill>
                  <a:srgbClr val="D9D9D9"/>
                </a:solidFill>
              </a:rPr>
              <a:t>2.1.8 </a:t>
            </a:r>
            <a:r>
              <a:rPr lang="zh-CN" altLang="en-US" sz="2400" dirty="0">
                <a:solidFill>
                  <a:srgbClr val="D9D9D9"/>
                </a:solidFill>
              </a:rPr>
              <a:t>案例</a:t>
            </a:r>
            <a:r>
              <a:rPr lang="en-US" altLang="zh-CN" sz="2400" dirty="0">
                <a:solidFill>
                  <a:srgbClr val="D9D9D9"/>
                </a:solidFill>
              </a:rPr>
              <a:t>—</a:t>
            </a:r>
            <a:r>
              <a:rPr lang="zh-CN" altLang="en-US" sz="2400" dirty="0">
                <a:solidFill>
                  <a:srgbClr val="D9D9D9"/>
                </a:solidFill>
              </a:rPr>
              <a:t>基于</a:t>
            </a:r>
            <a:r>
              <a:rPr lang="en-US" altLang="zh-CN" sz="2400" dirty="0">
                <a:solidFill>
                  <a:srgbClr val="D9D9D9"/>
                </a:solidFill>
              </a:rPr>
              <a:t>HTML5</a:t>
            </a:r>
            <a:r>
              <a:rPr lang="zh-CN" altLang="en-US" sz="2400" dirty="0">
                <a:solidFill>
                  <a:srgbClr val="D9D9D9"/>
                </a:solidFill>
              </a:rPr>
              <a:t>表单新特性实现客户注册输入校验</a:t>
            </a:r>
            <a:endParaRPr lang="zh-CN" altLang="en-US" sz="2800" dirty="0">
              <a:solidFill>
                <a:srgbClr val="D9D9D9"/>
              </a:solidFill>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文档结构和标签基本语法</a:t>
            </a:r>
            <a:endParaRPr lang="zh-CN" altLang="en-US" baseline="0" dirty="0">
              <a:latin typeface="Times New Roman" panose="02020603050405020304" pitchFamily="18" charset="0"/>
              <a:ea typeface="黑体" panose="02010609060101010101" pitchFamily="49" charset="-122"/>
              <a:cs typeface="+mj-cs"/>
            </a:endParaRPr>
          </a:p>
        </p:txBody>
      </p:sp>
      <p:pic>
        <p:nvPicPr>
          <p:cNvPr id="23554" name="Picture 15"/>
          <p:cNvPicPr>
            <a:picLocks noChangeAspect="1"/>
          </p:cNvPicPr>
          <p:nvPr/>
        </p:nvPicPr>
        <p:blipFill>
          <a:blip r:embed="rId1"/>
          <a:stretch>
            <a:fillRect/>
          </a:stretch>
        </p:blipFill>
        <p:spPr>
          <a:xfrm>
            <a:off x="1187450" y="1060450"/>
            <a:ext cx="8647113" cy="2205038"/>
          </a:xfrm>
          <a:prstGeom prst="rect">
            <a:avLst/>
          </a:prstGeom>
          <a:noFill/>
          <a:ln w="9525">
            <a:noFill/>
          </a:ln>
        </p:spPr>
      </p:pic>
      <p:sp>
        <p:nvSpPr>
          <p:cNvPr id="23555" name="TextBox 10"/>
          <p:cNvSpPr txBox="1"/>
          <p:nvPr/>
        </p:nvSpPr>
        <p:spPr>
          <a:xfrm>
            <a:off x="219075" y="1060450"/>
            <a:ext cx="3743325" cy="522288"/>
          </a:xfrm>
          <a:prstGeom prst="rect">
            <a:avLst/>
          </a:prstGeom>
          <a:noFill/>
          <a:ln w="9525">
            <a:noFill/>
          </a:ln>
        </p:spPr>
        <p:txBody>
          <a:bodyPr anchor="t" anchorCtr="0">
            <a:spAutoFit/>
          </a:bodyPr>
          <a:p>
            <a:r>
              <a:rPr lang="zh-CN" altLang="en-US" sz="2800" dirty="0">
                <a:solidFill>
                  <a:srgbClr val="000000"/>
                </a:solidFill>
                <a:latin typeface="Calibri" panose="020F0502020204030204" pitchFamily="34" charset="0"/>
                <a:ea typeface="宋体" panose="02010600030101010101" pitchFamily="2" charset="-122"/>
              </a:rPr>
              <a:t>网页结构：</a:t>
            </a:r>
            <a:endParaRPr lang="zh-CN" altLang="en-US" sz="2800" dirty="0">
              <a:solidFill>
                <a:srgbClr val="000000"/>
              </a:solidFill>
              <a:latin typeface="Calibri" panose="020F0502020204030204" pitchFamily="34" charset="0"/>
              <a:ea typeface="宋体" panose="02010600030101010101" pitchFamily="2" charset="-122"/>
            </a:endParaRPr>
          </a:p>
        </p:txBody>
      </p:sp>
      <p:sp>
        <p:nvSpPr>
          <p:cNvPr id="23556" name="TextBox 11"/>
          <p:cNvSpPr txBox="1"/>
          <p:nvPr/>
        </p:nvSpPr>
        <p:spPr>
          <a:xfrm>
            <a:off x="219075" y="3051175"/>
            <a:ext cx="8064500" cy="523875"/>
          </a:xfrm>
          <a:prstGeom prst="rect">
            <a:avLst/>
          </a:prstGeom>
          <a:noFill/>
          <a:ln w="9525">
            <a:noFill/>
          </a:ln>
        </p:spPr>
        <p:txBody>
          <a:bodyPr anchor="t" anchorCtr="0">
            <a:spAutoFit/>
          </a:bodyPr>
          <a:p>
            <a:r>
              <a:rPr lang="zh-CN" altLang="en-US" sz="2800" dirty="0">
                <a:solidFill>
                  <a:srgbClr val="000000"/>
                </a:solidFill>
                <a:latin typeface="Calibri" panose="020F0502020204030204" pitchFamily="34" charset="0"/>
                <a:ea typeface="宋体" panose="02010600030101010101" pitchFamily="2" charset="-122"/>
              </a:rPr>
              <a:t>设计完成该网页的代码：</a:t>
            </a:r>
            <a:endParaRPr lang="zh-CN" altLang="en-US" dirty="0">
              <a:solidFill>
                <a:srgbClr val="000000"/>
              </a:solidFill>
              <a:latin typeface="Calibri" panose="020F0502020204030204" pitchFamily="34" charset="0"/>
              <a:ea typeface="宋体" panose="02010600030101010101" pitchFamily="2" charset="-122"/>
            </a:endParaRPr>
          </a:p>
        </p:txBody>
      </p:sp>
      <p:pic>
        <p:nvPicPr>
          <p:cNvPr id="23557" name="Picture 18"/>
          <p:cNvPicPr>
            <a:picLocks noChangeAspect="1"/>
          </p:cNvPicPr>
          <p:nvPr/>
        </p:nvPicPr>
        <p:blipFill>
          <a:blip r:embed="rId2"/>
          <a:stretch>
            <a:fillRect/>
          </a:stretch>
        </p:blipFill>
        <p:spPr>
          <a:xfrm>
            <a:off x="482600" y="3575050"/>
            <a:ext cx="8135938" cy="3146425"/>
          </a:xfrm>
          <a:prstGeom prst="rect">
            <a:avLst/>
          </a:prstGeom>
          <a:noFill/>
          <a:ln w="9525">
            <a:noFill/>
          </a:ln>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文档结构和标签基本语法</a:t>
            </a:r>
            <a:endParaRPr lang="zh-CN" altLang="en-US" baseline="0" dirty="0">
              <a:latin typeface="Times New Roman" panose="02020603050405020304" pitchFamily="18" charset="0"/>
              <a:ea typeface="黑体" panose="02010609060101010101" pitchFamily="49" charset="-122"/>
              <a:cs typeface="+mj-cs"/>
            </a:endParaRPr>
          </a:p>
        </p:txBody>
      </p:sp>
      <p:sp>
        <p:nvSpPr>
          <p:cNvPr id="24578" name="内容占位符 2"/>
          <p:cNvSpPr>
            <a:spLocks noGrp="1"/>
          </p:cNvSpPr>
          <p:nvPr>
            <p:ph idx="1"/>
          </p:nvPr>
        </p:nvSpPr>
        <p:spPr>
          <a:xfrm>
            <a:off x="107950" y="1125538"/>
            <a:ext cx="8928100" cy="3240087"/>
          </a:xfrm>
        </p:spPr>
        <p:txBody>
          <a:bodyPr vert="horz" wrap="square" lIns="91440" tIns="45720" rIns="91440" bIns="45720" anchor="t" anchorCtr="0"/>
          <a:p>
            <a:pPr marL="0" indent="0">
              <a:lnSpc>
                <a:spcPct val="130000"/>
              </a:lnSpc>
              <a:spcBef>
                <a:spcPct val="0"/>
              </a:spcBef>
              <a:buNone/>
            </a:pPr>
            <a:r>
              <a:rPr lang="en-US" altLang="zh-CN" sz="2800" b="1" dirty="0">
                <a:solidFill>
                  <a:srgbClr val="000000"/>
                </a:solidFill>
              </a:rPr>
              <a:t>1. HTML</a:t>
            </a:r>
            <a:r>
              <a:rPr lang="zh-CN" altLang="en-US" sz="2800" b="1" dirty="0">
                <a:solidFill>
                  <a:srgbClr val="000000"/>
                </a:solidFill>
              </a:rPr>
              <a:t>标签</a:t>
            </a:r>
            <a:endParaRPr lang="en-US" altLang="zh-CN" sz="2800" b="1" dirty="0">
              <a:solidFill>
                <a:srgbClr val="000000"/>
              </a:solidFill>
            </a:endParaRPr>
          </a:p>
          <a:p>
            <a:pPr marL="0" indent="0">
              <a:lnSpc>
                <a:spcPct val="130000"/>
              </a:lnSpc>
              <a:buNone/>
            </a:pPr>
            <a:r>
              <a:rPr lang="zh-CN" altLang="en-US" sz="2400" b="1" dirty="0">
                <a:solidFill>
                  <a:srgbClr val="000000"/>
                </a:solidFill>
              </a:rPr>
              <a:t>    </a:t>
            </a:r>
            <a:r>
              <a:rPr lang="zh-CN" altLang="en-US" sz="2400" dirty="0">
                <a:solidFill>
                  <a:srgbClr val="000000"/>
                </a:solidFill>
              </a:rPr>
              <a:t>用</a:t>
            </a:r>
            <a:r>
              <a:rPr lang="en-US" altLang="zh-CN" sz="2400" dirty="0">
                <a:solidFill>
                  <a:srgbClr val="000000"/>
                </a:solidFill>
              </a:rPr>
              <a:t>HTML</a:t>
            </a:r>
            <a:r>
              <a:rPr lang="zh-CN" altLang="en-US" sz="2400" dirty="0">
                <a:solidFill>
                  <a:srgbClr val="000000"/>
                </a:solidFill>
              </a:rPr>
              <a:t>编写的超文本文档称为</a:t>
            </a:r>
            <a:r>
              <a:rPr lang="en-US" altLang="zh-CN" sz="2400" dirty="0">
                <a:solidFill>
                  <a:srgbClr val="000000"/>
                </a:solidFill>
              </a:rPr>
              <a:t>HTML</a:t>
            </a:r>
            <a:r>
              <a:rPr lang="zh-CN" altLang="en-US" sz="2400" dirty="0">
                <a:solidFill>
                  <a:srgbClr val="000000"/>
                </a:solidFill>
              </a:rPr>
              <a:t>文档（文件），是一个放置了“标签”的文本文件，以“</a:t>
            </a:r>
            <a:r>
              <a:rPr lang="en-US" altLang="zh-CN" sz="2400" dirty="0">
                <a:solidFill>
                  <a:srgbClr val="000000"/>
                </a:solidFill>
              </a:rPr>
              <a:t>.html”</a:t>
            </a:r>
            <a:r>
              <a:rPr lang="zh-CN" altLang="en-US" sz="2400" dirty="0">
                <a:solidFill>
                  <a:srgbClr val="000000"/>
                </a:solidFill>
              </a:rPr>
              <a:t>或“</a:t>
            </a:r>
            <a:r>
              <a:rPr lang="en-US" altLang="zh-CN" sz="2400" dirty="0">
                <a:solidFill>
                  <a:srgbClr val="000000"/>
                </a:solidFill>
              </a:rPr>
              <a:t>.htm”</a:t>
            </a:r>
            <a:r>
              <a:rPr lang="zh-CN" altLang="en-US" sz="2400" dirty="0">
                <a:solidFill>
                  <a:srgbClr val="000000"/>
                </a:solidFill>
              </a:rPr>
              <a:t>为扩展名，可供浏览器解释执行的网页文件。</a:t>
            </a:r>
            <a:r>
              <a:rPr lang="en-US" altLang="zh-CN" sz="2300" dirty="0">
                <a:solidFill>
                  <a:srgbClr val="FF0000"/>
                </a:solidFill>
              </a:rPr>
              <a:t>HTML</a:t>
            </a:r>
            <a:r>
              <a:rPr lang="zh-CN" altLang="en-US" sz="2300" dirty="0">
                <a:solidFill>
                  <a:srgbClr val="FF0000"/>
                </a:solidFill>
              </a:rPr>
              <a:t>不是编程语言，是标记语言。</a:t>
            </a:r>
            <a:endParaRPr lang="en-US" altLang="zh-CN" sz="2300" dirty="0">
              <a:solidFill>
                <a:srgbClr val="FF0000"/>
              </a:solidFill>
            </a:endParaRPr>
          </a:p>
          <a:p>
            <a:pPr marL="0" indent="0">
              <a:lnSpc>
                <a:spcPct val="130000"/>
              </a:lnSpc>
              <a:buNone/>
            </a:pPr>
            <a:r>
              <a:rPr lang="en-US" altLang="zh-CN" sz="2400" dirty="0">
                <a:solidFill>
                  <a:srgbClr val="000000"/>
                </a:solidFill>
              </a:rPr>
              <a:t>    </a:t>
            </a:r>
            <a:r>
              <a:rPr lang="zh-CN" altLang="en-US" sz="2400" dirty="0">
                <a:solidFill>
                  <a:srgbClr val="000000"/>
                </a:solidFill>
              </a:rPr>
              <a:t>网页文件是利用</a:t>
            </a:r>
            <a:r>
              <a:rPr lang="en-US" altLang="zh-CN" sz="2400" dirty="0">
                <a:solidFill>
                  <a:srgbClr val="000000"/>
                </a:solidFill>
              </a:rPr>
              <a:t>HTML</a:t>
            </a:r>
            <a:r>
              <a:rPr lang="zh-CN" altLang="en-US" sz="2400" dirty="0">
                <a:solidFill>
                  <a:srgbClr val="000000"/>
                </a:solidFill>
              </a:rPr>
              <a:t>所规定的标签定义网页中的各种元素的性质和特点，从而完成网页所要求的功能。</a:t>
            </a:r>
            <a:endParaRPr lang="zh-CN" altLang="en-US" sz="2400" dirty="0">
              <a:solidFill>
                <a:srgbClr val="0000FF"/>
              </a:solidFill>
            </a:endParaRPr>
          </a:p>
        </p:txBody>
      </p:sp>
      <p:pic>
        <p:nvPicPr>
          <p:cNvPr id="24579" name="Picture 2"/>
          <p:cNvPicPr>
            <a:picLocks noChangeAspect="1"/>
          </p:cNvPicPr>
          <p:nvPr/>
        </p:nvPicPr>
        <p:blipFill>
          <a:blip r:embed="rId1"/>
          <a:stretch>
            <a:fillRect/>
          </a:stretch>
        </p:blipFill>
        <p:spPr>
          <a:xfrm>
            <a:off x="684213" y="4203700"/>
            <a:ext cx="6853237" cy="2654300"/>
          </a:xfrm>
          <a:prstGeom prst="rect">
            <a:avLst/>
          </a:prstGeom>
          <a:noFill/>
          <a:ln w="9525">
            <a:noFill/>
          </a:ln>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文档结构和标签基本语法</a:t>
            </a:r>
            <a:endParaRPr lang="zh-CN" altLang="en-US" baseline="0" dirty="0">
              <a:latin typeface="Times New Roman" panose="02020603050405020304" pitchFamily="18" charset="0"/>
              <a:ea typeface="黑体" panose="02010609060101010101" pitchFamily="49" charset="-122"/>
              <a:cs typeface="+mj-cs"/>
            </a:endParaRPr>
          </a:p>
        </p:txBody>
      </p:sp>
      <p:sp>
        <p:nvSpPr>
          <p:cNvPr id="25602" name="内容占位符 2"/>
          <p:cNvSpPr>
            <a:spLocks noGrp="1"/>
          </p:cNvSpPr>
          <p:nvPr>
            <p:ph idx="1"/>
          </p:nvPr>
        </p:nvSpPr>
        <p:spPr>
          <a:xfrm>
            <a:off x="107950" y="1125538"/>
            <a:ext cx="8928100" cy="5732462"/>
          </a:xfrm>
        </p:spPr>
        <p:txBody>
          <a:bodyPr vert="horz" wrap="square" lIns="91440" tIns="45720" rIns="91440" bIns="45720" anchor="t" anchorCtr="0"/>
          <a:p>
            <a:pPr marL="0" indent="0">
              <a:lnSpc>
                <a:spcPct val="130000"/>
              </a:lnSpc>
              <a:spcBef>
                <a:spcPct val="0"/>
              </a:spcBef>
              <a:buNone/>
            </a:pPr>
            <a:r>
              <a:rPr lang="en-US" altLang="zh-CN" sz="2800" b="1" dirty="0">
                <a:solidFill>
                  <a:srgbClr val="000000"/>
                </a:solidFill>
              </a:rPr>
              <a:t>2. </a:t>
            </a:r>
            <a:r>
              <a:rPr lang="zh-CN" altLang="en-US" sz="2800" b="1" dirty="0">
                <a:solidFill>
                  <a:srgbClr val="000000"/>
                </a:solidFill>
              </a:rPr>
              <a:t>标签的分类（类型）</a:t>
            </a:r>
            <a:endParaRPr lang="en-US" altLang="zh-CN" sz="2800" b="1" dirty="0">
              <a:solidFill>
                <a:srgbClr val="000000"/>
              </a:solidFill>
            </a:endParaRPr>
          </a:p>
          <a:p>
            <a:pPr marL="0" indent="0">
              <a:buNone/>
            </a:pPr>
            <a:r>
              <a:rPr lang="zh-CN" altLang="en-US" sz="2800" dirty="0">
                <a:solidFill>
                  <a:srgbClr val="000000"/>
                </a:solidFill>
              </a:rPr>
              <a:t>网页就像利用</a:t>
            </a:r>
            <a:r>
              <a:rPr lang="en-US" altLang="zh-CN" sz="2800" dirty="0">
                <a:solidFill>
                  <a:srgbClr val="000000"/>
                </a:solidFill>
              </a:rPr>
              <a:t>word</a:t>
            </a:r>
            <a:r>
              <a:rPr lang="zh-CN" altLang="en-US" sz="2800" dirty="0">
                <a:solidFill>
                  <a:srgbClr val="000000"/>
                </a:solidFill>
              </a:rPr>
              <a:t>编辑显示文件一样。在网页上要展示的不同元素，需要采用不同的标签给出定义和说明。</a:t>
            </a:r>
            <a:endParaRPr lang="en-US" altLang="zh-CN" sz="2800" dirty="0">
              <a:solidFill>
                <a:srgbClr val="000000"/>
              </a:solidFill>
            </a:endParaRPr>
          </a:p>
          <a:p>
            <a:pPr marL="0" indent="0">
              <a:buNone/>
            </a:pPr>
            <a:r>
              <a:rPr lang="zh-CN" altLang="en-US" sz="2800" dirty="0">
                <a:solidFill>
                  <a:srgbClr val="000000"/>
                </a:solidFill>
              </a:rPr>
              <a:t>主要有：</a:t>
            </a:r>
            <a:endParaRPr lang="en-US" altLang="zh-CN" sz="2800" dirty="0">
              <a:solidFill>
                <a:srgbClr val="000000"/>
              </a:solidFill>
            </a:endParaRPr>
          </a:p>
          <a:p>
            <a:pPr marL="400050" lvl="1" indent="0">
              <a:buSzPct val="80000"/>
              <a:buFont typeface="Wingdings" panose="05000000000000000000" pitchFamily="2" charset="2"/>
              <a:buChar char="p"/>
            </a:pPr>
            <a:r>
              <a:rPr lang="zh-CN" altLang="en-US" dirty="0">
                <a:solidFill>
                  <a:srgbClr val="000000"/>
                </a:solidFill>
              </a:rPr>
              <a:t>定义网页结构的标签</a:t>
            </a:r>
            <a:r>
              <a:rPr lang="en-US" altLang="zh-CN" dirty="0">
                <a:solidFill>
                  <a:srgbClr val="000000"/>
                </a:solidFill>
              </a:rPr>
              <a:t> </a:t>
            </a:r>
            <a:endParaRPr lang="en-US" altLang="zh-CN" dirty="0">
              <a:solidFill>
                <a:srgbClr val="000000"/>
              </a:solidFill>
            </a:endParaRPr>
          </a:p>
          <a:p>
            <a:pPr lvl="2" indent="-342900">
              <a:buSzPct val="80000"/>
            </a:pPr>
            <a:r>
              <a:rPr lang="en-US" altLang="zh-CN" dirty="0">
                <a:solidFill>
                  <a:srgbClr val="000000"/>
                </a:solidFill>
              </a:rPr>
              <a:t>&lt;html&gt; &lt;head&gt;&lt;title&gt;&lt;body&gt;</a:t>
            </a:r>
            <a:endParaRPr lang="en-US" altLang="zh-CN" dirty="0">
              <a:solidFill>
                <a:srgbClr val="000000"/>
              </a:solidFill>
            </a:endParaRPr>
          </a:p>
          <a:p>
            <a:pPr marL="400050" lvl="1" indent="0">
              <a:buSzPct val="80000"/>
              <a:buFont typeface="Wingdings" panose="05000000000000000000" pitchFamily="2" charset="2"/>
              <a:buChar char="p"/>
            </a:pPr>
            <a:r>
              <a:rPr lang="zh-CN" altLang="en-US" dirty="0">
                <a:solidFill>
                  <a:srgbClr val="000000"/>
                </a:solidFill>
              </a:rPr>
              <a:t>定义网页头部的标签</a:t>
            </a:r>
            <a:endParaRPr lang="en-US" altLang="zh-CN" dirty="0">
              <a:solidFill>
                <a:srgbClr val="000000"/>
              </a:solidFill>
            </a:endParaRPr>
          </a:p>
          <a:p>
            <a:pPr lvl="2" indent="-342900">
              <a:buSzPct val="80000"/>
            </a:pPr>
            <a:r>
              <a:rPr lang="zh-CN" altLang="en-US" dirty="0">
                <a:solidFill>
                  <a:srgbClr val="000000"/>
                </a:solidFill>
              </a:rPr>
              <a:t>写在</a:t>
            </a:r>
            <a:r>
              <a:rPr lang="en-US" altLang="zh-CN" dirty="0">
                <a:solidFill>
                  <a:srgbClr val="000000"/>
                </a:solidFill>
              </a:rPr>
              <a:t>&lt;head&gt; </a:t>
            </a:r>
            <a:r>
              <a:rPr lang="zh-CN" altLang="en-US" dirty="0">
                <a:solidFill>
                  <a:srgbClr val="000000"/>
                </a:solidFill>
              </a:rPr>
              <a:t>标题、样式、外部资源、元数据</a:t>
            </a:r>
            <a:r>
              <a:rPr lang="en-US" altLang="zh-CN" dirty="0">
                <a:solidFill>
                  <a:srgbClr val="000000"/>
                </a:solidFill>
              </a:rPr>
              <a:t> &lt;/head&gt;</a:t>
            </a:r>
            <a:endParaRPr lang="en-US" altLang="zh-CN" dirty="0">
              <a:solidFill>
                <a:srgbClr val="000000"/>
              </a:solidFill>
            </a:endParaRPr>
          </a:p>
          <a:p>
            <a:pPr marL="400050" lvl="1" indent="0">
              <a:buSzPct val="80000"/>
              <a:buFont typeface="Wingdings" panose="05000000000000000000" pitchFamily="2" charset="2"/>
              <a:buChar char="p"/>
            </a:pPr>
            <a:r>
              <a:rPr lang="zh-CN" altLang="en-US" dirty="0">
                <a:solidFill>
                  <a:srgbClr val="000000"/>
                </a:solidFill>
              </a:rPr>
              <a:t>定义网页网体内容的标签，该类标签中主要包含；</a:t>
            </a:r>
            <a:endParaRPr lang="en-US" altLang="zh-CN" dirty="0">
              <a:solidFill>
                <a:srgbClr val="000000"/>
              </a:solidFill>
            </a:endParaRPr>
          </a:p>
          <a:p>
            <a:pPr marL="400050" lvl="1" indent="0">
              <a:spcBef>
                <a:spcPct val="0"/>
              </a:spcBef>
              <a:buFont typeface="Arial" panose="020B0604020202020204" pitchFamily="34" charset="0"/>
              <a:buChar char="•"/>
            </a:pPr>
            <a:r>
              <a:rPr lang="en-US" altLang="zh-CN" sz="2400" dirty="0">
                <a:solidFill>
                  <a:srgbClr val="000000"/>
                </a:solidFill>
              </a:rPr>
              <a:t> </a:t>
            </a:r>
            <a:r>
              <a:rPr lang="zh-CN" altLang="en-US" sz="2400" dirty="0">
                <a:solidFill>
                  <a:srgbClr val="000000"/>
                </a:solidFill>
              </a:rPr>
              <a:t>文字、行、 段落、列表标签、表格、图形</a:t>
            </a:r>
            <a:endParaRPr lang="en-US" altLang="zh-CN" sz="2400" dirty="0">
              <a:solidFill>
                <a:srgbClr val="000000"/>
              </a:solidFill>
            </a:endParaRPr>
          </a:p>
          <a:p>
            <a:pPr marL="400050" lvl="1" indent="0">
              <a:spcBef>
                <a:spcPct val="0"/>
              </a:spcBef>
              <a:buFont typeface="Arial" panose="020B0604020202020204" pitchFamily="34" charset="0"/>
              <a:buChar char="•"/>
            </a:pPr>
            <a:r>
              <a:rPr lang="en-US" altLang="zh-CN" sz="2400" dirty="0">
                <a:solidFill>
                  <a:srgbClr val="000000"/>
                </a:solidFill>
              </a:rPr>
              <a:t> </a:t>
            </a:r>
            <a:r>
              <a:rPr lang="zh-CN" altLang="en-US" sz="2400" dirty="0">
                <a:solidFill>
                  <a:srgbClr val="000000"/>
                </a:solidFill>
              </a:rPr>
              <a:t>超链接、视频、音频</a:t>
            </a:r>
            <a:endParaRPr lang="en-US" altLang="zh-CN" sz="2400" dirty="0">
              <a:solidFill>
                <a:srgbClr val="000000"/>
              </a:solidFill>
            </a:endParaRPr>
          </a:p>
          <a:p>
            <a:pPr marL="400050" lvl="1" indent="0">
              <a:spcBef>
                <a:spcPct val="0"/>
              </a:spcBef>
              <a:buFont typeface="Arial" panose="020B0604020202020204" pitchFamily="34" charset="0"/>
              <a:buChar char="•"/>
            </a:pPr>
            <a:r>
              <a:rPr lang="en-US" altLang="zh-CN" sz="2400" dirty="0">
                <a:solidFill>
                  <a:srgbClr val="000000"/>
                </a:solidFill>
              </a:rPr>
              <a:t> </a:t>
            </a:r>
            <a:r>
              <a:rPr lang="zh-CN" altLang="en-US" sz="2400" dirty="0">
                <a:solidFill>
                  <a:srgbClr val="000000"/>
                </a:solidFill>
              </a:rPr>
              <a:t>表单</a:t>
            </a:r>
            <a:endParaRPr lang="en-US" altLang="zh-CN" sz="2400" dirty="0">
              <a:solidFill>
                <a:srgbClr val="000000"/>
              </a:solidFill>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文档结构和标签基本语法</a:t>
            </a:r>
            <a:endParaRPr lang="zh-CN" altLang="en-US" baseline="0" dirty="0">
              <a:latin typeface="Times New Roman" panose="02020603050405020304" pitchFamily="18" charset="0"/>
              <a:ea typeface="黑体" panose="02010609060101010101" pitchFamily="49" charset="-122"/>
              <a:cs typeface="+mj-cs"/>
            </a:endParaRPr>
          </a:p>
        </p:txBody>
      </p:sp>
      <p:sp>
        <p:nvSpPr>
          <p:cNvPr id="26626" name="内容占位符 2"/>
          <p:cNvSpPr>
            <a:spLocks noGrp="1"/>
          </p:cNvSpPr>
          <p:nvPr>
            <p:ph idx="1"/>
          </p:nvPr>
        </p:nvSpPr>
        <p:spPr>
          <a:xfrm>
            <a:off x="107950" y="1125538"/>
            <a:ext cx="8928100" cy="1582737"/>
          </a:xfrm>
        </p:spPr>
        <p:txBody>
          <a:bodyPr vert="horz" wrap="square" lIns="91440" tIns="45720" rIns="91440" bIns="45720" anchor="t" anchorCtr="0"/>
          <a:p>
            <a:pPr>
              <a:buFont typeface="Wingdings" panose="05000000000000000000" pitchFamily="2" charset="2"/>
              <a:buChar char="p"/>
            </a:pPr>
            <a:r>
              <a:rPr lang="zh-CN" altLang="en-US" sz="2800" b="1" dirty="0">
                <a:solidFill>
                  <a:srgbClr val="000000"/>
                </a:solidFill>
              </a:rPr>
              <a:t>定义网页结构的标签</a:t>
            </a:r>
            <a:endParaRPr lang="zh-CN" altLang="en-US" sz="2800" b="1" dirty="0">
              <a:solidFill>
                <a:srgbClr val="000000"/>
              </a:solidFill>
            </a:endParaRPr>
          </a:p>
          <a:p>
            <a:pPr>
              <a:buNone/>
            </a:pPr>
            <a:r>
              <a:rPr lang="en-US" altLang="zh-CN" sz="2800" dirty="0">
                <a:solidFill>
                  <a:srgbClr val="000000"/>
                </a:solidFill>
                <a:latin typeface="Times New Roman" panose="02020603050405020304" pitchFamily="18" charset="0"/>
              </a:rPr>
              <a:t>      &lt;html&gt;&lt;/html&gt;  &lt;head&gt;&lt;/head&gt; </a:t>
            </a:r>
            <a:endParaRPr lang="en-US" altLang="zh-CN" sz="2800" dirty="0">
              <a:solidFill>
                <a:srgbClr val="000000"/>
              </a:solidFill>
              <a:latin typeface="Times New Roman" panose="02020603050405020304" pitchFamily="18" charset="0"/>
            </a:endParaRPr>
          </a:p>
          <a:p>
            <a:pPr>
              <a:buNone/>
            </a:pPr>
            <a:r>
              <a:rPr lang="en-US" altLang="zh-CN" sz="2800" dirty="0">
                <a:solidFill>
                  <a:srgbClr val="000000"/>
                </a:solidFill>
                <a:latin typeface="Times New Roman" panose="02020603050405020304" pitchFamily="18" charset="0"/>
              </a:rPr>
              <a:t>      &lt;title&gt;&lt;/title&gt;    &lt;body&gt;&lt;/body&gt;</a:t>
            </a:r>
            <a:endParaRPr lang="en-US" altLang="zh-CN" sz="2800" dirty="0">
              <a:solidFill>
                <a:srgbClr val="000000"/>
              </a:solidFill>
              <a:latin typeface="Times New Roman" panose="02020603050405020304" pitchFamily="18" charset="0"/>
            </a:endParaRPr>
          </a:p>
          <a:p>
            <a:pPr>
              <a:buNone/>
            </a:pPr>
            <a:r>
              <a:rPr lang="zh-CN" altLang="en-US" sz="2800" dirty="0">
                <a:solidFill>
                  <a:srgbClr val="000000"/>
                </a:solidFill>
                <a:latin typeface="Times New Roman" panose="02020603050405020304" pitchFamily="18" charset="0"/>
              </a:rPr>
              <a:t>例如：</a:t>
            </a:r>
            <a:endParaRPr lang="en-US" altLang="zh-CN" sz="2800" dirty="0">
              <a:solidFill>
                <a:srgbClr val="000000"/>
              </a:solidFill>
              <a:latin typeface="Times New Roman" panose="02020603050405020304" pitchFamily="18" charset="0"/>
            </a:endParaRPr>
          </a:p>
          <a:p>
            <a:pPr>
              <a:buNone/>
            </a:pPr>
            <a:endParaRPr lang="en-US" altLang="zh-CN" sz="2800" b="1" dirty="0">
              <a:solidFill>
                <a:srgbClr val="000000"/>
              </a:solidFill>
            </a:endParaRPr>
          </a:p>
        </p:txBody>
      </p:sp>
      <p:pic>
        <p:nvPicPr>
          <p:cNvPr id="26627" name="Picture 2"/>
          <p:cNvPicPr>
            <a:picLocks noChangeAspect="1"/>
          </p:cNvPicPr>
          <p:nvPr/>
        </p:nvPicPr>
        <p:blipFill>
          <a:blip r:embed="rId1"/>
          <a:stretch>
            <a:fillRect/>
          </a:stretch>
        </p:blipFill>
        <p:spPr>
          <a:xfrm>
            <a:off x="611188" y="3573463"/>
            <a:ext cx="8139112" cy="3151187"/>
          </a:xfrm>
          <a:prstGeom prst="rect">
            <a:avLst/>
          </a:prstGeom>
          <a:noFill/>
          <a:ln w="9525">
            <a:noFill/>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xfrm>
            <a:off x="250825" y="80963"/>
            <a:ext cx="8569325" cy="777875"/>
          </a:xfrm>
        </p:spPr>
        <p:txBody>
          <a:bodyPr vert="horz" wrap="square" lIns="91440" tIns="45720" rIns="91440" bIns="45720" anchor="ctr" anchorCtr="0"/>
          <a:p>
            <a:pPr>
              <a:buNone/>
            </a:pPr>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文档结构和标签基本语法</a:t>
            </a:r>
            <a:endParaRPr lang="zh-CN" altLang="en-US" baseline="0" dirty="0">
              <a:latin typeface="Times New Roman" panose="02020603050405020304" pitchFamily="18" charset="0"/>
              <a:ea typeface="黑体" panose="02010609060101010101" pitchFamily="49" charset="-122"/>
              <a:cs typeface="+mj-cs"/>
            </a:endParaRPr>
          </a:p>
        </p:txBody>
      </p:sp>
      <p:sp>
        <p:nvSpPr>
          <p:cNvPr id="27650" name="内容占位符 2"/>
          <p:cNvSpPr>
            <a:spLocks noGrp="1"/>
          </p:cNvSpPr>
          <p:nvPr>
            <p:ph idx="1"/>
          </p:nvPr>
        </p:nvSpPr>
        <p:spPr>
          <a:xfrm>
            <a:off x="107950" y="1125538"/>
            <a:ext cx="8928100" cy="5543550"/>
          </a:xfrm>
        </p:spPr>
        <p:txBody>
          <a:bodyPr vert="horz" wrap="square" lIns="91440" tIns="45720" rIns="91440" bIns="45720" anchor="t" anchorCtr="0"/>
          <a:p>
            <a:pPr>
              <a:buFont typeface="Wingdings" panose="05000000000000000000" pitchFamily="2" charset="2"/>
              <a:buChar char="p"/>
            </a:pPr>
            <a:r>
              <a:rPr lang="zh-CN" altLang="en-US" sz="2800" b="1" dirty="0">
                <a:solidFill>
                  <a:srgbClr val="000000"/>
                </a:solidFill>
              </a:rPr>
              <a:t>头部标签</a:t>
            </a:r>
            <a:endParaRPr lang="en-US" altLang="zh-CN" sz="2800" b="1" dirty="0">
              <a:solidFill>
                <a:srgbClr val="000000"/>
              </a:solidFill>
            </a:endParaRPr>
          </a:p>
          <a:p>
            <a:pPr>
              <a:buNone/>
            </a:pPr>
            <a:r>
              <a:rPr lang="en-US" altLang="zh-CN" sz="2200" dirty="0">
                <a:latin typeface="Times New Roman" panose="02020603050405020304" pitchFamily="18" charset="0"/>
              </a:rPr>
              <a:t>&lt;!DOCTYPE html&gt;</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&lt;html&gt;</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&lt;head&gt;     </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	&lt;</a:t>
            </a:r>
            <a:r>
              <a:rPr lang="en-US" altLang="zh-CN" sz="2200" dirty="0">
                <a:solidFill>
                  <a:srgbClr val="FF0000"/>
                </a:solidFill>
                <a:latin typeface="Times New Roman" panose="02020603050405020304" pitchFamily="18" charset="0"/>
              </a:rPr>
              <a:t>meta</a:t>
            </a:r>
            <a:r>
              <a:rPr lang="en-US" altLang="zh-CN" sz="2200" dirty="0">
                <a:latin typeface="Times New Roman" panose="02020603050405020304" pitchFamily="18" charset="0"/>
              </a:rPr>
              <a:t> charset="utf-8"&gt; </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	</a:t>
            </a:r>
            <a:r>
              <a:rPr lang="en-US" altLang="zh-CN" sz="2200" dirty="0">
                <a:solidFill>
                  <a:srgbClr val="FF0000"/>
                </a:solidFill>
                <a:latin typeface="Times New Roman" panose="02020603050405020304" pitchFamily="18" charset="0"/>
              </a:rPr>
              <a:t>&lt;title&gt;</a:t>
            </a:r>
            <a:r>
              <a:rPr lang="zh-CN" altLang="en-US" sz="2200" dirty="0">
                <a:latin typeface="Times New Roman" panose="02020603050405020304" pitchFamily="18" charset="0"/>
              </a:rPr>
              <a:t>文档标题</a:t>
            </a:r>
            <a:r>
              <a:rPr lang="en-US" altLang="zh-CN" sz="2200" dirty="0">
                <a:latin typeface="Times New Roman" panose="02020603050405020304" pitchFamily="18" charset="0"/>
              </a:rPr>
              <a:t>&lt;/title&gt;</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	&lt;</a:t>
            </a:r>
            <a:r>
              <a:rPr lang="en-US" altLang="zh-CN" sz="2200" dirty="0">
                <a:solidFill>
                  <a:srgbClr val="FF0000"/>
                </a:solidFill>
                <a:latin typeface="Times New Roman" panose="02020603050405020304" pitchFamily="18" charset="0"/>
              </a:rPr>
              <a:t>base</a:t>
            </a:r>
            <a:r>
              <a:rPr lang="en-US" altLang="zh-CN" sz="2200" dirty="0">
                <a:latin typeface="Times New Roman" panose="02020603050405020304" pitchFamily="18" charset="0"/>
              </a:rPr>
              <a:t> href="http://www.runoob.com/images/" target="_blank"&gt;</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	&lt;</a:t>
            </a:r>
            <a:r>
              <a:rPr lang="en-US" altLang="zh-CN" sz="2200" dirty="0">
                <a:solidFill>
                  <a:srgbClr val="FF0000"/>
                </a:solidFill>
                <a:latin typeface="Times New Roman" panose="02020603050405020304" pitchFamily="18" charset="0"/>
              </a:rPr>
              <a:t>link</a:t>
            </a:r>
            <a:r>
              <a:rPr lang="en-US" altLang="zh-CN" sz="2200" dirty="0">
                <a:latin typeface="Times New Roman" panose="02020603050405020304" pitchFamily="18" charset="0"/>
              </a:rPr>
              <a:t> rel="stylesheet" type="text/css" href="mystyle.css"&gt;</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	&lt;</a:t>
            </a:r>
            <a:r>
              <a:rPr lang="en-US" altLang="zh-CN" sz="2200" dirty="0">
                <a:solidFill>
                  <a:srgbClr val="FF0000"/>
                </a:solidFill>
                <a:latin typeface="Times New Roman" panose="02020603050405020304" pitchFamily="18" charset="0"/>
              </a:rPr>
              <a:t>style</a:t>
            </a:r>
            <a:r>
              <a:rPr lang="en-US" altLang="zh-CN" sz="2200" dirty="0">
                <a:latin typeface="Times New Roman" panose="02020603050405020304" pitchFamily="18" charset="0"/>
              </a:rPr>
              <a:t> type="text/css"&gt;body {font-size:16px} p {color:blue} &lt;/style&gt;</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	</a:t>
            </a:r>
            <a:r>
              <a:rPr lang="en-US" altLang="zh-CN" sz="2200" dirty="0">
                <a:solidFill>
                  <a:srgbClr val="FF0000"/>
                </a:solidFill>
                <a:latin typeface="Times New Roman" panose="02020603050405020304" pitchFamily="18" charset="0"/>
              </a:rPr>
              <a:t>&lt;script&gt; </a:t>
            </a:r>
            <a:r>
              <a:rPr lang="en-US" altLang="zh-CN" sz="2200" dirty="0">
                <a:latin typeface="Times New Roman" panose="02020603050405020304" pitchFamily="18" charset="0"/>
              </a:rPr>
              <a:t>document.write("Hello World!") &lt;/script&gt;</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&lt;/head&gt; </a:t>
            </a:r>
            <a:endParaRPr lang="en-US" altLang="zh-CN" sz="2200" dirty="0">
              <a:latin typeface="Times New Roman" panose="02020603050405020304" pitchFamily="18" charset="0"/>
            </a:endParaRPr>
          </a:p>
          <a:p>
            <a:pPr>
              <a:buFont typeface="Wingdings" panose="05000000000000000000" pitchFamily="2" charset="2"/>
              <a:buChar char="p"/>
            </a:pPr>
            <a:r>
              <a:rPr lang="en-US" altLang="zh-CN" sz="2200" dirty="0">
                <a:latin typeface="Times New Roman" panose="02020603050405020304" pitchFamily="18" charset="0"/>
              </a:rPr>
              <a:t>&lt;body</a:t>
            </a:r>
            <a:r>
              <a:rPr lang="en-US" altLang="zh-CN" sz="2200" b="1" dirty="0">
                <a:latin typeface="Times New Roman" panose="02020603050405020304" pitchFamily="18" charset="0"/>
              </a:rPr>
              <a:t>&gt; </a:t>
            </a:r>
            <a:r>
              <a:rPr lang="zh-CN" altLang="en-US" sz="2200" b="1" dirty="0">
                <a:latin typeface="Times New Roman" panose="02020603050405020304" pitchFamily="18" charset="0"/>
              </a:rPr>
              <a:t>网页网体内容标签</a:t>
            </a:r>
            <a:r>
              <a:rPr lang="zh-CN" altLang="en-US" sz="2200" dirty="0">
                <a:latin typeface="Times New Roman" panose="02020603050405020304" pitchFamily="18" charset="0"/>
              </a:rPr>
              <a:t>（较多、后面详细讲）</a:t>
            </a:r>
            <a:r>
              <a:rPr lang="en-US" altLang="zh-CN" sz="2200" dirty="0">
                <a:latin typeface="Times New Roman" panose="02020603050405020304" pitchFamily="18" charset="0"/>
              </a:rPr>
              <a:t>...... &lt;/body&gt; </a:t>
            </a:r>
            <a:endParaRPr lang="en-US" altLang="zh-CN" sz="2200" dirty="0">
              <a:latin typeface="Times New Roman" panose="02020603050405020304" pitchFamily="18" charset="0"/>
            </a:endParaRPr>
          </a:p>
          <a:p>
            <a:pPr>
              <a:buNone/>
            </a:pPr>
            <a:r>
              <a:rPr lang="en-US" altLang="zh-CN" sz="2200" dirty="0">
                <a:latin typeface="Times New Roman" panose="02020603050405020304" pitchFamily="18" charset="0"/>
              </a:rPr>
              <a:t>&lt;/html&gt;</a:t>
            </a:r>
            <a:endParaRPr lang="zh-CN" altLang="en-US" sz="2200" dirty="0">
              <a:latin typeface="Times New Roman" panose="02020603050405020304" pitchFamily="18" charset="0"/>
              <a:ea typeface="Times New Roman" panose="02020603050405020304" pitchFamily="18" charset="0"/>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文档结构和基本语法</a:t>
            </a:r>
            <a:endParaRPr lang="zh-CN" altLang="en-US" baseline="0" dirty="0">
              <a:latin typeface="Times New Roman" panose="02020603050405020304" pitchFamily="18" charset="0"/>
              <a:ea typeface="黑体" panose="02010609060101010101" pitchFamily="49" charset="-122"/>
              <a:cs typeface="+mj-cs"/>
            </a:endParaRPr>
          </a:p>
        </p:txBody>
      </p:sp>
      <p:sp>
        <p:nvSpPr>
          <p:cNvPr id="24579" name="内容占位符 2"/>
          <p:cNvSpPr>
            <a:spLocks noGrp="1"/>
          </p:cNvSpPr>
          <p:nvPr>
            <p:ph idx="1"/>
          </p:nvPr>
        </p:nvSpPr>
        <p:spPr>
          <a:xfrm>
            <a:off x="107950" y="1125538"/>
            <a:ext cx="8928100" cy="5543550"/>
          </a:xfrm>
        </p:spPr>
        <p:txBody>
          <a:bodyPr vert="horz" wrap="square" lIns="91440" tIns="45720" rIns="91440" bIns="45720" anchor="t" anchorCtr="0"/>
          <a:p>
            <a:pPr marL="0" indent="0">
              <a:lnSpc>
                <a:spcPct val="130000"/>
              </a:lnSpc>
              <a:spcBef>
                <a:spcPct val="0"/>
              </a:spcBef>
              <a:buNone/>
            </a:pPr>
            <a:r>
              <a:rPr lang="zh-CN" altLang="en-US" sz="2800" dirty="0">
                <a:solidFill>
                  <a:srgbClr val="000000"/>
                </a:solidFill>
              </a:rPr>
              <a:t>标签太多了，怎么记？</a:t>
            </a:r>
            <a:endParaRPr lang="en-US" altLang="zh-CN" sz="2800" dirty="0">
              <a:solidFill>
                <a:srgbClr val="000000"/>
              </a:solidFill>
            </a:endParaRPr>
          </a:p>
          <a:p>
            <a:pPr marL="0" indent="0">
              <a:lnSpc>
                <a:spcPct val="130000"/>
              </a:lnSpc>
              <a:spcBef>
                <a:spcPct val="0"/>
              </a:spcBef>
              <a:buNone/>
            </a:pPr>
            <a:r>
              <a:rPr lang="zh-CN" altLang="en-US" sz="2800" dirty="0">
                <a:solidFill>
                  <a:srgbClr val="000000"/>
                </a:solidFill>
              </a:rPr>
              <a:t>标签的形式：有单标签和双标签。</a:t>
            </a:r>
            <a:endParaRPr lang="en-US" altLang="zh-CN" sz="2800" dirty="0">
              <a:solidFill>
                <a:srgbClr val="000000"/>
              </a:solidFill>
            </a:endParaRPr>
          </a:p>
          <a:p>
            <a:pPr marL="0" indent="0">
              <a:buNone/>
            </a:pPr>
            <a:endParaRPr lang="en-US" altLang="zh-CN" sz="2800" dirty="0">
              <a:solidFill>
                <a:srgbClr val="000000"/>
              </a:solidFill>
            </a:endParaRPr>
          </a:p>
          <a:p>
            <a:pPr marL="0" indent="0">
              <a:buNone/>
            </a:pPr>
            <a:r>
              <a:rPr lang="zh-CN" altLang="en-US" sz="2800" dirty="0">
                <a:solidFill>
                  <a:srgbClr val="0000FF"/>
                </a:solidFill>
              </a:rPr>
              <a:t>单标签：</a:t>
            </a:r>
            <a:r>
              <a:rPr lang="en-US" altLang="zh-CN" sz="2800" dirty="0">
                <a:solidFill>
                  <a:srgbClr val="0000FF"/>
                </a:solidFill>
              </a:rPr>
              <a:t>&lt;</a:t>
            </a:r>
            <a:r>
              <a:rPr lang="zh-CN" altLang="en-US" sz="2800" dirty="0">
                <a:solidFill>
                  <a:srgbClr val="0000FF"/>
                </a:solidFill>
              </a:rPr>
              <a:t>标签名称</a:t>
            </a:r>
            <a:r>
              <a:rPr lang="en-US" altLang="zh-CN" sz="2800" dirty="0">
                <a:solidFill>
                  <a:srgbClr val="0000FF"/>
                </a:solidFill>
              </a:rPr>
              <a:t>/&gt;</a:t>
            </a:r>
            <a:endParaRPr lang="en-US" altLang="zh-CN" sz="2800" dirty="0">
              <a:solidFill>
                <a:srgbClr val="0000FF"/>
              </a:solidFill>
            </a:endParaRPr>
          </a:p>
          <a:p>
            <a:pPr marL="0" indent="0">
              <a:buNone/>
            </a:pPr>
            <a:r>
              <a:rPr lang="en-US" altLang="zh-CN" sz="2800" dirty="0">
                <a:solidFill>
                  <a:srgbClr val="000000"/>
                </a:solidFill>
              </a:rPr>
              <a:t>          </a:t>
            </a:r>
            <a:r>
              <a:rPr lang="zh-CN" altLang="en-US" sz="2800" dirty="0">
                <a:solidFill>
                  <a:srgbClr val="000000"/>
                </a:solidFill>
              </a:rPr>
              <a:t>例如，换行标签：</a:t>
            </a:r>
            <a:r>
              <a:rPr lang="en-US" altLang="zh-CN" sz="2800" dirty="0">
                <a:solidFill>
                  <a:srgbClr val="FF0000"/>
                </a:solidFill>
              </a:rPr>
              <a:t>&lt;br/&gt;</a:t>
            </a:r>
            <a:endParaRPr lang="en-US" altLang="zh-CN" sz="2800" dirty="0">
              <a:solidFill>
                <a:srgbClr val="FF0000"/>
              </a:solidFill>
            </a:endParaRPr>
          </a:p>
          <a:p>
            <a:pPr marL="0" indent="0">
              <a:buNone/>
            </a:pPr>
            <a:endParaRPr lang="en-US" altLang="zh-CN" sz="2800" dirty="0">
              <a:solidFill>
                <a:srgbClr val="000000"/>
              </a:solidFill>
            </a:endParaRPr>
          </a:p>
          <a:p>
            <a:pPr marL="0" indent="0">
              <a:buNone/>
            </a:pPr>
            <a:r>
              <a:rPr lang="zh-CN" altLang="en-US" sz="2800" dirty="0">
                <a:solidFill>
                  <a:srgbClr val="0000FF"/>
                </a:solidFill>
              </a:rPr>
              <a:t>双标签：</a:t>
            </a:r>
            <a:r>
              <a:rPr lang="en-US" altLang="zh-CN" sz="2800" dirty="0">
                <a:solidFill>
                  <a:srgbClr val="0000FF"/>
                </a:solidFill>
              </a:rPr>
              <a:t>&lt;</a:t>
            </a:r>
            <a:r>
              <a:rPr lang="zh-CN" altLang="en-US" sz="2800" dirty="0">
                <a:solidFill>
                  <a:srgbClr val="0000FF"/>
                </a:solidFill>
              </a:rPr>
              <a:t>标签名称</a:t>
            </a:r>
            <a:r>
              <a:rPr lang="en-US" altLang="zh-CN" sz="2800" dirty="0">
                <a:solidFill>
                  <a:srgbClr val="0000FF"/>
                </a:solidFill>
              </a:rPr>
              <a:t>&gt;</a:t>
            </a:r>
            <a:r>
              <a:rPr lang="zh-CN" altLang="en-US" sz="2800" dirty="0">
                <a:solidFill>
                  <a:srgbClr val="0000FF"/>
                </a:solidFill>
              </a:rPr>
              <a:t>内容</a:t>
            </a:r>
            <a:r>
              <a:rPr lang="en-US" altLang="zh-CN" sz="2800" dirty="0">
                <a:solidFill>
                  <a:srgbClr val="0000FF"/>
                </a:solidFill>
              </a:rPr>
              <a:t>&lt;/</a:t>
            </a:r>
            <a:r>
              <a:rPr lang="zh-CN" altLang="en-US" sz="2800" dirty="0">
                <a:solidFill>
                  <a:srgbClr val="0000FF"/>
                </a:solidFill>
              </a:rPr>
              <a:t>标签名称</a:t>
            </a:r>
            <a:r>
              <a:rPr lang="en-US" altLang="zh-CN" sz="2800" dirty="0">
                <a:solidFill>
                  <a:srgbClr val="0000FF"/>
                </a:solidFill>
              </a:rPr>
              <a:t>&gt;</a:t>
            </a:r>
            <a:endParaRPr lang="en-US" altLang="zh-CN" sz="2800" dirty="0">
              <a:solidFill>
                <a:srgbClr val="0000FF"/>
              </a:solidFill>
            </a:endParaRPr>
          </a:p>
          <a:p>
            <a:pPr marL="0" indent="0">
              <a:buNone/>
            </a:pPr>
            <a:r>
              <a:rPr lang="en-US" altLang="zh-CN" sz="2800" dirty="0">
                <a:solidFill>
                  <a:srgbClr val="000000"/>
                </a:solidFill>
              </a:rPr>
              <a:t>           </a:t>
            </a:r>
            <a:r>
              <a:rPr lang="zh-CN" altLang="en-US" sz="2800" dirty="0">
                <a:solidFill>
                  <a:srgbClr val="000000"/>
                </a:solidFill>
              </a:rPr>
              <a:t>例如，标题标签：</a:t>
            </a:r>
            <a:endParaRPr lang="en-US" altLang="zh-CN" sz="2800" dirty="0">
              <a:solidFill>
                <a:srgbClr val="000000"/>
              </a:solidFill>
            </a:endParaRPr>
          </a:p>
          <a:p>
            <a:pPr marL="0" indent="0">
              <a:buNone/>
            </a:pPr>
            <a:r>
              <a:rPr lang="en-US" altLang="zh-CN" sz="2800" dirty="0">
                <a:solidFill>
                  <a:srgbClr val="000000"/>
                </a:solidFill>
              </a:rPr>
              <a:t>                          </a:t>
            </a:r>
            <a:r>
              <a:rPr lang="en-US" altLang="zh-CN" sz="2800" dirty="0">
                <a:solidFill>
                  <a:srgbClr val="FF0000"/>
                </a:solidFill>
              </a:rPr>
              <a:t>&lt;h1&gt;</a:t>
            </a:r>
            <a:r>
              <a:rPr lang="zh-CN" altLang="en-US" sz="2800" dirty="0">
                <a:solidFill>
                  <a:srgbClr val="000000"/>
                </a:solidFill>
              </a:rPr>
              <a:t>内容</a:t>
            </a:r>
            <a:r>
              <a:rPr lang="en-US" altLang="zh-CN" sz="2800" dirty="0">
                <a:solidFill>
                  <a:srgbClr val="FF0000"/>
                </a:solidFill>
              </a:rPr>
              <a:t>&lt;/h1&gt;</a:t>
            </a:r>
            <a:endParaRPr lang="zh-CN" altLang="en-US" sz="2800"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charRg st="11" end="27"/>
                                            </p:txEl>
                                          </p:spTgt>
                                        </p:tgtEl>
                                        <p:attrNameLst>
                                          <p:attrName>style.visibility</p:attrName>
                                        </p:attrNameLst>
                                      </p:cBhvr>
                                      <p:to>
                                        <p:strVal val="visible"/>
                                      </p:to>
                                    </p:set>
                                    <p:anim calcmode="lin" valueType="num">
                                      <p:cBhvr additive="base">
                                        <p:cTn id="7" dur="500" fill="hold"/>
                                        <p:tgtEl>
                                          <p:spTgt spid="24579">
                                            <p:txEl>
                                              <p:charRg st="11" end="2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charRg st="11" end="2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579">
                                            <p:txEl>
                                              <p:charRg st="28" end="40"/>
                                            </p:txEl>
                                          </p:spTgt>
                                        </p:tgtEl>
                                        <p:attrNameLst>
                                          <p:attrName>style.visibility</p:attrName>
                                        </p:attrNameLst>
                                      </p:cBhvr>
                                      <p:to>
                                        <p:strVal val="visible"/>
                                      </p:to>
                                    </p:set>
                                    <p:anim calcmode="lin" valueType="num">
                                      <p:cBhvr additive="base">
                                        <p:cTn id="11" dur="500" fill="hold"/>
                                        <p:tgtEl>
                                          <p:spTgt spid="24579">
                                            <p:txEl>
                                              <p:charRg st="28" end="4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579">
                                            <p:txEl>
                                              <p:charRg st="28" end="4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579">
                                            <p:txEl>
                                              <p:charRg st="40" end="64"/>
                                            </p:txEl>
                                          </p:spTgt>
                                        </p:tgtEl>
                                        <p:attrNameLst>
                                          <p:attrName>style.visibility</p:attrName>
                                        </p:attrNameLst>
                                      </p:cBhvr>
                                      <p:to>
                                        <p:strVal val="visible"/>
                                      </p:to>
                                    </p:set>
                                    <p:anim calcmode="lin" valueType="num">
                                      <p:cBhvr additive="base">
                                        <p:cTn id="15" dur="500" fill="hold"/>
                                        <p:tgtEl>
                                          <p:spTgt spid="24579">
                                            <p:txEl>
                                              <p:charRg st="40" end="6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579">
                                            <p:txEl>
                                              <p:charRg st="40" end="6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4579">
                                            <p:txEl>
                                              <p:charRg st="65" end="85"/>
                                            </p:txEl>
                                          </p:spTgt>
                                        </p:tgtEl>
                                        <p:attrNameLst>
                                          <p:attrName>style.visibility</p:attrName>
                                        </p:attrNameLst>
                                      </p:cBhvr>
                                      <p:to>
                                        <p:strVal val="visible"/>
                                      </p:to>
                                    </p:set>
                                    <p:anim calcmode="lin" valueType="num">
                                      <p:cBhvr additive="base">
                                        <p:cTn id="19" dur="500" fill="hold"/>
                                        <p:tgtEl>
                                          <p:spTgt spid="24579">
                                            <p:txEl>
                                              <p:charRg st="65" end="8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charRg st="65" end="8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4579">
                                            <p:txEl>
                                              <p:charRg st="85" end="105"/>
                                            </p:txEl>
                                          </p:spTgt>
                                        </p:tgtEl>
                                        <p:attrNameLst>
                                          <p:attrName>style.visibility</p:attrName>
                                        </p:attrNameLst>
                                      </p:cBhvr>
                                      <p:to>
                                        <p:strVal val="visible"/>
                                      </p:to>
                                    </p:set>
                                    <p:anim calcmode="lin" valueType="num">
                                      <p:cBhvr additive="base">
                                        <p:cTn id="23" dur="500" fill="hold"/>
                                        <p:tgtEl>
                                          <p:spTgt spid="24579">
                                            <p:txEl>
                                              <p:charRg st="85" end="10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579">
                                            <p:txEl>
                                              <p:charRg st="85" end="10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4579">
                                            <p:txEl>
                                              <p:charRg st="105" end="143"/>
                                            </p:txEl>
                                          </p:spTgt>
                                        </p:tgtEl>
                                        <p:attrNameLst>
                                          <p:attrName>style.visibility</p:attrName>
                                        </p:attrNameLst>
                                      </p:cBhvr>
                                      <p:to>
                                        <p:strVal val="visible"/>
                                      </p:to>
                                    </p:set>
                                    <p:anim calcmode="lin" valueType="num">
                                      <p:cBhvr additive="base">
                                        <p:cTn id="27" dur="500" fill="hold"/>
                                        <p:tgtEl>
                                          <p:spTgt spid="24579">
                                            <p:txEl>
                                              <p:charRg st="105" end="14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579">
                                            <p:txEl>
                                              <p:charRg st="105" end="14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内容占位符 2"/>
          <p:cNvSpPr>
            <a:spLocks noGrp="1"/>
          </p:cNvSpPr>
          <p:nvPr>
            <p:ph idx="1"/>
          </p:nvPr>
        </p:nvSpPr>
        <p:spPr>
          <a:xfrm>
            <a:off x="107950" y="1125538"/>
            <a:ext cx="8928100" cy="5543550"/>
          </a:xfrm>
        </p:spPr>
        <p:txBody>
          <a:bodyPr vert="horz" wrap="square" lIns="91440" tIns="45720" rIns="91440" bIns="45720" anchor="t" anchorCtr="0"/>
          <a:p>
            <a:pPr marL="0" indent="0">
              <a:lnSpc>
                <a:spcPct val="130000"/>
              </a:lnSpc>
              <a:spcBef>
                <a:spcPct val="0"/>
              </a:spcBef>
              <a:buNone/>
            </a:pPr>
            <a:r>
              <a:rPr lang="en-US" altLang="zh-CN" sz="2800" b="1" dirty="0">
                <a:solidFill>
                  <a:srgbClr val="000000"/>
                </a:solidFill>
              </a:rPr>
              <a:t>3. </a:t>
            </a:r>
            <a:r>
              <a:rPr lang="zh-CN" altLang="en-US" sz="2800" b="1" dirty="0">
                <a:solidFill>
                  <a:srgbClr val="000000"/>
                </a:solidFill>
              </a:rPr>
              <a:t>标签的属性</a:t>
            </a:r>
            <a:endParaRPr lang="en-US" altLang="zh-CN" sz="2800" b="1" dirty="0">
              <a:solidFill>
                <a:srgbClr val="000000"/>
              </a:solidFill>
            </a:endParaRPr>
          </a:p>
          <a:p>
            <a:pPr marL="0" indent="0">
              <a:buNone/>
            </a:pPr>
            <a:r>
              <a:rPr lang="zh-CN" altLang="en-US" sz="2400" dirty="0">
                <a:solidFill>
                  <a:srgbClr val="000000"/>
                </a:solidFill>
              </a:rPr>
              <a:t>语法：</a:t>
            </a:r>
            <a:endParaRPr lang="zh-CN" altLang="en-US" sz="2400" dirty="0">
              <a:solidFill>
                <a:srgbClr val="000000"/>
              </a:solidFill>
            </a:endParaRPr>
          </a:p>
          <a:p>
            <a:pPr marL="0" indent="0">
              <a:buNone/>
            </a:pPr>
            <a:r>
              <a:rPr lang="en-US" altLang="zh-CN" sz="2400" dirty="0">
                <a:solidFill>
                  <a:srgbClr val="000000"/>
                </a:solidFill>
              </a:rPr>
              <a:t>       &lt;</a:t>
            </a:r>
            <a:r>
              <a:rPr lang="zh-CN" altLang="en-US" sz="2400" dirty="0">
                <a:solidFill>
                  <a:srgbClr val="000000"/>
                </a:solidFill>
              </a:rPr>
              <a:t>标签名称 属性名</a:t>
            </a:r>
            <a:r>
              <a:rPr lang="en-US" altLang="zh-CN" sz="2400" dirty="0">
                <a:solidFill>
                  <a:srgbClr val="000000"/>
                </a:solidFill>
              </a:rPr>
              <a:t>1="</a:t>
            </a:r>
            <a:r>
              <a:rPr lang="zh-CN" altLang="en-US" sz="2400" dirty="0">
                <a:solidFill>
                  <a:srgbClr val="000000"/>
                </a:solidFill>
              </a:rPr>
              <a:t>属性值</a:t>
            </a:r>
            <a:r>
              <a:rPr lang="en-US" altLang="zh-CN" sz="2400" dirty="0">
                <a:solidFill>
                  <a:srgbClr val="000000"/>
                </a:solidFill>
              </a:rPr>
              <a:t>"  </a:t>
            </a:r>
            <a:r>
              <a:rPr lang="zh-CN" altLang="en-US" sz="2400" dirty="0">
                <a:solidFill>
                  <a:srgbClr val="000000"/>
                </a:solidFill>
              </a:rPr>
              <a:t>属性名</a:t>
            </a:r>
            <a:r>
              <a:rPr lang="en-US" altLang="zh-CN" sz="2400" dirty="0">
                <a:solidFill>
                  <a:srgbClr val="000000"/>
                </a:solidFill>
              </a:rPr>
              <a:t>2="</a:t>
            </a:r>
            <a:r>
              <a:rPr lang="zh-CN" altLang="en-US" sz="2400" dirty="0">
                <a:solidFill>
                  <a:srgbClr val="000000"/>
                </a:solidFill>
              </a:rPr>
              <a:t>属性值</a:t>
            </a:r>
            <a:r>
              <a:rPr lang="en-US" altLang="zh-CN" sz="2400" dirty="0">
                <a:solidFill>
                  <a:srgbClr val="000000"/>
                </a:solidFill>
              </a:rPr>
              <a:t>" …..  &gt;</a:t>
            </a:r>
            <a:endParaRPr lang="en-US" altLang="zh-CN" sz="2400" dirty="0">
              <a:solidFill>
                <a:srgbClr val="000000"/>
              </a:solidFill>
            </a:endParaRPr>
          </a:p>
          <a:p>
            <a:pPr marL="0" indent="0">
              <a:buNone/>
            </a:pPr>
            <a:r>
              <a:rPr lang="zh-CN" altLang="en-US" sz="2400" dirty="0">
                <a:solidFill>
                  <a:srgbClr val="000000"/>
                </a:solidFill>
              </a:rPr>
              <a:t>语法说明：</a:t>
            </a:r>
            <a:endParaRPr lang="en-US" altLang="zh-CN" sz="2400" dirty="0">
              <a:solidFill>
                <a:srgbClr val="000000"/>
              </a:solidFill>
            </a:endParaRPr>
          </a:p>
          <a:p>
            <a:pPr marL="0" indent="0">
              <a:buNone/>
            </a:pPr>
            <a:r>
              <a:rPr lang="en-US" altLang="zh-CN" sz="2400" dirty="0">
                <a:solidFill>
                  <a:srgbClr val="FF0000"/>
                </a:solidFill>
              </a:rPr>
              <a:t>     </a:t>
            </a:r>
            <a:r>
              <a:rPr lang="zh-CN" altLang="en-US" sz="2400" dirty="0">
                <a:solidFill>
                  <a:srgbClr val="FF0000"/>
                </a:solidFill>
              </a:rPr>
              <a:t>属性应写在首标签内，并且和标签名之间有一个空格分隔。</a:t>
            </a:r>
            <a:endParaRPr lang="zh-CN" altLang="en-US" sz="2400" dirty="0">
              <a:solidFill>
                <a:srgbClr val="FF0000"/>
              </a:solidFill>
            </a:endParaRPr>
          </a:p>
          <a:p>
            <a:pPr marL="0" indent="0">
              <a:buNone/>
            </a:pPr>
            <a:r>
              <a:rPr lang="zh-CN" altLang="en-US" sz="2400" dirty="0">
                <a:solidFill>
                  <a:srgbClr val="0000FF"/>
                </a:solidFill>
              </a:rPr>
              <a:t>例如：</a:t>
            </a:r>
            <a:endParaRPr lang="en-US" altLang="zh-CN" sz="2400" dirty="0">
              <a:solidFill>
                <a:srgbClr val="0000FF"/>
              </a:solidFill>
            </a:endParaRPr>
          </a:p>
          <a:p>
            <a:pPr marL="0" indent="0">
              <a:buNone/>
            </a:pPr>
            <a:r>
              <a:rPr lang="zh-CN" altLang="en-US" sz="2400" dirty="0">
                <a:solidFill>
                  <a:srgbClr val="000000"/>
                </a:solidFill>
              </a:rPr>
              <a:t>     标签</a:t>
            </a:r>
            <a:r>
              <a:rPr lang="en-US" altLang="zh-CN" sz="2400" dirty="0">
                <a:solidFill>
                  <a:srgbClr val="000000"/>
                </a:solidFill>
              </a:rPr>
              <a:t>&lt;hr&gt;</a:t>
            </a:r>
            <a:r>
              <a:rPr lang="zh-CN" altLang="en-US" sz="2400" dirty="0">
                <a:solidFill>
                  <a:srgbClr val="000000"/>
                </a:solidFill>
              </a:rPr>
              <a:t>的作用是在网页中插入一条水平线，但是，要绘制什么类型（线的粗细、颜色等）的直线呢？对直线的粗细、颜色的限制，就需要标签的属性。</a:t>
            </a:r>
            <a:endParaRPr lang="zh-CN" altLang="en-US" sz="2400" dirty="0">
              <a:solidFill>
                <a:srgbClr val="000000"/>
              </a:solidFill>
            </a:endParaRPr>
          </a:p>
          <a:p>
            <a:pPr marL="0" indent="0">
              <a:buNone/>
            </a:pPr>
            <a:r>
              <a:rPr lang="en-US" altLang="zh-CN" sz="2400" dirty="0">
                <a:solidFill>
                  <a:srgbClr val="000000"/>
                </a:solidFill>
              </a:rPr>
              <a:t>  </a:t>
            </a:r>
            <a:r>
              <a:rPr lang="en-US" altLang="zh-CN" sz="2400" b="1" dirty="0">
                <a:solidFill>
                  <a:srgbClr val="FF0000"/>
                </a:solidFill>
              </a:rPr>
              <a:t>&lt;hr size="5px" align="center" color="blue" width="80%"&gt; </a:t>
            </a:r>
            <a:endParaRPr lang="en-US" altLang="zh-CN" sz="2400" b="1" dirty="0">
              <a:solidFill>
                <a:srgbClr val="FF0000"/>
              </a:solidFill>
            </a:endParaRPr>
          </a:p>
          <a:p>
            <a:pPr marL="0" indent="0">
              <a:buNone/>
            </a:pPr>
            <a:r>
              <a:rPr lang="zh-CN" altLang="en-US" sz="2400" dirty="0">
                <a:solidFill>
                  <a:srgbClr val="000000"/>
                </a:solidFill>
              </a:rPr>
              <a:t>   其中：</a:t>
            </a:r>
            <a:r>
              <a:rPr lang="en-US" altLang="zh-CN" sz="2400" dirty="0">
                <a:solidFill>
                  <a:srgbClr val="000000"/>
                </a:solidFill>
              </a:rPr>
              <a:t>align</a:t>
            </a:r>
            <a:r>
              <a:rPr lang="zh-CN" altLang="en-US" sz="2400" dirty="0">
                <a:solidFill>
                  <a:srgbClr val="000000"/>
                </a:solidFill>
              </a:rPr>
              <a:t>为属性，</a:t>
            </a:r>
            <a:r>
              <a:rPr lang="en-US" altLang="zh-CN" sz="2400" dirty="0">
                <a:solidFill>
                  <a:srgbClr val="000000"/>
                </a:solidFill>
              </a:rPr>
              <a:t>center</a:t>
            </a:r>
            <a:r>
              <a:rPr lang="zh-CN" altLang="en-US" sz="2400" dirty="0">
                <a:solidFill>
                  <a:srgbClr val="000000"/>
                </a:solidFill>
              </a:rPr>
              <a:t>为属性值（表示居中）；</a:t>
            </a:r>
            <a:r>
              <a:rPr lang="en-US" altLang="zh-CN" sz="2400" dirty="0">
                <a:solidFill>
                  <a:srgbClr val="000000"/>
                </a:solidFill>
              </a:rPr>
              <a:t>color</a:t>
            </a:r>
            <a:r>
              <a:rPr lang="zh-CN" altLang="en-US" sz="2400" dirty="0">
                <a:solidFill>
                  <a:srgbClr val="000000"/>
                </a:solidFill>
              </a:rPr>
              <a:t>为颜</a:t>
            </a:r>
            <a:r>
              <a:rPr lang="en-US" altLang="zh-CN" sz="2400" dirty="0">
                <a:solidFill>
                  <a:srgbClr val="000000"/>
                </a:solidFill>
              </a:rPr>
              <a:t>	</a:t>
            </a:r>
            <a:r>
              <a:rPr lang="zh-CN" altLang="en-US" sz="2400" dirty="0">
                <a:solidFill>
                  <a:srgbClr val="000000"/>
                </a:solidFill>
              </a:rPr>
              <a:t>色属性，其属性值为</a:t>
            </a:r>
            <a:r>
              <a:rPr lang="en-US" altLang="zh-CN" sz="2400" dirty="0">
                <a:solidFill>
                  <a:srgbClr val="000000"/>
                </a:solidFill>
              </a:rPr>
              <a:t>blue</a:t>
            </a:r>
            <a:r>
              <a:rPr lang="zh-CN" altLang="en-US" sz="2400" dirty="0">
                <a:solidFill>
                  <a:srgbClr val="000000"/>
                </a:solidFill>
              </a:rPr>
              <a:t>（蓝色）；</a:t>
            </a:r>
            <a:r>
              <a:rPr lang="en-US" altLang="zh-CN" sz="2400" dirty="0">
                <a:solidFill>
                  <a:srgbClr val="000000"/>
                </a:solidFill>
              </a:rPr>
              <a:t>size</a:t>
            </a:r>
            <a:r>
              <a:rPr lang="zh-CN" altLang="en-US" sz="2400" dirty="0">
                <a:solidFill>
                  <a:srgbClr val="000000"/>
                </a:solidFill>
              </a:rPr>
              <a:t>为字体大小属性，</a:t>
            </a:r>
            <a:r>
              <a:rPr lang="en-US" altLang="zh-CN" sz="2400" dirty="0">
                <a:solidFill>
                  <a:srgbClr val="000000"/>
                </a:solidFill>
              </a:rPr>
              <a:t>	</a:t>
            </a:r>
            <a:r>
              <a:rPr lang="zh-CN" altLang="en-US" sz="2400" dirty="0">
                <a:solidFill>
                  <a:srgbClr val="000000"/>
                </a:solidFill>
              </a:rPr>
              <a:t>其属性值为</a:t>
            </a:r>
            <a:r>
              <a:rPr lang="en-US" altLang="zh-CN" sz="2400" dirty="0">
                <a:solidFill>
                  <a:srgbClr val="000000"/>
                </a:solidFill>
              </a:rPr>
              <a:t>5px</a:t>
            </a:r>
            <a:r>
              <a:rPr lang="zh-CN" altLang="en-US" sz="2400" dirty="0">
                <a:solidFill>
                  <a:srgbClr val="000000"/>
                </a:solidFill>
              </a:rPr>
              <a:t>；</a:t>
            </a:r>
            <a:r>
              <a:rPr lang="en-US" altLang="zh-CN" sz="2400" dirty="0">
                <a:solidFill>
                  <a:srgbClr val="000000"/>
                </a:solidFill>
              </a:rPr>
              <a:t>width</a:t>
            </a:r>
            <a:r>
              <a:rPr lang="zh-CN" altLang="en-US" sz="2400" dirty="0">
                <a:solidFill>
                  <a:srgbClr val="000000"/>
                </a:solidFill>
              </a:rPr>
              <a:t>为宽度，占页面的</a:t>
            </a:r>
            <a:r>
              <a:rPr lang="en-US" altLang="zh-CN" sz="2400" dirty="0">
                <a:solidFill>
                  <a:srgbClr val="000000"/>
                </a:solidFill>
              </a:rPr>
              <a:t>80%</a:t>
            </a:r>
            <a:r>
              <a:rPr lang="zh-CN" altLang="en-US" sz="2400" dirty="0">
                <a:solidFill>
                  <a:srgbClr val="000000"/>
                </a:solidFill>
              </a:rPr>
              <a:t>。</a:t>
            </a:r>
            <a:endParaRPr lang="zh-CN" altLang="en-US" sz="2400" dirty="0">
              <a:solidFill>
                <a:srgbClr val="000000"/>
              </a:solidFill>
            </a:endParaRPr>
          </a:p>
        </p:txBody>
      </p:sp>
      <p:sp>
        <p:nvSpPr>
          <p:cNvPr id="29698" name="标题 4"/>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文档结构和基本语法</a:t>
            </a:r>
            <a:endParaRPr lang="zh-CN" altLang="en-US" baseline="0" dirty="0">
              <a:latin typeface="Times New Roman" panose="02020603050405020304" pitchFamily="18" charset="0"/>
              <a:ea typeface="黑体" panose="02010609060101010101" pitchFamily="49" charset="-122"/>
              <a:cs typeface="+mj-cs"/>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2.1.1  HTML</a:t>
            </a:r>
            <a:r>
              <a:rPr lang="zh-CN" altLang="en-US" baseline="0" dirty="0">
                <a:latin typeface="Times New Roman" panose="02020603050405020304" pitchFamily="18" charset="0"/>
                <a:ea typeface="黑体" panose="02010609060101010101" pitchFamily="49" charset="-122"/>
                <a:cs typeface="+mj-cs"/>
              </a:rPr>
              <a:t>文档结构和基本语法</a:t>
            </a:r>
            <a:endParaRPr lang="zh-CN" altLang="en-US" baseline="0" dirty="0">
              <a:latin typeface="Times New Roman" panose="02020603050405020304" pitchFamily="18" charset="0"/>
              <a:ea typeface="黑体" panose="02010609060101010101" pitchFamily="49" charset="-122"/>
              <a:cs typeface="+mj-cs"/>
            </a:endParaRPr>
          </a:p>
        </p:txBody>
      </p:sp>
      <p:sp>
        <p:nvSpPr>
          <p:cNvPr id="30722" name="内容占位符 2"/>
          <p:cNvSpPr>
            <a:spLocks noGrp="1"/>
          </p:cNvSpPr>
          <p:nvPr>
            <p:ph idx="1"/>
          </p:nvPr>
        </p:nvSpPr>
        <p:spPr>
          <a:xfrm>
            <a:off x="107950" y="1125538"/>
            <a:ext cx="8928100" cy="5543550"/>
          </a:xfrm>
        </p:spPr>
        <p:txBody>
          <a:bodyPr vert="horz" wrap="square" lIns="91440" tIns="45720" rIns="91440" bIns="45720" anchor="t" anchorCtr="0"/>
          <a:p>
            <a:pPr marL="0" indent="0">
              <a:lnSpc>
                <a:spcPct val="130000"/>
              </a:lnSpc>
              <a:spcBef>
                <a:spcPct val="0"/>
              </a:spcBef>
              <a:buNone/>
            </a:pPr>
            <a:r>
              <a:rPr lang="en-US" altLang="zh-CN" sz="2800" b="1" dirty="0">
                <a:solidFill>
                  <a:srgbClr val="000000"/>
                </a:solidFill>
              </a:rPr>
              <a:t>4.</a:t>
            </a:r>
            <a:r>
              <a:rPr lang="zh-CN" altLang="en-US" sz="2800" b="1" dirty="0">
                <a:solidFill>
                  <a:srgbClr val="000000"/>
                </a:solidFill>
              </a:rPr>
              <a:t> 标签的注释</a:t>
            </a:r>
            <a:endParaRPr lang="zh-CN" altLang="en-US" sz="2800" b="1" dirty="0">
              <a:solidFill>
                <a:srgbClr val="000000"/>
              </a:solidFill>
            </a:endParaRPr>
          </a:p>
          <a:p>
            <a:pPr marL="0" indent="0">
              <a:buNone/>
            </a:pPr>
            <a:r>
              <a:rPr lang="zh-CN" altLang="en-US" sz="2800" dirty="0">
                <a:solidFill>
                  <a:srgbClr val="000000"/>
                </a:solidFill>
              </a:rPr>
              <a:t>注释标签用于在</a:t>
            </a:r>
            <a:r>
              <a:rPr lang="en-US" altLang="zh-CN" sz="2800" dirty="0">
                <a:solidFill>
                  <a:srgbClr val="000000"/>
                </a:solidFill>
              </a:rPr>
              <a:t>HTML</a:t>
            </a:r>
            <a:r>
              <a:rPr lang="zh-CN" altLang="en-US" sz="2800" dirty="0">
                <a:solidFill>
                  <a:srgbClr val="000000"/>
                </a:solidFill>
              </a:rPr>
              <a:t>源码中插入注释。注释会被浏览器忽略。</a:t>
            </a:r>
            <a:endParaRPr lang="en-US" altLang="zh-CN" sz="2800" dirty="0">
              <a:solidFill>
                <a:srgbClr val="000000"/>
              </a:solidFill>
            </a:endParaRPr>
          </a:p>
          <a:p>
            <a:pPr marL="0" indent="0">
              <a:buNone/>
            </a:pPr>
            <a:endParaRPr lang="zh-CN" altLang="en-US" sz="2800" dirty="0">
              <a:solidFill>
                <a:srgbClr val="000000"/>
              </a:solidFill>
            </a:endParaRPr>
          </a:p>
          <a:p>
            <a:pPr marL="0" indent="0">
              <a:buNone/>
            </a:pPr>
            <a:r>
              <a:rPr lang="zh-CN" altLang="en-US" sz="2800" dirty="0">
                <a:solidFill>
                  <a:srgbClr val="000000"/>
                </a:solidFill>
              </a:rPr>
              <a:t>语法：</a:t>
            </a:r>
            <a:endParaRPr lang="zh-CN" altLang="en-US" sz="2800" dirty="0">
              <a:solidFill>
                <a:srgbClr val="000000"/>
              </a:solidFill>
            </a:endParaRPr>
          </a:p>
          <a:p>
            <a:pPr marL="0" indent="0">
              <a:buNone/>
            </a:pPr>
            <a:r>
              <a:rPr lang="en-US" altLang="zh-CN" sz="2800" dirty="0">
                <a:solidFill>
                  <a:srgbClr val="000000"/>
                </a:solidFill>
              </a:rPr>
              <a:t>                </a:t>
            </a:r>
            <a:r>
              <a:rPr lang="en-US" altLang="zh-CN" sz="2800" dirty="0">
                <a:solidFill>
                  <a:srgbClr val="0000FF"/>
                </a:solidFill>
              </a:rPr>
              <a:t>&lt;!--</a:t>
            </a:r>
            <a:r>
              <a:rPr lang="en-US" altLang="zh-CN" sz="2800" dirty="0">
                <a:solidFill>
                  <a:srgbClr val="000000"/>
                </a:solidFill>
              </a:rPr>
              <a:t> </a:t>
            </a:r>
            <a:r>
              <a:rPr lang="zh-CN" altLang="en-US" sz="2800" dirty="0">
                <a:solidFill>
                  <a:srgbClr val="000000"/>
                </a:solidFill>
              </a:rPr>
              <a:t>注释内容 </a:t>
            </a:r>
            <a:r>
              <a:rPr lang="en-US" altLang="zh-CN" sz="2800" dirty="0">
                <a:solidFill>
                  <a:srgbClr val="0000FF"/>
                </a:solidFill>
              </a:rPr>
              <a:t>--&gt;</a:t>
            </a:r>
            <a:endParaRPr lang="en-US" altLang="zh-CN" sz="2800" dirty="0">
              <a:solidFill>
                <a:srgbClr val="0000FF"/>
              </a:solidFill>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1746" name="内容占位符 2"/>
          <p:cNvSpPr>
            <a:spLocks noGrp="1"/>
          </p:cNvSpPr>
          <p:nvPr>
            <p:ph idx="1"/>
          </p:nvPr>
        </p:nvSpPr>
        <p:spPr>
          <a:xfrm>
            <a:off x="107950" y="1125538"/>
            <a:ext cx="8928100" cy="503237"/>
          </a:xfrm>
        </p:spPr>
        <p:txBody>
          <a:bodyPr vert="horz" wrap="square" lIns="91440" tIns="45720" rIns="91440" bIns="45720" anchor="t" anchorCtr="0"/>
          <a:p>
            <a:pPr marL="0" indent="0">
              <a:buNone/>
            </a:pPr>
            <a:r>
              <a:rPr lang="zh-CN" altLang="en-US" sz="2800" b="1" dirty="0">
                <a:solidFill>
                  <a:srgbClr val="000000"/>
                </a:solidFill>
              </a:rPr>
              <a:t>网页网体的文本与段落标签</a:t>
            </a:r>
            <a:endParaRPr lang="zh-CN" altLang="en-US" sz="2800" b="1" dirty="0">
              <a:solidFill>
                <a:srgbClr val="000000"/>
              </a:solidFill>
            </a:endParaRPr>
          </a:p>
        </p:txBody>
      </p:sp>
      <p:graphicFrame>
        <p:nvGraphicFramePr>
          <p:cNvPr id="32772" name="表格 32771"/>
          <p:cNvGraphicFramePr/>
          <p:nvPr/>
        </p:nvGraphicFramePr>
        <p:xfrm>
          <a:off x="107950" y="1773238"/>
          <a:ext cx="8928100" cy="4922838"/>
        </p:xfrm>
        <a:graphic>
          <a:graphicData uri="http://schemas.openxmlformats.org/drawingml/2006/table">
            <a:tbl>
              <a:tblPr/>
              <a:tblGrid>
                <a:gridCol w="2089150"/>
                <a:gridCol w="6838950"/>
              </a:tblGrid>
              <a:tr h="3048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en-US" sz="2000" dirty="0">
                          <a:latin typeface="Arial" panose="020B0604020202020204" pitchFamily="34" charset="0"/>
                          <a:ea typeface="黑体" panose="02010609060101010101" pitchFamily="49" charset="-122"/>
                        </a:rPr>
                        <a:t>标签</a:t>
                      </a:r>
                      <a:endParaRPr lang="zh-CN" altLang="zh-CN" sz="2000" dirty="0">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zh-CN" altLang="zh-CN" sz="2000" dirty="0">
                          <a:latin typeface="Arial" panose="020B0604020202020204" pitchFamily="34" charset="0"/>
                          <a:ea typeface="黑体" panose="02010609060101010101" pitchFamily="49" charset="-122"/>
                        </a:rPr>
                        <a:t>说明</a:t>
                      </a:r>
                      <a:endParaRPr lang="zh-CN" altLang="zh-CN" sz="2000" dirty="0">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446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&lt;h#&gt;&lt;/h#&gt;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标题</a:t>
                      </a:r>
                      <a:r>
                        <a:rPr lang="zh-CN" altLang="en-US" sz="2000" dirty="0">
                          <a:solidFill>
                            <a:srgbClr val="000000"/>
                          </a:solidFill>
                          <a:latin typeface="Times New Roman" panose="02020603050405020304" pitchFamily="18" charset="0"/>
                        </a:rPr>
                        <a:t>标签</a:t>
                      </a:r>
                      <a:r>
                        <a:rPr lang="zh-CN" altLang="zh-CN" sz="2000" dirty="0">
                          <a:solidFill>
                            <a:srgbClr val="000000"/>
                          </a:solidFill>
                          <a:latin typeface="Times New Roman" panose="02020603050405020304" pitchFamily="18" charset="0"/>
                        </a:rPr>
                        <a:t>，</a:t>
                      </a:r>
                      <a:r>
                        <a:rPr lang="en-US" altLang="zh-CN" sz="2000" dirty="0">
                          <a:solidFill>
                            <a:srgbClr val="000000"/>
                          </a:solidFill>
                          <a:latin typeface="Times New Roman" panose="02020603050405020304" pitchFamily="18" charset="0"/>
                          <a:cs typeface="Times New Roman" panose="02020603050405020304" pitchFamily="18" charset="0"/>
                        </a:rPr>
                        <a:t>#=1,2,3,4,5,6</a:t>
                      </a:r>
                      <a:r>
                        <a:rPr lang="zh-CN" altLang="zh-CN" sz="2000" dirty="0">
                          <a:solidFill>
                            <a:srgbClr val="000000"/>
                          </a:solidFill>
                          <a:latin typeface="Times New Roman" panose="02020603050405020304" pitchFamily="18" charset="0"/>
                        </a:rPr>
                        <a:t>，定义了</a:t>
                      </a:r>
                      <a:r>
                        <a:rPr lang="en-US" altLang="zh-CN" sz="2000" dirty="0">
                          <a:solidFill>
                            <a:srgbClr val="000000"/>
                          </a:solidFill>
                          <a:latin typeface="Times New Roman" panose="02020603050405020304" pitchFamily="18" charset="0"/>
                          <a:cs typeface="Times New Roman" panose="02020603050405020304" pitchFamily="18" charset="0"/>
                        </a:rPr>
                        <a:t>6</a:t>
                      </a:r>
                      <a:r>
                        <a:rPr lang="zh-CN" altLang="zh-CN" sz="2000" dirty="0">
                          <a:solidFill>
                            <a:srgbClr val="000000"/>
                          </a:solidFill>
                          <a:latin typeface="Times New Roman" panose="02020603050405020304" pitchFamily="18" charset="0"/>
                        </a:rPr>
                        <a:t>级标题，每级标题的字体大小依次递减，</a:t>
                      </a:r>
                      <a:endParaRPr lang="zh-CN" altLang="zh-CN" sz="2000" dirty="0">
                        <a:solidFill>
                          <a:srgbClr val="000000"/>
                        </a:solidFill>
                        <a:latin typeface="Times New Roman" panose="02020603050405020304" pitchFamily="18" charset="0"/>
                      </a:endParaRPr>
                    </a:p>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属性</a:t>
                      </a:r>
                      <a:r>
                        <a:rPr lang="en-US" altLang="zh-CN" sz="2000" dirty="0">
                          <a:solidFill>
                            <a:srgbClr val="000000"/>
                          </a:solidFill>
                          <a:latin typeface="Times New Roman" panose="02020603050405020304" pitchFamily="18" charset="0"/>
                          <a:cs typeface="Times New Roman" panose="02020603050405020304" pitchFamily="18" charset="0"/>
                        </a:rPr>
                        <a:t>align</a:t>
                      </a:r>
                      <a:r>
                        <a:rPr lang="zh-CN" altLang="zh-CN" sz="2000" dirty="0">
                          <a:solidFill>
                            <a:srgbClr val="000000"/>
                          </a:solidFill>
                          <a:latin typeface="Times New Roman" panose="02020603050405020304" pitchFamily="18" charset="0"/>
                        </a:rPr>
                        <a:t>设定对齐方式：</a:t>
                      </a:r>
                      <a:r>
                        <a:rPr lang="en-US" altLang="zh-CN" sz="2000" dirty="0">
                          <a:solidFill>
                            <a:srgbClr val="000000"/>
                          </a:solidFill>
                          <a:latin typeface="Times New Roman" panose="02020603050405020304" pitchFamily="18" charset="0"/>
                          <a:cs typeface="Times New Roman" panose="02020603050405020304" pitchFamily="18" charset="0"/>
                        </a:rPr>
                        <a:t>center</a:t>
                      </a:r>
                      <a:r>
                        <a:rPr lang="zh-CN" altLang="zh-CN" sz="2000" dirty="0">
                          <a:solidFill>
                            <a:srgbClr val="000000"/>
                          </a:solidFill>
                          <a:latin typeface="Times New Roman" panose="02020603050405020304" pitchFamily="18" charset="0"/>
                        </a:rPr>
                        <a:t>：居中；</a:t>
                      </a:r>
                      <a:r>
                        <a:rPr lang="en-US" altLang="zh-CN" sz="2000" dirty="0">
                          <a:solidFill>
                            <a:srgbClr val="000000"/>
                          </a:solidFill>
                          <a:latin typeface="Times New Roman" panose="02020603050405020304" pitchFamily="18" charset="0"/>
                          <a:cs typeface="Times New Roman" panose="02020603050405020304" pitchFamily="18" charset="0"/>
                        </a:rPr>
                        <a:t>left</a:t>
                      </a:r>
                      <a:r>
                        <a:rPr lang="zh-CN" altLang="zh-CN" sz="2000" dirty="0">
                          <a:solidFill>
                            <a:srgbClr val="000000"/>
                          </a:solidFill>
                          <a:latin typeface="Times New Roman" panose="02020603050405020304" pitchFamily="18" charset="0"/>
                        </a:rPr>
                        <a:t>：左对齐（默认）；</a:t>
                      </a:r>
                      <a:r>
                        <a:rPr lang="en-US" altLang="zh-CN" sz="2000" dirty="0">
                          <a:solidFill>
                            <a:srgbClr val="000000"/>
                          </a:solidFill>
                          <a:latin typeface="Times New Roman" panose="02020603050405020304" pitchFamily="18" charset="0"/>
                          <a:cs typeface="Times New Roman" panose="02020603050405020304" pitchFamily="18" charset="0"/>
                        </a:rPr>
                        <a:t>right</a:t>
                      </a:r>
                      <a:r>
                        <a:rPr lang="zh-CN" altLang="zh-CN" sz="2000" dirty="0">
                          <a:solidFill>
                            <a:srgbClr val="000000"/>
                          </a:solidFill>
                          <a:latin typeface="Times New Roman" panose="02020603050405020304" pitchFamily="18" charset="0"/>
                        </a:rPr>
                        <a:t>：右对齐</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&lt;b&gt;&lt;/b&gt;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黑体</a:t>
                      </a:r>
                      <a:r>
                        <a:rPr lang="zh-CN" altLang="en-US" sz="2000" dirty="0">
                          <a:solidFill>
                            <a:srgbClr val="000000"/>
                          </a:solidFill>
                          <a:latin typeface="Times New Roman" panose="02020603050405020304" pitchFamily="18" charset="0"/>
                        </a:rPr>
                        <a:t>标签</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&lt;i&gt;&lt;/i&gt;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斜体</a:t>
                      </a:r>
                      <a:r>
                        <a:rPr lang="zh-CN" altLang="en-US" sz="2000" dirty="0">
                          <a:solidFill>
                            <a:srgbClr val="000000"/>
                          </a:solidFill>
                          <a:latin typeface="Times New Roman" panose="02020603050405020304" pitchFamily="18" charset="0"/>
                        </a:rPr>
                        <a:t>标签</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54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&lt;strong&gt;&lt;/strong&gt;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加重文本</a:t>
                      </a:r>
                      <a:r>
                        <a:rPr lang="zh-CN" altLang="en-US" sz="2000" dirty="0">
                          <a:solidFill>
                            <a:srgbClr val="000000"/>
                          </a:solidFill>
                          <a:latin typeface="Times New Roman" panose="02020603050405020304" pitchFamily="18" charset="0"/>
                        </a:rPr>
                        <a:t>标签</a:t>
                      </a:r>
                      <a:r>
                        <a:rPr lang="zh-CN" altLang="zh-CN" sz="2000" dirty="0">
                          <a:solidFill>
                            <a:srgbClr val="000000"/>
                          </a:solidFill>
                          <a:latin typeface="Times New Roman" panose="02020603050405020304" pitchFamily="18" charset="0"/>
                        </a:rPr>
                        <a:t>（通常是斜体加黑体）</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914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&lt;font&gt;&lt;/font&gt;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字体</a:t>
                      </a:r>
                      <a:r>
                        <a:rPr lang="zh-CN" altLang="en-US" sz="2000" dirty="0">
                          <a:solidFill>
                            <a:srgbClr val="000000"/>
                          </a:solidFill>
                          <a:latin typeface="Times New Roman" panose="02020603050405020304" pitchFamily="18" charset="0"/>
                        </a:rPr>
                        <a:t>标签</a:t>
                      </a:r>
                      <a:r>
                        <a:rPr lang="zh-CN" altLang="zh-CN" sz="2000" dirty="0">
                          <a:solidFill>
                            <a:srgbClr val="000000"/>
                          </a:solidFill>
                          <a:latin typeface="Times New Roman" panose="02020603050405020304" pitchFamily="18" charset="0"/>
                        </a:rPr>
                        <a:t>：</a:t>
                      </a:r>
                      <a:r>
                        <a:rPr lang="en-US" altLang="zh-CN" sz="2000" dirty="0">
                          <a:solidFill>
                            <a:srgbClr val="000000"/>
                          </a:solidFill>
                          <a:latin typeface="Times New Roman" panose="02020603050405020304" pitchFamily="18" charset="0"/>
                          <a:cs typeface="Times New Roman" panose="02020603050405020304" pitchFamily="18" charset="0"/>
                        </a:rPr>
                        <a:t>size</a:t>
                      </a:r>
                      <a:r>
                        <a:rPr lang="zh-CN" altLang="zh-CN" sz="2000" dirty="0">
                          <a:solidFill>
                            <a:srgbClr val="000000"/>
                          </a:solidFill>
                          <a:latin typeface="Times New Roman" panose="02020603050405020304" pitchFamily="18" charset="0"/>
                        </a:rPr>
                        <a:t>属性，设置字体大小，取值从</a:t>
                      </a:r>
                      <a:r>
                        <a:rPr lang="en-US" altLang="zh-CN" sz="2000" dirty="0">
                          <a:solidFill>
                            <a:srgbClr val="000000"/>
                          </a:solidFill>
                          <a:latin typeface="Times New Roman" panose="02020603050405020304" pitchFamily="18" charset="0"/>
                          <a:cs typeface="Times New Roman" panose="02020603050405020304" pitchFamily="18" charset="0"/>
                        </a:rPr>
                        <a:t>1</a:t>
                      </a:r>
                      <a:r>
                        <a:rPr lang="zh-CN" altLang="zh-CN" sz="2000" dirty="0">
                          <a:solidFill>
                            <a:srgbClr val="000000"/>
                          </a:solidFill>
                          <a:latin typeface="Times New Roman" panose="02020603050405020304" pitchFamily="18" charset="0"/>
                        </a:rPr>
                        <a:t>到</a:t>
                      </a:r>
                      <a:r>
                        <a:rPr lang="en-US" altLang="zh-CN" sz="2000" dirty="0">
                          <a:solidFill>
                            <a:srgbClr val="000000"/>
                          </a:solidFill>
                          <a:latin typeface="Times New Roman" panose="02020603050405020304" pitchFamily="18" charset="0"/>
                          <a:cs typeface="Times New Roman" panose="02020603050405020304" pitchFamily="18" charset="0"/>
                        </a:rPr>
                        <a:t>7</a:t>
                      </a:r>
                      <a:r>
                        <a:rPr lang="zh-CN" altLang="zh-CN" sz="2000" dirty="0">
                          <a:solidFill>
                            <a:srgbClr val="000000"/>
                          </a:solidFill>
                          <a:latin typeface="Times New Roman" panose="02020603050405020304" pitchFamily="18" charset="0"/>
                        </a:rPr>
                        <a:t>；</a:t>
                      </a:r>
                      <a:r>
                        <a:rPr lang="en-US" altLang="zh-CN" sz="2000" dirty="0">
                          <a:solidFill>
                            <a:srgbClr val="000000"/>
                          </a:solidFill>
                          <a:latin typeface="Times New Roman" panose="02020603050405020304" pitchFamily="18" charset="0"/>
                          <a:cs typeface="Times New Roman" panose="02020603050405020304" pitchFamily="18" charset="0"/>
                        </a:rPr>
                        <a:t>color</a:t>
                      </a:r>
                      <a:r>
                        <a:rPr lang="zh-CN" altLang="zh-CN" sz="2000" dirty="0">
                          <a:solidFill>
                            <a:srgbClr val="000000"/>
                          </a:solidFill>
                          <a:latin typeface="Times New Roman" panose="02020603050405020304" pitchFamily="18" charset="0"/>
                        </a:rPr>
                        <a:t>属性，设计字体颜色，使用名字常量或</a:t>
                      </a:r>
                      <a:r>
                        <a:rPr lang="en-US" altLang="zh-CN" sz="2000" dirty="0">
                          <a:solidFill>
                            <a:srgbClr val="000000"/>
                          </a:solidFill>
                          <a:latin typeface="Times New Roman" panose="02020603050405020304" pitchFamily="18" charset="0"/>
                          <a:cs typeface="Times New Roman" panose="02020603050405020304" pitchFamily="18" charset="0"/>
                        </a:rPr>
                        <a:t>RGB</a:t>
                      </a:r>
                      <a:r>
                        <a:rPr lang="zh-CN" altLang="zh-CN" sz="2000" dirty="0">
                          <a:solidFill>
                            <a:srgbClr val="000000"/>
                          </a:solidFill>
                          <a:latin typeface="Times New Roman" panose="02020603050405020304" pitchFamily="18" charset="0"/>
                        </a:rPr>
                        <a:t>的十六进制值，</a:t>
                      </a:r>
                      <a:r>
                        <a:rPr lang="en-US" altLang="zh-CN" sz="2000" dirty="0">
                          <a:solidFill>
                            <a:srgbClr val="000000"/>
                          </a:solidFill>
                          <a:latin typeface="Times New Roman" panose="02020603050405020304" pitchFamily="18" charset="0"/>
                          <a:cs typeface="Times New Roman" panose="02020603050405020304" pitchFamily="18" charset="0"/>
                        </a:rPr>
                        <a:t>face</a:t>
                      </a:r>
                      <a:r>
                        <a:rPr lang="zh-CN" altLang="zh-CN" sz="2000" dirty="0">
                          <a:solidFill>
                            <a:srgbClr val="000000"/>
                          </a:solidFill>
                          <a:latin typeface="Times New Roman" panose="02020603050405020304" pitchFamily="18" charset="0"/>
                        </a:rPr>
                        <a:t>属性，设计字体字型，例如“宋体”、“楷体”等</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&lt;p&gt;&lt;/p&gt;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段落</a:t>
                      </a:r>
                      <a:r>
                        <a:rPr lang="zh-CN" altLang="en-US" sz="2000" dirty="0">
                          <a:solidFill>
                            <a:srgbClr val="000000"/>
                          </a:solidFill>
                          <a:latin typeface="Times New Roman" panose="02020603050405020304" pitchFamily="18" charset="0"/>
                        </a:rPr>
                        <a:t>标签</a:t>
                      </a:r>
                      <a:r>
                        <a:rPr lang="zh-CN" altLang="zh-CN" sz="2000" dirty="0">
                          <a:solidFill>
                            <a:srgbClr val="000000"/>
                          </a:solidFill>
                          <a:latin typeface="Times New Roman" panose="02020603050405020304" pitchFamily="18" charset="0"/>
                        </a:rPr>
                        <a:t>：属性</a:t>
                      </a:r>
                      <a:r>
                        <a:rPr lang="en-US" altLang="zh-CN" sz="2000" dirty="0">
                          <a:solidFill>
                            <a:srgbClr val="000000"/>
                          </a:solidFill>
                          <a:latin typeface="Times New Roman" panose="02020603050405020304" pitchFamily="18" charset="0"/>
                          <a:cs typeface="Times New Roman" panose="02020603050405020304" pitchFamily="18" charset="0"/>
                        </a:rPr>
                        <a:t>align</a:t>
                      </a:r>
                      <a:r>
                        <a:rPr lang="zh-CN" altLang="zh-CN" sz="2000" dirty="0">
                          <a:solidFill>
                            <a:srgbClr val="000000"/>
                          </a:solidFill>
                          <a:latin typeface="Times New Roman" panose="02020603050405020304" pitchFamily="18" charset="0"/>
                        </a:rPr>
                        <a:t>指定对齐方式。</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914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&lt;hr/&gt;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水平分隔线</a:t>
                      </a:r>
                      <a:r>
                        <a:rPr lang="zh-CN" altLang="en-US" sz="2000" dirty="0">
                          <a:solidFill>
                            <a:srgbClr val="000000"/>
                          </a:solidFill>
                          <a:latin typeface="Times New Roman" panose="02020603050405020304" pitchFamily="18" charset="0"/>
                        </a:rPr>
                        <a:t>标签</a:t>
                      </a:r>
                      <a:r>
                        <a:rPr lang="zh-CN" altLang="zh-CN" sz="2000" dirty="0">
                          <a:solidFill>
                            <a:srgbClr val="000000"/>
                          </a:solidFill>
                          <a:latin typeface="Times New Roman" panose="02020603050405020304" pitchFamily="18" charset="0"/>
                        </a:rPr>
                        <a:t>：属性</a:t>
                      </a:r>
                      <a:r>
                        <a:rPr lang="en-US" altLang="zh-CN" sz="2000" dirty="0">
                          <a:solidFill>
                            <a:srgbClr val="000000"/>
                          </a:solidFill>
                          <a:latin typeface="Times New Roman" panose="02020603050405020304" pitchFamily="18" charset="0"/>
                          <a:cs typeface="Times New Roman" panose="02020603050405020304" pitchFamily="18" charset="0"/>
                        </a:rPr>
                        <a:t>width</a:t>
                      </a:r>
                      <a:r>
                        <a:rPr lang="zh-CN" altLang="zh-CN" sz="2000" dirty="0">
                          <a:solidFill>
                            <a:srgbClr val="000000"/>
                          </a:solidFill>
                          <a:latin typeface="Times New Roman" panose="02020603050405020304" pitchFamily="18" charset="0"/>
                        </a:rPr>
                        <a:t>设置线的长度（单位像素），</a:t>
                      </a:r>
                      <a:r>
                        <a:rPr lang="en-US" altLang="zh-CN" sz="2000" dirty="0">
                          <a:solidFill>
                            <a:srgbClr val="000000"/>
                          </a:solidFill>
                          <a:latin typeface="Times New Roman" panose="02020603050405020304" pitchFamily="18" charset="0"/>
                          <a:cs typeface="Times New Roman" panose="02020603050405020304" pitchFamily="18" charset="0"/>
                        </a:rPr>
                        <a:t>size</a:t>
                      </a:r>
                      <a:r>
                        <a:rPr lang="zh-CN" altLang="zh-CN" sz="2000" dirty="0">
                          <a:solidFill>
                            <a:srgbClr val="000000"/>
                          </a:solidFill>
                          <a:latin typeface="Times New Roman" panose="02020603050405020304" pitchFamily="18" charset="0"/>
                        </a:rPr>
                        <a:t>设置线的粗细（单位像素），</a:t>
                      </a:r>
                      <a:r>
                        <a:rPr lang="en-US" altLang="zh-CN" sz="2000" dirty="0">
                          <a:solidFill>
                            <a:srgbClr val="000000"/>
                          </a:solidFill>
                          <a:latin typeface="Times New Roman" panose="02020603050405020304" pitchFamily="18" charset="0"/>
                          <a:cs typeface="Times New Roman" panose="02020603050405020304" pitchFamily="18" charset="0"/>
                        </a:rPr>
                        <a:t>color</a:t>
                      </a:r>
                      <a:r>
                        <a:rPr lang="zh-CN" altLang="zh-CN" sz="2000" dirty="0">
                          <a:solidFill>
                            <a:srgbClr val="000000"/>
                          </a:solidFill>
                          <a:latin typeface="Times New Roman" panose="02020603050405020304" pitchFamily="18" charset="0"/>
                        </a:rPr>
                        <a:t>设置线的颜色，</a:t>
                      </a:r>
                      <a:r>
                        <a:rPr lang="en-US" altLang="zh-CN" sz="2000" dirty="0">
                          <a:solidFill>
                            <a:srgbClr val="000000"/>
                          </a:solidFill>
                          <a:latin typeface="Times New Roman" panose="02020603050405020304" pitchFamily="18" charset="0"/>
                          <a:cs typeface="Times New Roman" panose="02020603050405020304" pitchFamily="18" charset="0"/>
                        </a:rPr>
                        <a:t>align</a:t>
                      </a:r>
                      <a:r>
                        <a:rPr lang="zh-CN" altLang="zh-CN" sz="2000" dirty="0">
                          <a:solidFill>
                            <a:srgbClr val="000000"/>
                          </a:solidFill>
                          <a:latin typeface="Times New Roman" panose="02020603050405020304" pitchFamily="18" charset="0"/>
                        </a:rPr>
                        <a:t>设置对齐方式</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2000" dirty="0">
                          <a:solidFill>
                            <a:srgbClr val="000000"/>
                          </a:solidFill>
                          <a:latin typeface="Times New Roman" panose="02020603050405020304" pitchFamily="18" charset="0"/>
                          <a:cs typeface="Times New Roman" panose="02020603050405020304" pitchFamily="18" charset="0"/>
                        </a:rPr>
                        <a:t>&lt;br/&gt;</a:t>
                      </a:r>
                      <a:endParaRPr lang="zh-CN" altLang="zh-CN" sz="20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eaLnBrk="1" hangingPunct="1">
                        <a:spcBef>
                          <a:spcPts val="100"/>
                        </a:spcBef>
                        <a:spcAft>
                          <a:spcPts val="100"/>
                        </a:spcAft>
                        <a:buNone/>
                      </a:pPr>
                      <a:r>
                        <a:rPr lang="zh-CN" altLang="zh-CN" sz="2000" dirty="0">
                          <a:solidFill>
                            <a:srgbClr val="000000"/>
                          </a:solidFill>
                          <a:latin typeface="Times New Roman" panose="02020603050405020304" pitchFamily="18" charset="0"/>
                        </a:rPr>
                        <a:t>插入一个回车换行符</a:t>
                      </a:r>
                      <a:endParaRPr lang="zh-CN" altLang="zh-CN" sz="2000" dirty="0">
                        <a:solidFill>
                          <a:srgbClr val="000000"/>
                        </a:solidFill>
                        <a:latin typeface="Times New Roman" panose="02020603050405020304" pitchFamily="18" charset="0"/>
                      </a:endParaRPr>
                    </a:p>
                  </a:txBody>
                  <a:tcPr marL="68575" marR="68575" marT="0" marB="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2770" name="内容占位符 2"/>
          <p:cNvSpPr>
            <a:spLocks noGrp="1"/>
          </p:cNvSpPr>
          <p:nvPr>
            <p:ph idx="1"/>
          </p:nvPr>
        </p:nvSpPr>
        <p:spPr>
          <a:xfrm>
            <a:off x="107950" y="1125538"/>
            <a:ext cx="8928100" cy="1366837"/>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作业：例</a:t>
            </a:r>
            <a:r>
              <a:rPr lang="en-US" altLang="zh-CN" sz="2400" dirty="0">
                <a:solidFill>
                  <a:srgbClr val="000000"/>
                </a:solidFill>
              </a:rPr>
              <a:t>2-2】</a:t>
            </a:r>
            <a:r>
              <a:rPr lang="zh-CN" altLang="en-US" sz="2400" dirty="0">
                <a:solidFill>
                  <a:srgbClr val="000000"/>
                </a:solidFill>
              </a:rPr>
              <a:t>图</a:t>
            </a:r>
            <a:r>
              <a:rPr lang="en-US" altLang="zh-CN" sz="2400" dirty="0">
                <a:solidFill>
                  <a:srgbClr val="000000"/>
                </a:solidFill>
              </a:rPr>
              <a:t>2-2</a:t>
            </a:r>
            <a:r>
              <a:rPr lang="zh-CN" altLang="en-US" sz="2400" dirty="0">
                <a:solidFill>
                  <a:srgbClr val="000000"/>
                </a:solidFill>
              </a:rPr>
              <a:t>给出了一首唐诗欣赏的页面，根据该页面，设计</a:t>
            </a:r>
            <a:r>
              <a:rPr lang="en-US" altLang="zh-CN" sz="2400" dirty="0">
                <a:solidFill>
                  <a:srgbClr val="000000"/>
                </a:solidFill>
              </a:rPr>
              <a:t>HTML</a:t>
            </a:r>
            <a:r>
              <a:rPr lang="zh-CN" altLang="en-US" sz="2400" dirty="0">
                <a:solidFill>
                  <a:srgbClr val="000000"/>
                </a:solidFill>
              </a:rPr>
              <a:t>文档：</a:t>
            </a:r>
            <a:r>
              <a:rPr lang="en-US" altLang="zh-CN" sz="2400" dirty="0">
                <a:solidFill>
                  <a:srgbClr val="000000"/>
                </a:solidFill>
              </a:rPr>
              <a:t>ch02_2.html</a:t>
            </a:r>
            <a:r>
              <a:rPr lang="zh-CN" altLang="en-US" sz="2400" dirty="0">
                <a:solidFill>
                  <a:srgbClr val="000000"/>
                </a:solidFill>
              </a:rPr>
              <a:t>。请仔细分析所使用的标签及其属性，以及它们的作用。</a:t>
            </a:r>
            <a:endParaRPr lang="zh-CN" altLang="en-US" b="1" u="sng" dirty="0">
              <a:solidFill>
                <a:srgbClr val="0000FF"/>
              </a:solidFill>
            </a:endParaRPr>
          </a:p>
        </p:txBody>
      </p:sp>
      <p:pic>
        <p:nvPicPr>
          <p:cNvPr id="5" name="图片 4"/>
          <p:cNvPicPr>
            <a:picLocks noChangeAspect="1"/>
          </p:cNvPicPr>
          <p:nvPr/>
        </p:nvPicPr>
        <p:blipFill>
          <a:blip r:embed="rId1"/>
          <a:stretch>
            <a:fillRect/>
          </a:stretch>
        </p:blipFill>
        <p:spPr>
          <a:xfrm>
            <a:off x="1187450" y="2349500"/>
            <a:ext cx="6577013" cy="4248150"/>
          </a:xfrm>
          <a:prstGeom prst="rect">
            <a:avLst/>
          </a:prstGeom>
          <a:effectLst>
            <a:outerShdw blurRad="63500" sx="102000" sy="102000" algn="ctr" rotWithShape="0">
              <a:prstClr val="black">
                <a:alpha val="40000"/>
              </a:prstClr>
            </a:outerShdw>
          </a:effec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a:xfrm>
            <a:off x="250825" y="98425"/>
            <a:ext cx="8569325" cy="777875"/>
          </a:xfrm>
        </p:spPr>
        <p:txBody>
          <a:bodyPr vert="horz" wrap="square" lIns="91440" tIns="45720" rIns="91440" bIns="45720" anchor="ctr" anchorCtr="0"/>
          <a:p>
            <a:endParaRPr lang="zh-CN" altLang="en-US" baseline="0" dirty="0">
              <a:latin typeface="Times New Roman" panose="02020603050405020304" pitchFamily="18" charset="0"/>
              <a:ea typeface="黑体" panose="02010609060101010101" pitchFamily="49" charset="-122"/>
              <a:cs typeface="+mj-cs"/>
            </a:endParaRPr>
          </a:p>
        </p:txBody>
      </p:sp>
      <p:sp>
        <p:nvSpPr>
          <p:cNvPr id="3" name="内容占位符 2"/>
          <p:cNvSpPr>
            <a:spLocks noGrp="1"/>
          </p:cNvSpPr>
          <p:nvPr>
            <p:ph idx="1"/>
          </p:nvPr>
        </p:nvSpPr>
        <p:spPr>
          <a:xfrm>
            <a:off x="107950" y="1125538"/>
            <a:ext cx="8928100" cy="5543550"/>
          </a:xfrm>
        </p:spPr>
        <p:txBody>
          <a:bodyPr vert="horz" wrap="square" lIns="91440" tIns="45720" rIns="91440" bIns="45720" numCol="1" anchor="t" anchorCtr="0" compatLnSpc="1"/>
          <a:lstStyle/>
          <a:p>
            <a:pPr marL="342900" marR="0" lvl="0" indent="-342900" algn="ctr" defTabSz="914400" rtl="0" eaLnBrk="0" fontAlgn="base" latinLnBrk="0" hangingPunct="0">
              <a:lnSpc>
                <a:spcPct val="100000"/>
              </a:lnSpc>
              <a:spcBef>
                <a:spcPct val="20000"/>
              </a:spcBef>
              <a:spcAft>
                <a:spcPct val="0"/>
              </a:spcAft>
              <a:buClrTx/>
              <a:buSzTx/>
              <a:buFontTx/>
              <a:buChar char="•"/>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Tx/>
              <a:buChar char="•"/>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Tx/>
              <a:buSzTx/>
              <a:buFontTx/>
              <a:buNone/>
              <a:defRPr/>
            </a:pPr>
            <a:r>
              <a:rPr kumimoji="0" lang="zh-CN" altLang="en-US" sz="3200" b="0" i="0" u="none" strike="noStrike" kern="0" cap="none" spc="0" normalizeH="0" baseline="0" noProof="0" dirty="0">
                <a:ln>
                  <a:noFill/>
                </a:ln>
                <a:solidFill>
                  <a:schemeClr val="tx1"/>
                </a:solidFill>
                <a:effectLst/>
                <a:uLnTx/>
                <a:uFillTx/>
                <a:latin typeface="+mn-lt"/>
                <a:ea typeface="+mn-ea"/>
                <a:cs typeface="+mn-cs"/>
              </a:rPr>
              <a:t>谢谢</a:t>
            </a:r>
            <a:endParaRPr kumimoji="0" lang="zh-CN" alt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481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3. </a:t>
            </a:r>
            <a:r>
              <a:rPr lang="zh-CN" altLang="en-US" sz="2800" b="1" dirty="0">
                <a:solidFill>
                  <a:srgbClr val="000000"/>
                </a:solidFill>
              </a:rPr>
              <a:t>列表标签</a:t>
            </a:r>
            <a:endParaRPr lang="en-US" altLang="zh-CN" sz="2800" b="1" dirty="0">
              <a:solidFill>
                <a:srgbClr val="000000"/>
              </a:solidFill>
            </a:endParaRPr>
          </a:p>
          <a:p>
            <a:pPr marL="0" indent="0">
              <a:buNone/>
            </a:pPr>
            <a:r>
              <a:rPr lang="zh-CN" altLang="en-US" sz="2400" b="1" dirty="0">
                <a:solidFill>
                  <a:srgbClr val="FF0000"/>
                </a:solidFill>
              </a:rPr>
              <a:t>列表标签分两类：</a:t>
            </a:r>
            <a:r>
              <a:rPr lang="zh-CN" altLang="en-US" sz="2400" b="1" dirty="0">
                <a:solidFill>
                  <a:srgbClr val="000000"/>
                </a:solidFill>
              </a:rPr>
              <a:t>有序标签和无序标签。</a:t>
            </a:r>
            <a:endParaRPr lang="en-US" altLang="zh-CN" sz="2400" b="1" dirty="0">
              <a:solidFill>
                <a:srgbClr val="000000"/>
              </a:solidFill>
            </a:endParaRPr>
          </a:p>
          <a:p>
            <a:pPr marL="0" indent="0">
              <a:buNone/>
            </a:pPr>
            <a:r>
              <a:rPr lang="zh-CN" altLang="en-US" sz="2800" b="1" dirty="0">
                <a:solidFill>
                  <a:srgbClr val="0033CC"/>
                </a:solidFill>
              </a:rPr>
              <a:t>（</a:t>
            </a:r>
            <a:r>
              <a:rPr lang="en-US" altLang="zh-CN" sz="2800" b="1" dirty="0">
                <a:solidFill>
                  <a:srgbClr val="0033CC"/>
                </a:solidFill>
              </a:rPr>
              <a:t>1</a:t>
            </a:r>
            <a:r>
              <a:rPr lang="zh-CN" altLang="en-US" sz="2800" b="1" dirty="0">
                <a:solidFill>
                  <a:srgbClr val="0033CC"/>
                </a:solidFill>
              </a:rPr>
              <a:t>）有序列表标签：</a:t>
            </a:r>
            <a:r>
              <a:rPr lang="en-US" altLang="zh-CN" sz="2800" b="1" dirty="0">
                <a:solidFill>
                  <a:srgbClr val="0033CC"/>
                </a:solidFill>
              </a:rPr>
              <a:t>&lt;ol&gt;&lt;/ol&gt;</a:t>
            </a:r>
            <a:endParaRPr lang="en-US" altLang="zh-CN" sz="2800" b="1" dirty="0">
              <a:solidFill>
                <a:srgbClr val="0033CC"/>
              </a:solidFill>
            </a:endParaRPr>
          </a:p>
          <a:p>
            <a:pPr marL="0" indent="0">
              <a:spcBef>
                <a:spcPts val="300"/>
              </a:spcBef>
              <a:buNone/>
            </a:pPr>
            <a:r>
              <a:rPr lang="zh-CN" altLang="en-US" sz="2400" dirty="0">
                <a:solidFill>
                  <a:srgbClr val="000000"/>
                </a:solidFill>
              </a:rPr>
              <a:t>格式：</a:t>
            </a:r>
            <a:r>
              <a:rPr lang="en-US" altLang="zh-CN" sz="2400" dirty="0">
                <a:solidFill>
                  <a:srgbClr val="000000"/>
                </a:solidFill>
              </a:rPr>
              <a:t>&lt;ol type="</a:t>
            </a:r>
            <a:r>
              <a:rPr lang="zh-CN" altLang="en-US" sz="2400" dirty="0">
                <a:solidFill>
                  <a:srgbClr val="000000"/>
                </a:solidFill>
              </a:rPr>
              <a:t>序号类型</a:t>
            </a:r>
            <a:r>
              <a:rPr lang="en-US" altLang="zh-CN" sz="2400" dirty="0">
                <a:solidFill>
                  <a:srgbClr val="000000"/>
                </a:solidFill>
              </a:rPr>
              <a:t>"&gt;</a:t>
            </a:r>
            <a:endParaRPr lang="en-US" altLang="zh-CN" sz="2400" dirty="0">
              <a:solidFill>
                <a:srgbClr val="000000"/>
              </a:solidFill>
            </a:endParaRPr>
          </a:p>
          <a:p>
            <a:pPr marL="0" indent="0">
              <a:spcBef>
                <a:spcPts val="300"/>
              </a:spcBef>
              <a:buNone/>
            </a:pPr>
            <a:r>
              <a:rPr lang="en-US" altLang="zh-CN" sz="2400" dirty="0">
                <a:solidFill>
                  <a:srgbClr val="000000"/>
                </a:solidFill>
              </a:rPr>
              <a:t>                &lt;li&gt;…….&lt;/li&gt;</a:t>
            </a:r>
            <a:endParaRPr lang="en-US" altLang="zh-CN" sz="2400" dirty="0">
              <a:solidFill>
                <a:srgbClr val="000000"/>
              </a:solidFill>
            </a:endParaRPr>
          </a:p>
          <a:p>
            <a:pPr marL="0" indent="0">
              <a:spcBef>
                <a:spcPts val="300"/>
              </a:spcBef>
              <a:buNone/>
            </a:pPr>
            <a:r>
              <a:rPr lang="en-US" altLang="zh-CN" sz="2400" dirty="0">
                <a:solidFill>
                  <a:srgbClr val="000000"/>
                </a:solidFill>
              </a:rPr>
              <a:t>                &lt;li&gt;……&lt;/li&gt;</a:t>
            </a:r>
            <a:endParaRPr lang="en-US" altLang="zh-CN" sz="2400" dirty="0">
              <a:solidFill>
                <a:srgbClr val="000000"/>
              </a:solidFill>
            </a:endParaRPr>
          </a:p>
          <a:p>
            <a:pPr marL="0" indent="0">
              <a:spcBef>
                <a:spcPts val="300"/>
              </a:spcBef>
              <a:buNone/>
            </a:pPr>
            <a:r>
              <a:rPr lang="en-US" altLang="zh-CN" sz="2400" dirty="0">
                <a:solidFill>
                  <a:srgbClr val="000000"/>
                </a:solidFill>
              </a:rPr>
              <a:t>                  …………..</a:t>
            </a:r>
            <a:endParaRPr lang="en-US" altLang="zh-CN" sz="2400" dirty="0">
              <a:solidFill>
                <a:srgbClr val="000000"/>
              </a:solidFill>
            </a:endParaRPr>
          </a:p>
          <a:p>
            <a:pPr marL="0" indent="0">
              <a:spcBef>
                <a:spcPts val="300"/>
              </a:spcBef>
              <a:buNone/>
            </a:pPr>
            <a:r>
              <a:rPr lang="en-US" altLang="zh-CN" sz="2400" dirty="0">
                <a:solidFill>
                  <a:srgbClr val="000000"/>
                </a:solidFill>
              </a:rPr>
              <a:t>           &lt;/ol&gt;</a:t>
            </a:r>
            <a:endParaRPr lang="en-US" altLang="zh-CN" sz="2400" dirty="0">
              <a:solidFill>
                <a:srgbClr val="000000"/>
              </a:solidFill>
            </a:endParaRPr>
          </a:p>
          <a:p>
            <a:pPr marL="0" indent="0">
              <a:buNone/>
            </a:pPr>
            <a:r>
              <a:rPr lang="zh-CN" altLang="en-US" sz="1800" b="1" dirty="0">
                <a:solidFill>
                  <a:srgbClr val="000000"/>
                </a:solidFill>
              </a:rPr>
              <a:t>其中，属性</a:t>
            </a:r>
            <a:r>
              <a:rPr lang="en-US" altLang="zh-CN" sz="1800" b="1" dirty="0">
                <a:solidFill>
                  <a:srgbClr val="000000"/>
                </a:solidFill>
              </a:rPr>
              <a:t>type</a:t>
            </a:r>
            <a:r>
              <a:rPr lang="zh-CN" altLang="en-US" sz="1800" b="1" dirty="0">
                <a:solidFill>
                  <a:srgbClr val="000000"/>
                </a:solidFill>
              </a:rPr>
              <a:t>指定列表项前的项目编号的样式，其取值：</a:t>
            </a:r>
            <a:endParaRPr lang="zh-CN" altLang="en-US" sz="1800" b="1" dirty="0">
              <a:solidFill>
                <a:srgbClr val="000000"/>
              </a:solidFill>
            </a:endParaRPr>
          </a:p>
          <a:p>
            <a:pPr marL="0" indent="0">
              <a:buNone/>
            </a:pPr>
            <a:r>
              <a:rPr lang="zh-CN" altLang="en-US" sz="1800" b="1" dirty="0">
                <a:solidFill>
                  <a:srgbClr val="000000"/>
                </a:solidFill>
              </a:rPr>
              <a:t>  “</a:t>
            </a:r>
            <a:r>
              <a:rPr lang="en-US" altLang="zh-CN" sz="1800" b="1" dirty="0">
                <a:solidFill>
                  <a:srgbClr val="000000"/>
                </a:solidFill>
              </a:rPr>
              <a:t>1”</a:t>
            </a:r>
            <a:r>
              <a:rPr lang="zh-CN" altLang="en-US" sz="1800" b="1" dirty="0">
                <a:solidFill>
                  <a:srgbClr val="000000"/>
                </a:solidFill>
              </a:rPr>
              <a:t>：编号为阿拉伯数字（默认值）； </a:t>
            </a:r>
            <a:endParaRPr lang="en-US" altLang="zh-CN" sz="1800" b="1" dirty="0">
              <a:solidFill>
                <a:srgbClr val="000000"/>
              </a:solidFill>
            </a:endParaRPr>
          </a:p>
          <a:p>
            <a:pPr marL="0" indent="0">
              <a:buNone/>
            </a:pPr>
            <a:r>
              <a:rPr lang="zh-CN" altLang="en-US" sz="1800" b="1" dirty="0">
                <a:solidFill>
                  <a:srgbClr val="000000"/>
                </a:solidFill>
              </a:rPr>
              <a:t>  “</a:t>
            </a:r>
            <a:r>
              <a:rPr lang="en-US" altLang="zh-CN" sz="1800" b="1" dirty="0">
                <a:solidFill>
                  <a:srgbClr val="000000"/>
                </a:solidFill>
              </a:rPr>
              <a:t>a”</a:t>
            </a:r>
            <a:r>
              <a:rPr lang="zh-CN" altLang="en-US" sz="1800" b="1" dirty="0">
                <a:solidFill>
                  <a:srgbClr val="000000"/>
                </a:solidFill>
              </a:rPr>
              <a:t>：小写英文字母；</a:t>
            </a:r>
            <a:endParaRPr lang="zh-CN" altLang="en-US" sz="1800" b="1" dirty="0">
              <a:solidFill>
                <a:srgbClr val="000000"/>
              </a:solidFill>
            </a:endParaRPr>
          </a:p>
          <a:p>
            <a:pPr marL="0" indent="0">
              <a:buNone/>
            </a:pPr>
            <a:r>
              <a:rPr lang="zh-CN" altLang="en-US" sz="1800" b="1" dirty="0">
                <a:solidFill>
                  <a:srgbClr val="000000"/>
                </a:solidFill>
              </a:rPr>
              <a:t> “</a:t>
            </a:r>
            <a:r>
              <a:rPr lang="en-US" altLang="zh-CN" sz="1800" b="1" dirty="0">
                <a:solidFill>
                  <a:srgbClr val="000000"/>
                </a:solidFill>
              </a:rPr>
              <a:t>A”</a:t>
            </a:r>
            <a:r>
              <a:rPr lang="zh-CN" altLang="en-US" sz="1800" b="1" dirty="0">
                <a:solidFill>
                  <a:srgbClr val="000000"/>
                </a:solidFill>
              </a:rPr>
              <a:t>：大写英文字母；          </a:t>
            </a:r>
            <a:endParaRPr lang="en-US" altLang="zh-CN" sz="1800" b="1" dirty="0">
              <a:solidFill>
                <a:srgbClr val="000000"/>
              </a:solidFill>
            </a:endParaRPr>
          </a:p>
          <a:p>
            <a:pPr marL="0" indent="0">
              <a:buNone/>
            </a:pPr>
            <a:r>
              <a:rPr lang="zh-CN" altLang="en-US" sz="1800" b="1" dirty="0">
                <a:solidFill>
                  <a:srgbClr val="000000"/>
                </a:solidFill>
              </a:rPr>
              <a:t>  “</a:t>
            </a:r>
            <a:r>
              <a:rPr lang="en-US" altLang="zh-CN" sz="1800" b="1" dirty="0">
                <a:solidFill>
                  <a:srgbClr val="000000"/>
                </a:solidFill>
              </a:rPr>
              <a:t>i”</a:t>
            </a:r>
            <a:r>
              <a:rPr lang="zh-CN" altLang="en-US" sz="1800" b="1" dirty="0">
                <a:solidFill>
                  <a:srgbClr val="000000"/>
                </a:solidFill>
              </a:rPr>
              <a:t>：小写罗马数字；</a:t>
            </a:r>
            <a:endParaRPr lang="zh-CN" altLang="en-US" sz="1800" b="1" dirty="0">
              <a:solidFill>
                <a:srgbClr val="000000"/>
              </a:solidFill>
            </a:endParaRPr>
          </a:p>
          <a:p>
            <a:pPr marL="0" indent="0">
              <a:buNone/>
            </a:pPr>
            <a:r>
              <a:rPr lang="zh-CN" altLang="en-US" sz="1800" b="1" dirty="0">
                <a:solidFill>
                  <a:srgbClr val="000000"/>
                </a:solidFill>
              </a:rPr>
              <a:t>  “</a:t>
            </a:r>
            <a:r>
              <a:rPr lang="en-US" altLang="zh-CN" sz="1800" b="1" dirty="0">
                <a:solidFill>
                  <a:srgbClr val="000000"/>
                </a:solidFill>
              </a:rPr>
              <a:t>I”</a:t>
            </a:r>
            <a:r>
              <a:rPr lang="zh-CN" altLang="en-US" sz="1800" b="1" dirty="0">
                <a:solidFill>
                  <a:srgbClr val="000000"/>
                </a:solidFill>
              </a:rPr>
              <a:t>：为大写罗马数字。</a:t>
            </a:r>
            <a:endParaRPr lang="zh-CN" altLang="en-US" sz="1800" b="1" dirty="0">
              <a:solidFill>
                <a:srgbClr val="000000"/>
              </a:solidFill>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584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3. </a:t>
            </a:r>
            <a:r>
              <a:rPr lang="zh-CN" altLang="en-US" sz="2800" b="1" dirty="0">
                <a:solidFill>
                  <a:srgbClr val="000000"/>
                </a:solidFill>
              </a:rPr>
              <a:t>列表标签</a:t>
            </a:r>
            <a:endParaRPr lang="en-US" altLang="zh-CN" sz="2800" b="1" dirty="0">
              <a:solidFill>
                <a:srgbClr val="000000"/>
              </a:solidFill>
            </a:endParaRPr>
          </a:p>
          <a:p>
            <a:pPr marL="0" indent="0">
              <a:buNone/>
            </a:pPr>
            <a:r>
              <a:rPr lang="zh-CN" altLang="en-US" sz="2800" b="1" dirty="0">
                <a:solidFill>
                  <a:srgbClr val="0033CC"/>
                </a:solidFill>
              </a:rPr>
              <a:t>（</a:t>
            </a:r>
            <a:r>
              <a:rPr lang="en-US" altLang="zh-CN" sz="2800" b="1" dirty="0">
                <a:solidFill>
                  <a:srgbClr val="0033CC"/>
                </a:solidFill>
              </a:rPr>
              <a:t>2</a:t>
            </a:r>
            <a:r>
              <a:rPr lang="zh-CN" altLang="en-US" sz="2800" b="1" dirty="0">
                <a:solidFill>
                  <a:srgbClr val="0033CC"/>
                </a:solidFill>
              </a:rPr>
              <a:t>）无序列表标签：</a:t>
            </a:r>
            <a:r>
              <a:rPr lang="en-US" altLang="zh-CN" sz="2800" b="1" dirty="0">
                <a:solidFill>
                  <a:srgbClr val="0033CC"/>
                </a:solidFill>
              </a:rPr>
              <a:t>&lt;ul&gt;&lt;/ul&gt;</a:t>
            </a:r>
            <a:endParaRPr lang="en-US" altLang="zh-CN" sz="2800" b="1" dirty="0">
              <a:solidFill>
                <a:srgbClr val="0033CC"/>
              </a:solidFill>
            </a:endParaRPr>
          </a:p>
          <a:p>
            <a:pPr marL="0" indent="0">
              <a:buNone/>
            </a:pPr>
            <a:r>
              <a:rPr lang="zh-CN" altLang="en-US" sz="2400" dirty="0">
                <a:solidFill>
                  <a:srgbClr val="000000"/>
                </a:solidFill>
              </a:rPr>
              <a:t>格式：</a:t>
            </a:r>
            <a:r>
              <a:rPr lang="en-US" altLang="zh-CN" sz="2400" dirty="0">
                <a:solidFill>
                  <a:srgbClr val="000000"/>
                </a:solidFill>
              </a:rPr>
              <a:t>&lt;ul type="</a:t>
            </a:r>
            <a:r>
              <a:rPr lang="zh-CN" altLang="en-US" sz="2400" dirty="0">
                <a:solidFill>
                  <a:srgbClr val="000000"/>
                </a:solidFill>
              </a:rPr>
              <a:t>类型样式</a:t>
            </a:r>
            <a:r>
              <a:rPr lang="en-US" altLang="zh-CN" sz="2400" dirty="0">
                <a:solidFill>
                  <a:srgbClr val="000000"/>
                </a:solidFill>
              </a:rPr>
              <a:t>"&gt;</a:t>
            </a:r>
            <a:endParaRPr lang="en-US" altLang="zh-CN" sz="2400" dirty="0">
              <a:solidFill>
                <a:srgbClr val="000000"/>
              </a:solidFill>
            </a:endParaRPr>
          </a:p>
          <a:p>
            <a:pPr marL="0" indent="0">
              <a:buNone/>
            </a:pPr>
            <a:r>
              <a:rPr lang="en-US" altLang="zh-CN" sz="2400" dirty="0">
                <a:solidFill>
                  <a:srgbClr val="000000"/>
                </a:solidFill>
              </a:rPr>
              <a:t>                &lt;li&gt;…….&lt;/li&gt;</a:t>
            </a:r>
            <a:endParaRPr lang="en-US" altLang="zh-CN" sz="2400" dirty="0">
              <a:solidFill>
                <a:srgbClr val="000000"/>
              </a:solidFill>
            </a:endParaRPr>
          </a:p>
          <a:p>
            <a:pPr marL="0" indent="0">
              <a:buNone/>
            </a:pPr>
            <a:r>
              <a:rPr lang="en-US" altLang="zh-CN" sz="2400" dirty="0">
                <a:solidFill>
                  <a:srgbClr val="000000"/>
                </a:solidFill>
              </a:rPr>
              <a:t>                &lt;li&gt;……&lt;/li&gt;</a:t>
            </a:r>
            <a:endParaRPr lang="en-US" altLang="zh-CN" sz="2400" dirty="0">
              <a:solidFill>
                <a:srgbClr val="000000"/>
              </a:solidFill>
            </a:endParaRPr>
          </a:p>
          <a:p>
            <a:pPr marL="0" indent="0">
              <a:buNone/>
            </a:pPr>
            <a:r>
              <a:rPr lang="en-US" altLang="zh-CN" sz="2400" dirty="0">
                <a:solidFill>
                  <a:srgbClr val="000000"/>
                </a:solidFill>
              </a:rPr>
              <a:t>                 …………..</a:t>
            </a:r>
            <a:endParaRPr lang="en-US" altLang="zh-CN" sz="2400" dirty="0">
              <a:solidFill>
                <a:srgbClr val="000000"/>
              </a:solidFill>
            </a:endParaRPr>
          </a:p>
          <a:p>
            <a:pPr marL="0" indent="0">
              <a:buNone/>
            </a:pPr>
            <a:r>
              <a:rPr lang="en-US" altLang="zh-CN" sz="2400" dirty="0">
                <a:solidFill>
                  <a:srgbClr val="000000"/>
                </a:solidFill>
              </a:rPr>
              <a:t>           &lt;/ul&gt;</a:t>
            </a:r>
            <a:endParaRPr lang="en-US" altLang="zh-CN" sz="2400" dirty="0">
              <a:solidFill>
                <a:srgbClr val="000000"/>
              </a:solidFill>
            </a:endParaRPr>
          </a:p>
          <a:p>
            <a:pPr marL="0" indent="0">
              <a:buNone/>
            </a:pPr>
            <a:r>
              <a:rPr lang="zh-CN" altLang="en-US" sz="2400" dirty="0">
                <a:solidFill>
                  <a:srgbClr val="000000"/>
                </a:solidFill>
              </a:rPr>
              <a:t>其中：属性</a:t>
            </a:r>
            <a:r>
              <a:rPr lang="en-US" altLang="zh-CN" sz="2400" dirty="0">
                <a:solidFill>
                  <a:srgbClr val="000000"/>
                </a:solidFill>
              </a:rPr>
              <a:t>type</a:t>
            </a:r>
            <a:r>
              <a:rPr lang="zh-CN" altLang="en-US" sz="2400" dirty="0">
                <a:solidFill>
                  <a:srgbClr val="000000"/>
                </a:solidFill>
              </a:rPr>
              <a:t>指定列表项前的项目符号的样式，其取值为</a:t>
            </a:r>
            <a:endParaRPr lang="en-US" altLang="zh-CN" sz="2400" dirty="0">
              <a:solidFill>
                <a:srgbClr val="000000"/>
              </a:solidFill>
            </a:endParaRPr>
          </a:p>
          <a:p>
            <a:pPr marL="0" indent="0">
              <a:buNone/>
            </a:pPr>
            <a:r>
              <a:rPr lang="en-US" altLang="zh-CN" sz="2400" dirty="0">
                <a:solidFill>
                  <a:srgbClr val="000000"/>
                </a:solidFill>
              </a:rPr>
              <a:t>  disc</a:t>
            </a:r>
            <a:r>
              <a:rPr lang="zh-CN" altLang="en-US" sz="2400" dirty="0">
                <a:solidFill>
                  <a:srgbClr val="000000"/>
                </a:solidFill>
              </a:rPr>
              <a:t>：实心圆点（默认值）；</a:t>
            </a:r>
            <a:endParaRPr lang="en-US" altLang="zh-CN" sz="2400" dirty="0">
              <a:solidFill>
                <a:srgbClr val="000000"/>
              </a:solidFill>
            </a:endParaRPr>
          </a:p>
          <a:p>
            <a:pPr marL="0" indent="0">
              <a:buNone/>
            </a:pPr>
            <a:r>
              <a:rPr lang="en-US" altLang="zh-CN" sz="2400" dirty="0">
                <a:solidFill>
                  <a:srgbClr val="000000"/>
                </a:solidFill>
              </a:rPr>
              <a:t>  circle</a:t>
            </a:r>
            <a:r>
              <a:rPr lang="zh-CN" altLang="en-US" sz="2400" dirty="0">
                <a:solidFill>
                  <a:srgbClr val="000000"/>
                </a:solidFill>
              </a:rPr>
              <a:t>：空心圆点；</a:t>
            </a:r>
            <a:endParaRPr lang="en-US" altLang="zh-CN" sz="2400" dirty="0">
              <a:solidFill>
                <a:srgbClr val="000000"/>
              </a:solidFill>
            </a:endParaRPr>
          </a:p>
          <a:p>
            <a:pPr marL="0" indent="0">
              <a:buNone/>
            </a:pPr>
            <a:r>
              <a:rPr lang="en-US" altLang="zh-CN" sz="2400" dirty="0">
                <a:solidFill>
                  <a:srgbClr val="000000"/>
                </a:solidFill>
              </a:rPr>
              <a:t>  square</a:t>
            </a:r>
            <a:r>
              <a:rPr lang="zh-CN" altLang="en-US" sz="2400" dirty="0">
                <a:solidFill>
                  <a:srgbClr val="000000"/>
                </a:solidFill>
              </a:rPr>
              <a:t>：实心方块。</a:t>
            </a:r>
            <a:endParaRPr lang="zh-CN" altLang="en-US" sz="2400" dirty="0">
              <a:solidFill>
                <a:srgbClr val="000000"/>
              </a:solidFill>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6866" name="内容占位符 2"/>
          <p:cNvSpPr>
            <a:spLocks noGrp="1"/>
          </p:cNvSpPr>
          <p:nvPr>
            <p:ph idx="1"/>
          </p:nvPr>
        </p:nvSpPr>
        <p:spPr>
          <a:xfrm>
            <a:off x="107950" y="1125538"/>
            <a:ext cx="8928100" cy="1582737"/>
          </a:xfrm>
        </p:spPr>
        <p:txBody>
          <a:bodyPr vert="horz" wrap="square" lIns="91440" tIns="45720" rIns="91440" bIns="45720" anchor="t" anchorCtr="0"/>
          <a:p>
            <a:pPr marL="0" indent="0">
              <a:buNone/>
            </a:pPr>
            <a:r>
              <a:rPr lang="en-US" altLang="zh-CN" sz="2800" b="1" dirty="0">
                <a:solidFill>
                  <a:srgbClr val="000000"/>
                </a:solidFill>
              </a:rPr>
              <a:t>3. </a:t>
            </a:r>
            <a:r>
              <a:rPr lang="zh-CN" altLang="en-US" sz="2800" b="1" dirty="0">
                <a:solidFill>
                  <a:srgbClr val="000000"/>
                </a:solidFill>
              </a:rPr>
              <a:t>列表标签</a:t>
            </a:r>
            <a:endParaRPr lang="en-US" altLang="zh-CN" sz="2800" b="1" dirty="0">
              <a:solidFill>
                <a:srgbClr val="000000"/>
              </a:solidFill>
            </a:endParaRPr>
          </a:p>
          <a:p>
            <a:pPr marL="0" indent="0">
              <a:buNone/>
            </a:pPr>
            <a:r>
              <a:rPr lang="en-US" altLang="zh-CN" sz="2800" dirty="0">
                <a:solidFill>
                  <a:srgbClr val="000000"/>
                </a:solidFill>
              </a:rPr>
              <a:t>【</a:t>
            </a:r>
            <a:r>
              <a:rPr lang="zh-CN" altLang="en-US" sz="2800" dirty="0">
                <a:solidFill>
                  <a:srgbClr val="000000"/>
                </a:solidFill>
              </a:rPr>
              <a:t>例</a:t>
            </a:r>
            <a:r>
              <a:rPr lang="en-US" altLang="zh-CN" sz="2800" dirty="0">
                <a:solidFill>
                  <a:srgbClr val="000000"/>
                </a:solidFill>
              </a:rPr>
              <a:t>2-3】</a:t>
            </a:r>
            <a:r>
              <a:rPr lang="zh-CN" altLang="en-US" sz="2800" dirty="0">
                <a:solidFill>
                  <a:srgbClr val="000000"/>
                </a:solidFill>
              </a:rPr>
              <a:t>有序列表与无序列表应用示例，设计下图所示的运行界面。</a:t>
            </a:r>
            <a:endParaRPr lang="en-US" altLang="zh-CN" sz="2800" b="1" dirty="0">
              <a:solidFill>
                <a:srgbClr val="000000"/>
              </a:solidFill>
            </a:endParaRPr>
          </a:p>
        </p:txBody>
      </p:sp>
      <p:pic>
        <p:nvPicPr>
          <p:cNvPr id="5" name="图片 4"/>
          <p:cNvPicPr>
            <a:picLocks noChangeAspect="1"/>
          </p:cNvPicPr>
          <p:nvPr/>
        </p:nvPicPr>
        <p:blipFill>
          <a:blip r:embed="rId1"/>
          <a:stretch>
            <a:fillRect/>
          </a:stretch>
        </p:blipFill>
        <p:spPr>
          <a:xfrm>
            <a:off x="1403350" y="2679700"/>
            <a:ext cx="6651625" cy="3978275"/>
          </a:xfrm>
          <a:prstGeom prst="rect">
            <a:avLst/>
          </a:prstGeom>
          <a:effectLst>
            <a:outerShdw blurRad="63500" sx="102000" sy="102000" algn="ctr" rotWithShape="0">
              <a:prstClr val="black">
                <a:alpha val="40000"/>
              </a:prstClr>
            </a:outerShdw>
          </a:effec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789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4.</a:t>
            </a:r>
            <a:r>
              <a:rPr lang="zh-CN" altLang="en-US" sz="2800" b="1" dirty="0">
                <a:solidFill>
                  <a:srgbClr val="000000"/>
                </a:solidFill>
              </a:rPr>
              <a:t> 超链接标签</a:t>
            </a:r>
            <a:endParaRPr lang="en-US" altLang="zh-CN" sz="2800" b="1" dirty="0">
              <a:solidFill>
                <a:srgbClr val="000000"/>
              </a:solidFill>
            </a:endParaRPr>
          </a:p>
          <a:p>
            <a:pPr marL="0" indent="0">
              <a:buNone/>
            </a:pPr>
            <a:r>
              <a:rPr lang="zh-CN" altLang="en-US" sz="2600" b="1" dirty="0">
                <a:solidFill>
                  <a:srgbClr val="000000"/>
                </a:solidFill>
              </a:rPr>
              <a:t>    </a:t>
            </a:r>
            <a:r>
              <a:rPr lang="zh-CN" altLang="en-US" sz="2600" dirty="0">
                <a:solidFill>
                  <a:srgbClr val="000000"/>
                </a:solidFill>
                <a:latin typeface="Times New Roman" panose="02020603050405020304" pitchFamily="18" charset="0"/>
              </a:rPr>
              <a:t>超链接是指从一个对象指向另一个对象的指针，它可以是网页中的一段文字也可以是一张图片。实现从一个页面到另一个页面的跳转。</a:t>
            </a:r>
            <a:endParaRPr lang="en-US" altLang="zh-CN" sz="2600" dirty="0">
              <a:solidFill>
                <a:srgbClr val="000000"/>
              </a:solidFill>
              <a:latin typeface="Times New Roman" panose="02020603050405020304" pitchFamily="18" charset="0"/>
            </a:endParaRPr>
          </a:p>
          <a:p>
            <a:pPr marL="0" indent="0">
              <a:buNone/>
            </a:pPr>
            <a:endParaRPr lang="zh-CN" altLang="en-US" sz="2600" dirty="0">
              <a:solidFill>
                <a:srgbClr val="000000"/>
              </a:solidFill>
              <a:latin typeface="Times New Roman" panose="02020603050405020304" pitchFamily="18" charset="0"/>
            </a:endParaRPr>
          </a:p>
          <a:p>
            <a:pPr marL="0" indent="0">
              <a:buNone/>
            </a:pPr>
            <a:r>
              <a:rPr lang="zh-CN" altLang="en-US" sz="2600" dirty="0">
                <a:solidFill>
                  <a:srgbClr val="000000"/>
                </a:solidFill>
                <a:latin typeface="Times New Roman" panose="02020603050405020304" pitchFamily="18" charset="0"/>
              </a:rPr>
              <a:t>格式：</a:t>
            </a:r>
            <a:endParaRPr lang="zh-CN" altLang="en-US" sz="2600" dirty="0">
              <a:solidFill>
                <a:srgbClr val="000000"/>
              </a:solidFill>
              <a:latin typeface="Times New Roman" panose="02020603050405020304" pitchFamily="18" charset="0"/>
            </a:endParaRPr>
          </a:p>
          <a:p>
            <a:pPr marL="0" indent="0">
              <a:buNone/>
            </a:pPr>
            <a:r>
              <a:rPr lang="en-US" altLang="zh-CN" sz="2600" dirty="0">
                <a:solidFill>
                  <a:srgbClr val="000000"/>
                </a:solidFill>
                <a:latin typeface="Times New Roman" panose="02020603050405020304" pitchFamily="18" charset="0"/>
              </a:rPr>
              <a:t>   </a:t>
            </a:r>
            <a:r>
              <a:rPr lang="en-US" altLang="zh-CN" sz="2600" dirty="0">
                <a:solidFill>
                  <a:srgbClr val="FF0000"/>
                </a:solidFill>
                <a:latin typeface="Times New Roman" panose="02020603050405020304" pitchFamily="18" charset="0"/>
              </a:rPr>
              <a:t>&lt;a href=“url”</a:t>
            </a:r>
            <a:r>
              <a:rPr lang="zh-CN" altLang="en-US" sz="2600" dirty="0">
                <a:solidFill>
                  <a:srgbClr val="FF0000"/>
                </a:solidFill>
                <a:latin typeface="Times New Roman" panose="02020603050405020304" pitchFamily="18" charset="0"/>
              </a:rPr>
              <a:t> </a:t>
            </a:r>
            <a:r>
              <a:rPr lang="en-US" altLang="zh-CN" sz="2600" dirty="0">
                <a:solidFill>
                  <a:srgbClr val="FF0000"/>
                </a:solidFill>
                <a:latin typeface="Times New Roman" panose="02020603050405020304" pitchFamily="18" charset="0"/>
              </a:rPr>
              <a:t>target=“</a:t>
            </a:r>
            <a:r>
              <a:rPr lang="zh-CN" altLang="en-US" sz="2600" dirty="0">
                <a:solidFill>
                  <a:srgbClr val="FF0000"/>
                </a:solidFill>
                <a:latin typeface="Times New Roman" panose="02020603050405020304" pitchFamily="18" charset="0"/>
              </a:rPr>
              <a:t>目标框架值</a:t>
            </a:r>
            <a:r>
              <a:rPr lang="en-US" altLang="zh-CN" sz="2600" dirty="0">
                <a:solidFill>
                  <a:srgbClr val="FF0000"/>
                </a:solidFill>
                <a:latin typeface="Times New Roman" panose="02020603050405020304" pitchFamily="18" charset="0"/>
              </a:rPr>
              <a:t>”&gt;</a:t>
            </a:r>
            <a:r>
              <a:rPr lang="zh-CN" altLang="en-US" sz="2600" dirty="0">
                <a:solidFill>
                  <a:srgbClr val="000000"/>
                </a:solidFill>
                <a:latin typeface="Times New Roman" panose="02020603050405020304" pitchFamily="18" charset="0"/>
              </a:rPr>
              <a:t>超链接名称或图片</a:t>
            </a:r>
            <a:r>
              <a:rPr lang="en-US" altLang="zh-CN" sz="2600" dirty="0">
                <a:solidFill>
                  <a:srgbClr val="FF0000"/>
                </a:solidFill>
                <a:latin typeface="Times New Roman" panose="02020603050405020304" pitchFamily="18" charset="0"/>
              </a:rPr>
              <a:t>&lt;/a&gt;</a:t>
            </a:r>
            <a:endParaRPr lang="en-US" altLang="zh-CN" sz="2600" dirty="0">
              <a:solidFill>
                <a:srgbClr val="FF0000"/>
              </a:solidFill>
              <a:latin typeface="Times New Roman" panose="02020603050405020304" pitchFamily="18" charset="0"/>
            </a:endParaRPr>
          </a:p>
          <a:p>
            <a:pPr marL="0" indent="0">
              <a:buNone/>
            </a:pPr>
            <a:r>
              <a:rPr lang="zh-CN" altLang="en-US" sz="2600" dirty="0">
                <a:solidFill>
                  <a:srgbClr val="000000"/>
                </a:solidFill>
                <a:latin typeface="Times New Roman" panose="02020603050405020304" pitchFamily="18" charset="0"/>
              </a:rPr>
              <a:t>其中：</a:t>
            </a:r>
            <a:endParaRPr lang="en-US" altLang="zh-CN" sz="2600" dirty="0">
              <a:solidFill>
                <a:srgbClr val="000000"/>
              </a:solidFill>
              <a:latin typeface="Times New Roman" panose="02020603050405020304" pitchFamily="18" charset="0"/>
            </a:endParaRPr>
          </a:p>
          <a:p>
            <a:pPr marL="0" indent="0">
              <a:buNone/>
            </a:pPr>
            <a:r>
              <a:rPr lang="en-US" altLang="zh-CN" sz="2600" dirty="0">
                <a:solidFill>
                  <a:srgbClr val="000000"/>
                </a:solidFill>
                <a:latin typeface="Times New Roman" panose="02020603050405020304" pitchFamily="18" charset="0"/>
              </a:rPr>
              <a:t>         </a:t>
            </a:r>
            <a:r>
              <a:rPr lang="zh-CN" altLang="en-US" sz="2600" dirty="0">
                <a:solidFill>
                  <a:srgbClr val="000000"/>
                </a:solidFill>
                <a:latin typeface="Times New Roman" panose="02020603050405020304" pitchFamily="18" charset="0"/>
              </a:rPr>
              <a:t>属性</a:t>
            </a:r>
            <a:r>
              <a:rPr lang="en-US" altLang="zh-CN" sz="2600" dirty="0">
                <a:solidFill>
                  <a:srgbClr val="000000"/>
                </a:solidFill>
                <a:latin typeface="Times New Roman" panose="02020603050405020304" pitchFamily="18" charset="0"/>
              </a:rPr>
              <a:t>href</a:t>
            </a:r>
            <a:r>
              <a:rPr lang="zh-CN" altLang="en-US" sz="2600" dirty="0">
                <a:solidFill>
                  <a:srgbClr val="000000"/>
                </a:solidFill>
                <a:latin typeface="Times New Roman" panose="02020603050405020304" pitchFamily="18" charset="0"/>
              </a:rPr>
              <a:t>用于指定链接的目标（另一个网页的路径）</a:t>
            </a:r>
            <a:endParaRPr lang="zh-CN" altLang="en-US" dirty="0">
              <a:latin typeface="Times New Roman" panose="02020603050405020304" pitchFamily="18"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8914"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5. </a:t>
            </a:r>
            <a:r>
              <a:rPr lang="zh-CN" altLang="en-US" sz="2800" b="1" dirty="0">
                <a:solidFill>
                  <a:srgbClr val="000000"/>
                </a:solidFill>
              </a:rPr>
              <a:t>图像和动画标签</a:t>
            </a:r>
            <a:endParaRPr lang="zh-CN" altLang="en-US" sz="2800" b="1" dirty="0">
              <a:solidFill>
                <a:srgbClr val="000000"/>
              </a:solidFill>
            </a:endParaRPr>
          </a:p>
          <a:p>
            <a:pPr marL="0" indent="0">
              <a:buNone/>
            </a:pPr>
            <a:r>
              <a:rPr lang="zh-CN" altLang="en-US" sz="2800" dirty="0">
                <a:solidFill>
                  <a:srgbClr val="000000"/>
                </a:solidFill>
              </a:rPr>
              <a:t>格式：</a:t>
            </a:r>
            <a:endParaRPr lang="zh-CN" altLang="en-US" sz="2800" dirty="0">
              <a:solidFill>
                <a:srgbClr val="000000"/>
              </a:solidFill>
            </a:endParaRPr>
          </a:p>
          <a:p>
            <a:pPr marL="0" indent="0">
              <a:buNone/>
            </a:pPr>
            <a:r>
              <a:rPr lang="en-US" altLang="zh-CN" sz="2800" dirty="0">
                <a:solidFill>
                  <a:srgbClr val="000000"/>
                </a:solidFill>
              </a:rPr>
              <a:t>            </a:t>
            </a:r>
            <a:r>
              <a:rPr lang="en-US" altLang="zh-CN" sz="2800" dirty="0">
                <a:solidFill>
                  <a:srgbClr val="FF0000"/>
                </a:solidFill>
              </a:rPr>
              <a:t>&lt;img src="url" alt =“text" height="" width =""&gt;</a:t>
            </a:r>
            <a:endParaRPr lang="en-US" altLang="zh-CN" sz="2800" dirty="0">
              <a:solidFill>
                <a:srgbClr val="FF0000"/>
              </a:solidFill>
            </a:endParaRPr>
          </a:p>
          <a:p>
            <a:pPr marL="0" indent="0">
              <a:buNone/>
            </a:pPr>
            <a:r>
              <a:rPr lang="zh-CN" altLang="en-US" sz="2800" dirty="0">
                <a:solidFill>
                  <a:srgbClr val="000000"/>
                </a:solidFill>
              </a:rPr>
              <a:t>其中：</a:t>
            </a:r>
            <a:endParaRPr lang="en-US" altLang="zh-CN" sz="2800" dirty="0">
              <a:solidFill>
                <a:srgbClr val="000000"/>
              </a:solidFill>
            </a:endParaRPr>
          </a:p>
          <a:p>
            <a:pPr marL="0" indent="0">
              <a:buNone/>
            </a:pPr>
            <a:r>
              <a:rPr lang="zh-CN" altLang="en-US" sz="2800" dirty="0">
                <a:solidFill>
                  <a:srgbClr val="000000"/>
                </a:solidFill>
              </a:rPr>
              <a:t>        属性</a:t>
            </a:r>
            <a:r>
              <a:rPr lang="en-US" altLang="zh-CN" sz="2800" dirty="0">
                <a:solidFill>
                  <a:srgbClr val="000000"/>
                </a:solidFill>
              </a:rPr>
              <a:t>src</a:t>
            </a:r>
            <a:r>
              <a:rPr lang="zh-CN" altLang="en-US" sz="2800" dirty="0">
                <a:solidFill>
                  <a:srgbClr val="000000"/>
                </a:solidFill>
              </a:rPr>
              <a:t>：指定图像源的</a:t>
            </a:r>
            <a:r>
              <a:rPr lang="en-US" altLang="zh-CN" sz="2800" dirty="0">
                <a:solidFill>
                  <a:srgbClr val="000000"/>
                </a:solidFill>
              </a:rPr>
              <a:t>URL</a:t>
            </a:r>
            <a:r>
              <a:rPr lang="zh-CN" altLang="en-US" sz="2800" dirty="0">
                <a:solidFill>
                  <a:srgbClr val="000000"/>
                </a:solidFill>
              </a:rPr>
              <a:t>路径</a:t>
            </a:r>
            <a:endParaRPr lang="en-US" altLang="zh-CN" sz="2800" dirty="0">
              <a:solidFill>
                <a:srgbClr val="000000"/>
              </a:solidFill>
            </a:endParaRPr>
          </a:p>
          <a:p>
            <a:pPr marL="0" indent="0">
              <a:buNone/>
            </a:pPr>
            <a:r>
              <a:rPr lang="en-US" altLang="zh-CN" sz="2800" dirty="0">
                <a:solidFill>
                  <a:srgbClr val="000000"/>
                </a:solidFill>
              </a:rPr>
              <a:t>               alt</a:t>
            </a:r>
            <a:r>
              <a:rPr lang="zh-CN" altLang="en-US" sz="2800" dirty="0">
                <a:solidFill>
                  <a:srgbClr val="000000"/>
                </a:solidFill>
              </a:rPr>
              <a:t>：替代文本；</a:t>
            </a:r>
            <a:endParaRPr lang="en-US" altLang="zh-CN" sz="2800" dirty="0">
              <a:solidFill>
                <a:srgbClr val="000000"/>
              </a:solidFill>
            </a:endParaRPr>
          </a:p>
          <a:p>
            <a:pPr marL="0" indent="0">
              <a:buNone/>
            </a:pPr>
            <a:r>
              <a:rPr lang="en-US" altLang="zh-CN" sz="2800" dirty="0">
                <a:solidFill>
                  <a:srgbClr val="000000"/>
                </a:solidFill>
              </a:rPr>
              <a:t>               height</a:t>
            </a:r>
            <a:r>
              <a:rPr lang="zh-CN" altLang="en-US" sz="2800" dirty="0">
                <a:solidFill>
                  <a:srgbClr val="000000"/>
                </a:solidFill>
              </a:rPr>
              <a:t>：图片的高度；</a:t>
            </a:r>
            <a:endParaRPr lang="en-US" altLang="zh-CN" sz="2800" dirty="0">
              <a:solidFill>
                <a:srgbClr val="000000"/>
              </a:solidFill>
            </a:endParaRPr>
          </a:p>
          <a:p>
            <a:pPr marL="0" indent="0">
              <a:buNone/>
            </a:pPr>
            <a:r>
              <a:rPr lang="en-US" altLang="zh-CN" sz="2800" dirty="0">
                <a:solidFill>
                  <a:srgbClr val="000000"/>
                </a:solidFill>
              </a:rPr>
              <a:t>               width</a:t>
            </a:r>
            <a:r>
              <a:rPr lang="zh-CN" altLang="en-US" sz="2800" dirty="0">
                <a:solidFill>
                  <a:srgbClr val="000000"/>
                </a:solidFill>
              </a:rPr>
              <a:t>：图片的宽度。</a:t>
            </a:r>
            <a:endParaRPr lang="zh-CN" altLang="en-US" sz="2800" dirty="0">
              <a:solidFill>
                <a:srgbClr val="000000"/>
              </a:solidFill>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39938" name="内容占位符 2"/>
          <p:cNvSpPr>
            <a:spLocks noGrp="1"/>
          </p:cNvSpPr>
          <p:nvPr>
            <p:ph idx="1"/>
          </p:nvPr>
        </p:nvSpPr>
        <p:spPr>
          <a:xfrm>
            <a:off x="107950" y="1125538"/>
            <a:ext cx="8928100" cy="1943100"/>
          </a:xfrm>
        </p:spPr>
        <p:txBody>
          <a:bodyPr vert="horz" wrap="square" lIns="91440" tIns="45720" rIns="91440" bIns="45720" anchor="t" anchorCtr="0"/>
          <a:p>
            <a:pPr marL="0" indent="0">
              <a:buNone/>
            </a:pPr>
            <a:r>
              <a:rPr lang="en-US" altLang="zh-CN" sz="2800" b="1" dirty="0">
                <a:solidFill>
                  <a:srgbClr val="000000"/>
                </a:solidFill>
              </a:rPr>
              <a:t>5. </a:t>
            </a:r>
            <a:r>
              <a:rPr lang="zh-CN" altLang="en-US" sz="2800" b="1" dirty="0">
                <a:solidFill>
                  <a:srgbClr val="000000"/>
                </a:solidFill>
              </a:rPr>
              <a:t>图像和动画标签</a:t>
            </a:r>
            <a:endParaRPr lang="zh-CN" altLang="en-US" sz="2800" b="1" dirty="0">
              <a:solidFill>
                <a:srgbClr val="000000"/>
              </a:solidFill>
            </a:endParaRPr>
          </a:p>
          <a:p>
            <a:pPr marL="0" indent="0">
              <a:buNone/>
            </a:pPr>
            <a:r>
              <a:rPr lang="en-US" altLang="zh-CN" sz="2600" dirty="0">
                <a:solidFill>
                  <a:srgbClr val="000000"/>
                </a:solidFill>
              </a:rPr>
              <a:t>【</a:t>
            </a:r>
            <a:r>
              <a:rPr lang="zh-CN" altLang="en-US" sz="2600" dirty="0">
                <a:solidFill>
                  <a:srgbClr val="000000"/>
                </a:solidFill>
              </a:rPr>
              <a:t>例</a:t>
            </a:r>
            <a:r>
              <a:rPr lang="en-US" altLang="zh-CN" sz="2600" dirty="0">
                <a:solidFill>
                  <a:srgbClr val="000000"/>
                </a:solidFill>
              </a:rPr>
              <a:t>2-4】</a:t>
            </a:r>
            <a:r>
              <a:rPr lang="zh-CN" altLang="en-US" sz="2600" dirty="0">
                <a:solidFill>
                  <a:srgbClr val="000000"/>
                </a:solidFill>
              </a:rPr>
              <a:t>设计如图的页面（</a:t>
            </a:r>
            <a:r>
              <a:rPr lang="en-US" altLang="zh-CN" sz="2600" dirty="0">
                <a:solidFill>
                  <a:srgbClr val="000000"/>
                </a:solidFill>
              </a:rPr>
              <a:t>ch2_4.html</a:t>
            </a:r>
            <a:r>
              <a:rPr lang="zh-CN" altLang="en-US" sz="2600" dirty="0">
                <a:solidFill>
                  <a:srgbClr val="000000"/>
                </a:solidFill>
              </a:rPr>
              <a:t>），该页面中有超链接和图片链接，当单击其中之一（单击超链接或图片），都跳转到“北京信息科技大学首页”。</a:t>
            </a:r>
            <a:endParaRPr lang="en-US" altLang="zh-CN" sz="2600" dirty="0">
              <a:solidFill>
                <a:srgbClr val="000000"/>
              </a:solidFill>
            </a:endParaRPr>
          </a:p>
        </p:txBody>
      </p:sp>
      <p:pic>
        <p:nvPicPr>
          <p:cNvPr id="4" name="图片 3"/>
          <p:cNvPicPr>
            <a:picLocks noChangeAspect="1"/>
          </p:cNvPicPr>
          <p:nvPr/>
        </p:nvPicPr>
        <p:blipFill>
          <a:blip r:embed="rId1"/>
          <a:stretch>
            <a:fillRect/>
          </a:stretch>
        </p:blipFill>
        <p:spPr>
          <a:xfrm>
            <a:off x="120650" y="2924175"/>
            <a:ext cx="4537075" cy="3600450"/>
          </a:xfrm>
          <a:prstGeom prst="rect">
            <a:avLst/>
          </a:prstGeom>
          <a:effectLst>
            <a:outerShdw blurRad="63500" sx="102000" sy="102000" algn="ctr" rotWithShape="0">
              <a:prstClr val="black">
                <a:alpha val="40000"/>
              </a:prstClr>
            </a:outerShdw>
          </a:effectLst>
        </p:spPr>
      </p:pic>
      <p:pic>
        <p:nvPicPr>
          <p:cNvPr id="5" name="图片 4"/>
          <p:cNvPicPr>
            <a:picLocks noChangeAspect="1"/>
          </p:cNvPicPr>
          <p:nvPr/>
        </p:nvPicPr>
        <p:blipFill>
          <a:blip r:embed="rId2"/>
          <a:stretch>
            <a:fillRect/>
          </a:stretch>
        </p:blipFill>
        <p:spPr>
          <a:xfrm>
            <a:off x="4932363" y="3141663"/>
            <a:ext cx="3705225" cy="2947988"/>
          </a:xfrm>
          <a:prstGeom prst="rect">
            <a:avLst/>
          </a:prstGeom>
          <a:effectLst>
            <a:outerShdw blurRad="63500" sx="102000" sy="102000" algn="ctr" rotWithShape="0">
              <a:prstClr val="black">
                <a:alpha val="40000"/>
              </a:prstClr>
            </a:outerShdw>
          </a:effec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4096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6. </a:t>
            </a:r>
            <a:r>
              <a:rPr lang="zh-CN" altLang="en-US" sz="2800" b="1" dirty="0">
                <a:solidFill>
                  <a:srgbClr val="000000"/>
                </a:solidFill>
              </a:rPr>
              <a:t>定时刷新或跳转</a:t>
            </a:r>
            <a:endParaRPr lang="zh-CN" altLang="en-US" sz="2800" b="1"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1</a:t>
            </a:r>
            <a:r>
              <a:rPr lang="zh-CN" altLang="en-US" sz="2800" dirty="0">
                <a:solidFill>
                  <a:srgbClr val="0000FF"/>
                </a:solidFill>
              </a:rPr>
              <a:t>）定时自刷新</a:t>
            </a:r>
            <a:endParaRPr lang="en-US" altLang="zh-CN" sz="2800" dirty="0">
              <a:solidFill>
                <a:srgbClr val="0000FF"/>
              </a:solidFill>
            </a:endParaRPr>
          </a:p>
          <a:p>
            <a:pPr marL="0" indent="0">
              <a:buNone/>
            </a:pPr>
            <a:r>
              <a:rPr lang="zh-CN" altLang="en-US" sz="2400" dirty="0">
                <a:solidFill>
                  <a:srgbClr val="000000"/>
                </a:solidFill>
              </a:rPr>
              <a:t>基本语法：</a:t>
            </a:r>
            <a:endParaRPr lang="zh-CN" altLang="en-US" sz="2400" dirty="0">
              <a:solidFill>
                <a:srgbClr val="000000"/>
              </a:solidFill>
            </a:endParaRPr>
          </a:p>
          <a:p>
            <a:pPr marL="0" indent="0">
              <a:buNone/>
            </a:pPr>
            <a:r>
              <a:rPr lang="en-US" altLang="zh-CN" sz="2400" dirty="0">
                <a:solidFill>
                  <a:srgbClr val="000000"/>
                </a:solidFill>
              </a:rPr>
              <a:t>       </a:t>
            </a:r>
            <a:r>
              <a:rPr lang="en-US" altLang="zh-CN" sz="2400" dirty="0">
                <a:solidFill>
                  <a:srgbClr val="FF0000"/>
                </a:solidFill>
              </a:rPr>
              <a:t>&lt;meta http-equiv="refresh" content="1" /&gt;  </a:t>
            </a:r>
            <a:endParaRPr lang="en-US" altLang="zh-CN" sz="2400" dirty="0">
              <a:solidFill>
                <a:srgbClr val="FF0000"/>
              </a:solidFill>
            </a:endParaRPr>
          </a:p>
          <a:p>
            <a:pPr marL="0" indent="0">
              <a:buNone/>
            </a:pPr>
            <a:r>
              <a:rPr lang="zh-CN" altLang="en-US" sz="2400" dirty="0">
                <a:solidFill>
                  <a:srgbClr val="000000"/>
                </a:solidFill>
              </a:rPr>
              <a:t>该语句表示，页面每隔一秒刷新一次，其中属性</a:t>
            </a:r>
            <a:r>
              <a:rPr lang="en-US" altLang="zh-CN" sz="2400" dirty="0">
                <a:solidFill>
                  <a:srgbClr val="000000"/>
                </a:solidFill>
              </a:rPr>
              <a:t>content</a:t>
            </a:r>
            <a:r>
              <a:rPr lang="zh-CN" altLang="en-US" sz="2400" dirty="0">
                <a:solidFill>
                  <a:srgbClr val="000000"/>
                </a:solidFill>
              </a:rPr>
              <a:t>的值，代表间隔的时间。</a:t>
            </a:r>
            <a:endParaRPr lang="zh-CN" altLang="en-US" sz="2800"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2</a:t>
            </a:r>
            <a:r>
              <a:rPr lang="zh-CN" altLang="en-US" sz="2800" dirty="0">
                <a:solidFill>
                  <a:srgbClr val="0000FF"/>
                </a:solidFill>
              </a:rPr>
              <a:t>）定时自动跳转</a:t>
            </a:r>
            <a:endParaRPr lang="en-US" altLang="zh-CN" sz="2800" dirty="0">
              <a:solidFill>
                <a:srgbClr val="0000FF"/>
              </a:solidFill>
            </a:endParaRPr>
          </a:p>
          <a:p>
            <a:pPr marL="0" indent="0">
              <a:buNone/>
            </a:pPr>
            <a:r>
              <a:rPr lang="zh-CN" altLang="en-US" sz="2400" dirty="0">
                <a:solidFill>
                  <a:srgbClr val="000000"/>
                </a:solidFill>
              </a:rPr>
              <a:t>基本语法：</a:t>
            </a:r>
            <a:endParaRPr lang="zh-CN" altLang="en-US" sz="2400" dirty="0">
              <a:solidFill>
                <a:srgbClr val="000000"/>
              </a:solidFill>
            </a:endParaRPr>
          </a:p>
          <a:p>
            <a:pPr marL="0" indent="0">
              <a:buNone/>
            </a:pPr>
            <a:r>
              <a:rPr lang="en-US" altLang="zh-CN" sz="2400" dirty="0">
                <a:solidFill>
                  <a:srgbClr val="000000"/>
                </a:solidFill>
                <a:latin typeface="Times New Roman" panose="02020603050405020304" pitchFamily="18" charset="0"/>
              </a:rPr>
              <a:t>      &lt;meta http-equiv="refresh" content="3; url=https://www.bistu.edu.cn" /&gt;</a:t>
            </a:r>
            <a:endParaRPr lang="en-US" altLang="zh-CN" sz="2400" dirty="0">
              <a:solidFill>
                <a:srgbClr val="000000"/>
              </a:solidFill>
              <a:latin typeface="Times New Roman" panose="02020603050405020304" pitchFamily="18" charset="0"/>
            </a:endParaRPr>
          </a:p>
          <a:p>
            <a:pPr marL="0" indent="0">
              <a:buNone/>
            </a:pPr>
            <a:r>
              <a:rPr lang="zh-CN" altLang="en-US" sz="2400" dirty="0">
                <a:solidFill>
                  <a:srgbClr val="000000"/>
                </a:solidFill>
              </a:rPr>
              <a:t>    该语句表示，页面</a:t>
            </a:r>
            <a:r>
              <a:rPr lang="en-US" altLang="zh-CN" sz="2400" dirty="0">
                <a:solidFill>
                  <a:srgbClr val="000000"/>
                </a:solidFill>
              </a:rPr>
              <a:t>3</a:t>
            </a:r>
            <a:r>
              <a:rPr lang="zh-CN" altLang="en-US" sz="2400" dirty="0">
                <a:solidFill>
                  <a:srgbClr val="000000"/>
                </a:solidFill>
              </a:rPr>
              <a:t>秒后自动转到学校主页。</a:t>
            </a:r>
            <a:endParaRPr lang="zh-CN" altLang="en-US" sz="2400" dirty="0">
              <a:solidFill>
                <a:srgbClr val="000000"/>
              </a:solidFill>
            </a:endParaRPr>
          </a:p>
          <a:p>
            <a:pPr marL="0" indent="0">
              <a:buNone/>
            </a:pPr>
            <a:r>
              <a:rPr lang="zh-CN" altLang="en-US" sz="2400" dirty="0">
                <a:solidFill>
                  <a:srgbClr val="000000"/>
                </a:solidFill>
              </a:rPr>
              <a:t>     注意：上述标签一般放在</a:t>
            </a:r>
            <a:r>
              <a:rPr lang="en-US" altLang="zh-CN" sz="2400" dirty="0">
                <a:solidFill>
                  <a:srgbClr val="000000"/>
                </a:solidFill>
              </a:rPr>
              <a:t>head</a:t>
            </a:r>
            <a:r>
              <a:rPr lang="zh-CN" altLang="en-US" sz="2400" dirty="0">
                <a:solidFill>
                  <a:srgbClr val="000000"/>
                </a:solidFill>
              </a:rPr>
              <a:t>标签中</a:t>
            </a:r>
            <a:r>
              <a:rPr lang="zh-CN" altLang="en-US" sz="2800" dirty="0">
                <a:solidFill>
                  <a:srgbClr val="000000"/>
                </a:solidFill>
              </a:rPr>
              <a:t>。</a:t>
            </a:r>
            <a:endParaRPr lang="zh-CN" altLang="en-US" sz="2800" dirty="0">
              <a:solidFill>
                <a:srgbClr val="000000"/>
              </a:solidFill>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4198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7. </a:t>
            </a:r>
            <a:r>
              <a:rPr lang="zh-CN" altLang="en-US" sz="2800" b="1" dirty="0">
                <a:solidFill>
                  <a:srgbClr val="000000"/>
                </a:solidFill>
              </a:rPr>
              <a:t>表格</a:t>
            </a:r>
            <a:endParaRPr lang="en-US" altLang="zh-CN" sz="2800" b="1" dirty="0">
              <a:solidFill>
                <a:srgbClr val="000000"/>
              </a:solidFill>
            </a:endParaRPr>
          </a:p>
          <a:p>
            <a:pPr marL="0" indent="0">
              <a:buNone/>
            </a:pPr>
            <a:r>
              <a:rPr lang="zh-CN" altLang="en-US" sz="2400" dirty="0">
                <a:solidFill>
                  <a:srgbClr val="000000"/>
                </a:solidFill>
              </a:rPr>
              <a:t>表格由行、列、单元格组成，一个表格是由</a:t>
            </a:r>
            <a:r>
              <a:rPr lang="en-US" altLang="zh-CN" sz="2400" dirty="0">
                <a:solidFill>
                  <a:srgbClr val="000000"/>
                </a:solidFill>
              </a:rPr>
              <a:t>&lt;table&gt;</a:t>
            </a:r>
            <a:r>
              <a:rPr lang="zh-CN" altLang="en-US" sz="2400" dirty="0">
                <a:solidFill>
                  <a:srgbClr val="000000"/>
                </a:solidFill>
              </a:rPr>
              <a:t>、</a:t>
            </a:r>
            <a:r>
              <a:rPr lang="en-US" altLang="zh-CN" sz="2400" dirty="0">
                <a:solidFill>
                  <a:srgbClr val="000000"/>
                </a:solidFill>
              </a:rPr>
              <a:t>&lt;tr&gt;</a:t>
            </a:r>
            <a:r>
              <a:rPr lang="zh-CN" altLang="en-US" sz="2400" dirty="0">
                <a:solidFill>
                  <a:srgbClr val="000000"/>
                </a:solidFill>
              </a:rPr>
              <a:t>、</a:t>
            </a:r>
            <a:r>
              <a:rPr lang="en-US" altLang="zh-CN" sz="2400" dirty="0">
                <a:solidFill>
                  <a:srgbClr val="000000"/>
                </a:solidFill>
              </a:rPr>
              <a:t>&lt;td&gt;</a:t>
            </a:r>
            <a:r>
              <a:rPr lang="zh-CN" altLang="en-US" sz="2400" dirty="0">
                <a:solidFill>
                  <a:srgbClr val="000000"/>
                </a:solidFill>
              </a:rPr>
              <a:t>或</a:t>
            </a:r>
            <a:r>
              <a:rPr lang="en-US" altLang="zh-CN" sz="2400" dirty="0">
                <a:solidFill>
                  <a:srgbClr val="000000"/>
                </a:solidFill>
              </a:rPr>
              <a:t>&lt;th&gt;</a:t>
            </a:r>
            <a:r>
              <a:rPr lang="zh-CN" altLang="en-US" sz="2400" dirty="0">
                <a:solidFill>
                  <a:srgbClr val="000000"/>
                </a:solidFill>
              </a:rPr>
              <a:t>标签来定义的，分别表示表格、表格行、单元格。</a:t>
            </a:r>
            <a:endParaRPr lang="zh-CN" altLang="en-US" sz="2400" dirty="0">
              <a:solidFill>
                <a:srgbClr val="000000"/>
              </a:solidFill>
            </a:endParaRPr>
          </a:p>
          <a:p>
            <a:pPr marL="0" indent="0">
              <a:buNone/>
            </a:pPr>
            <a:endParaRPr lang="en-US" altLang="zh-CN" sz="2400"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1</a:t>
            </a:r>
            <a:r>
              <a:rPr lang="zh-CN" altLang="en-US" sz="2800" dirty="0">
                <a:solidFill>
                  <a:srgbClr val="0000FF"/>
                </a:solidFill>
              </a:rPr>
              <a:t>）基本语法</a:t>
            </a:r>
            <a:endParaRPr lang="zh-CN" altLang="en-US" sz="2800" dirty="0">
              <a:solidFill>
                <a:srgbClr val="0000FF"/>
              </a:solidFill>
            </a:endParaRPr>
          </a:p>
          <a:p>
            <a:pPr marL="0" indent="0">
              <a:buNone/>
            </a:pPr>
            <a:r>
              <a:rPr lang="en-US" altLang="zh-CN" sz="2400" dirty="0">
                <a:solidFill>
                  <a:srgbClr val="000000"/>
                </a:solidFill>
              </a:rPr>
              <a:t>&lt;table&gt;</a:t>
            </a:r>
            <a:endParaRPr lang="en-US" altLang="zh-CN" sz="2400" dirty="0">
              <a:solidFill>
                <a:srgbClr val="000000"/>
              </a:solidFill>
            </a:endParaRPr>
          </a:p>
          <a:p>
            <a:pPr marL="0" indent="0">
              <a:buNone/>
            </a:pPr>
            <a:r>
              <a:rPr lang="en-US" altLang="zh-CN" sz="2400" dirty="0">
                <a:solidFill>
                  <a:srgbClr val="000000"/>
                </a:solidFill>
              </a:rPr>
              <a:t>      &lt;caption&gt;</a:t>
            </a:r>
            <a:r>
              <a:rPr lang="zh-CN" altLang="en-US" sz="2400" dirty="0">
                <a:solidFill>
                  <a:srgbClr val="000000"/>
                </a:solidFill>
              </a:rPr>
              <a:t>表格标题</a:t>
            </a:r>
            <a:r>
              <a:rPr lang="en-US" altLang="zh-CN" sz="2400" dirty="0">
                <a:solidFill>
                  <a:srgbClr val="000000"/>
                </a:solidFill>
              </a:rPr>
              <a:t>&lt;/caption&gt;</a:t>
            </a:r>
            <a:endParaRPr lang="en-US" altLang="zh-CN" sz="2400" dirty="0">
              <a:solidFill>
                <a:srgbClr val="000000"/>
              </a:solidFill>
            </a:endParaRPr>
          </a:p>
          <a:p>
            <a:pPr marL="0" indent="0">
              <a:buNone/>
            </a:pPr>
            <a:r>
              <a:rPr lang="en-US" altLang="zh-CN" sz="2400" dirty="0">
                <a:solidFill>
                  <a:srgbClr val="000000"/>
                </a:solidFill>
              </a:rPr>
              <a:t>      &lt;tr&gt;&lt;th&gt;</a:t>
            </a:r>
            <a:r>
              <a:rPr lang="zh-CN" altLang="en-US" sz="2400" dirty="0">
                <a:solidFill>
                  <a:srgbClr val="000000"/>
                </a:solidFill>
              </a:rPr>
              <a:t>列名一</a:t>
            </a:r>
            <a:r>
              <a:rPr lang="en-US" altLang="zh-CN" sz="2400" dirty="0">
                <a:solidFill>
                  <a:srgbClr val="000000"/>
                </a:solidFill>
              </a:rPr>
              <a:t>&lt;/th&gt;&lt;th&gt;</a:t>
            </a:r>
            <a:r>
              <a:rPr lang="zh-CN" altLang="en-US" sz="2400" dirty="0">
                <a:solidFill>
                  <a:srgbClr val="000000"/>
                </a:solidFill>
              </a:rPr>
              <a:t>列名二</a:t>
            </a:r>
            <a:r>
              <a:rPr lang="en-US" altLang="zh-CN" sz="2400" dirty="0">
                <a:solidFill>
                  <a:srgbClr val="000000"/>
                </a:solidFill>
              </a:rPr>
              <a:t>&lt;/th&gt;…...&lt;/tr&gt;</a:t>
            </a:r>
            <a:endParaRPr lang="en-US" altLang="zh-CN" sz="2400" dirty="0">
              <a:solidFill>
                <a:srgbClr val="000000"/>
              </a:solidFill>
            </a:endParaRPr>
          </a:p>
          <a:p>
            <a:pPr marL="0" indent="0">
              <a:buNone/>
            </a:pPr>
            <a:r>
              <a:rPr lang="en-US" altLang="zh-CN" sz="2400" dirty="0">
                <a:solidFill>
                  <a:srgbClr val="000000"/>
                </a:solidFill>
              </a:rPr>
              <a:t>      &lt;tr&gt;&lt;td&gt;</a:t>
            </a:r>
            <a:r>
              <a:rPr lang="zh-CN" altLang="en-US" sz="2400" dirty="0">
                <a:solidFill>
                  <a:srgbClr val="000000"/>
                </a:solidFill>
              </a:rPr>
              <a:t>数据一</a:t>
            </a:r>
            <a:r>
              <a:rPr lang="en-US" altLang="zh-CN" sz="2400" dirty="0">
                <a:solidFill>
                  <a:srgbClr val="000000"/>
                </a:solidFill>
              </a:rPr>
              <a:t>&lt;/td&gt;&lt;td&gt;</a:t>
            </a:r>
            <a:r>
              <a:rPr lang="zh-CN" altLang="en-US" sz="2400" dirty="0">
                <a:solidFill>
                  <a:srgbClr val="000000"/>
                </a:solidFill>
              </a:rPr>
              <a:t>数据二</a:t>
            </a:r>
            <a:r>
              <a:rPr lang="en-US" altLang="zh-CN" sz="2400" dirty="0">
                <a:solidFill>
                  <a:srgbClr val="000000"/>
                </a:solidFill>
              </a:rPr>
              <a:t>&lt;/td&gt;…...&lt;/tr&gt;</a:t>
            </a:r>
            <a:endParaRPr lang="en-US" altLang="zh-CN" sz="2400" dirty="0">
              <a:solidFill>
                <a:srgbClr val="000000"/>
              </a:solidFill>
            </a:endParaRPr>
          </a:p>
          <a:p>
            <a:pPr marL="0" indent="0">
              <a:buNone/>
            </a:pPr>
            <a:r>
              <a:rPr lang="en-US" altLang="zh-CN" sz="2400" dirty="0">
                <a:solidFill>
                  <a:srgbClr val="000000"/>
                </a:solidFill>
              </a:rPr>
              <a:t>      ……</a:t>
            </a:r>
            <a:endParaRPr lang="en-US" altLang="zh-CN" sz="2400" dirty="0">
              <a:solidFill>
                <a:srgbClr val="000000"/>
              </a:solidFill>
            </a:endParaRPr>
          </a:p>
          <a:p>
            <a:pPr marL="0" indent="0">
              <a:buNone/>
            </a:pPr>
            <a:r>
              <a:rPr lang="en-US" altLang="zh-CN" sz="2400" dirty="0">
                <a:solidFill>
                  <a:srgbClr val="000000"/>
                </a:solidFill>
              </a:rPr>
              <a:t>&lt;/table&gt;</a:t>
            </a:r>
            <a:endParaRPr lang="en-US" altLang="zh-CN" sz="2400" dirty="0">
              <a:solidFill>
                <a:srgbClr val="000000"/>
              </a:solidFill>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43010" name="内容占位符 2"/>
          <p:cNvSpPr>
            <a:spLocks noGrp="1"/>
          </p:cNvSpPr>
          <p:nvPr>
            <p:ph idx="1"/>
          </p:nvPr>
        </p:nvSpPr>
        <p:spPr>
          <a:xfrm>
            <a:off x="107950" y="1125538"/>
            <a:ext cx="8928100" cy="1079500"/>
          </a:xfrm>
        </p:spPr>
        <p:txBody>
          <a:bodyPr vert="horz" wrap="square" lIns="91440" tIns="45720" rIns="91440" bIns="45720" anchor="t" anchorCtr="0"/>
          <a:p>
            <a:pPr marL="0" indent="0">
              <a:buNone/>
            </a:pPr>
            <a:r>
              <a:rPr lang="en-US" altLang="zh-CN" sz="2800" b="1" dirty="0">
                <a:solidFill>
                  <a:srgbClr val="000000"/>
                </a:solidFill>
              </a:rPr>
              <a:t>7. </a:t>
            </a:r>
            <a:r>
              <a:rPr lang="zh-CN" altLang="en-US" sz="2800" b="1" dirty="0">
                <a:solidFill>
                  <a:srgbClr val="000000"/>
                </a:solidFill>
              </a:rPr>
              <a:t>表格</a:t>
            </a:r>
            <a:endParaRPr lang="en-US" altLang="zh-CN" sz="2800" b="1"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2</a:t>
            </a:r>
            <a:r>
              <a:rPr lang="zh-CN" altLang="en-US" sz="2800" dirty="0">
                <a:solidFill>
                  <a:srgbClr val="0000FF"/>
                </a:solidFill>
              </a:rPr>
              <a:t>）表格属性（</a:t>
            </a:r>
            <a:r>
              <a:rPr lang="en-US" altLang="zh-CN" sz="2800" dirty="0">
                <a:solidFill>
                  <a:srgbClr val="0000FF"/>
                </a:solidFill>
              </a:rPr>
              <a:t>&lt;table&gt;</a:t>
            </a:r>
            <a:r>
              <a:rPr lang="zh-CN" altLang="en-US" sz="2800" dirty="0">
                <a:solidFill>
                  <a:srgbClr val="0000FF"/>
                </a:solidFill>
              </a:rPr>
              <a:t>属性）</a:t>
            </a:r>
            <a:endParaRPr lang="zh-CN" altLang="en-US" sz="2800" dirty="0">
              <a:solidFill>
                <a:srgbClr val="0000FF"/>
              </a:solidFill>
            </a:endParaRPr>
          </a:p>
          <a:p>
            <a:pPr marL="0" indent="0">
              <a:buNone/>
            </a:pPr>
            <a:endParaRPr lang="zh-CN" altLang="en-US" dirty="0"/>
          </a:p>
        </p:txBody>
      </p:sp>
      <p:graphicFrame>
        <p:nvGraphicFramePr>
          <p:cNvPr id="43011" name="表格 43010"/>
          <p:cNvGraphicFramePr/>
          <p:nvPr/>
        </p:nvGraphicFramePr>
        <p:xfrm>
          <a:off x="466725" y="2459038"/>
          <a:ext cx="8137525" cy="3606800"/>
        </p:xfrm>
        <a:graphic>
          <a:graphicData uri="http://schemas.openxmlformats.org/drawingml/2006/table">
            <a:tbl>
              <a:tblPr/>
              <a:tblGrid>
                <a:gridCol w="1416050"/>
                <a:gridCol w="2333625"/>
                <a:gridCol w="2312988"/>
                <a:gridCol w="2074862"/>
              </a:tblGrid>
              <a:tr h="6096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SzTx/>
                        <a:buNone/>
                      </a:pPr>
                      <a:r>
                        <a:rPr lang="zh-CN" altLang="zh-CN" sz="2000" dirty="0">
                          <a:latin typeface="Arial" panose="020B0604020202020204" pitchFamily="34" charset="0"/>
                          <a:ea typeface="黑体" panose="02010609060101010101" pitchFamily="49" charset="-122"/>
                        </a:rPr>
                        <a:t>属性</a:t>
                      </a:r>
                      <a:endParaRPr lang="zh-CN" altLang="zh-CN" sz="2000" dirty="0">
                        <a:latin typeface="Times New Roman" panose="02020603050405020304" pitchFamily="18" charset="0"/>
                        <a:ea typeface="宋体" panose="02010600030101010101" pitchFamily="2" charset="-122"/>
                      </a:endParaRPr>
                    </a:p>
                  </a:txBody>
                  <a:tcPr marL="68585" marR="68585" marT="0" marB="0" anchor="ctr" anchorCtr="0">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0955" algn="ctr" eaLnBrk="1" hangingPunct="1">
                        <a:spcBef>
                          <a:spcPts val="100"/>
                        </a:spcBef>
                        <a:spcAft>
                          <a:spcPts val="100"/>
                        </a:spcAft>
                        <a:buSzTx/>
                        <a:buNone/>
                      </a:pPr>
                      <a:r>
                        <a:rPr lang="zh-CN" altLang="zh-CN" sz="2000" dirty="0">
                          <a:latin typeface="Arial" panose="020B0604020202020204" pitchFamily="34" charset="0"/>
                          <a:ea typeface="黑体" panose="02010609060101010101" pitchFamily="49" charset="-122"/>
                        </a:rPr>
                        <a:t>用途</a:t>
                      </a:r>
                      <a:endParaRPr lang="zh-CN" altLang="zh-CN" sz="2000" dirty="0">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3175" algn="ctr" eaLnBrk="1" hangingPunct="1">
                        <a:spcBef>
                          <a:spcPts val="100"/>
                        </a:spcBef>
                        <a:spcAft>
                          <a:spcPts val="100"/>
                        </a:spcAft>
                        <a:buSzTx/>
                        <a:buNone/>
                      </a:pPr>
                      <a:r>
                        <a:rPr lang="zh-CN" altLang="zh-CN" sz="2000" dirty="0">
                          <a:latin typeface="Arial" panose="020B0604020202020204" pitchFamily="34" charset="0"/>
                          <a:ea typeface="黑体" panose="02010609060101010101" pitchFamily="49" charset="-122"/>
                        </a:rPr>
                        <a:t>属性</a:t>
                      </a:r>
                      <a:endParaRPr lang="zh-CN" altLang="zh-CN" sz="2000" dirty="0">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4130" algn="ctr" eaLnBrk="1" hangingPunct="1">
                        <a:spcBef>
                          <a:spcPts val="100"/>
                        </a:spcBef>
                        <a:spcAft>
                          <a:spcPts val="100"/>
                        </a:spcAft>
                        <a:buSzTx/>
                        <a:buNone/>
                      </a:pPr>
                      <a:r>
                        <a:rPr lang="zh-CN" altLang="zh-CN" sz="2000" dirty="0">
                          <a:latin typeface="Arial" panose="020B0604020202020204" pitchFamily="34" charset="0"/>
                          <a:ea typeface="黑体" panose="02010609060101010101" pitchFamily="49" charset="-122"/>
                        </a:rPr>
                        <a:t>用途</a:t>
                      </a:r>
                      <a:endParaRPr lang="zh-CN" altLang="zh-CN" sz="2000" dirty="0">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49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width</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0955"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表格宽度</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3175"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cellpadding</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4130"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边距</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49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height</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0955"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表格高度</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3175"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cellspacing</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4130"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间距</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49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align</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0955"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表格水平对齐方式</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3175"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bgcolor</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4130"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表格背景颜色</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493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border</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0955"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表格边框厚度</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3175" algn="ctr" eaLnBrk="1" hangingPunct="1">
                        <a:spcBef>
                          <a:spcPts val="100"/>
                        </a:spcBef>
                        <a:spcAft>
                          <a:spcPts val="100"/>
                        </a:spcAft>
                        <a:buSzTx/>
                        <a:buNone/>
                      </a:pPr>
                      <a:r>
                        <a:rPr lang="zh-CN" altLang="zh-CN" sz="2000" dirty="0">
                          <a:solidFill>
                            <a:srgbClr val="000000"/>
                          </a:solidFill>
                          <a:latin typeface="Times New Roman" panose="02020603050405020304" pitchFamily="18" charset="0"/>
                          <a:ea typeface="宋体" panose="02010600030101010101" pitchFamily="2" charset="-122"/>
                        </a:rPr>
                        <a:t>background</a:t>
                      </a:r>
                      <a:endParaRPr lang="zh-CN" altLang="zh-CN" sz="2000" dirty="0">
                        <a:solidFill>
                          <a:srgbClr val="000000"/>
                        </a:solidFill>
                        <a:latin typeface="Times New Roman" panose="02020603050405020304" pitchFamily="18" charset="0"/>
                        <a:ea typeface="Arial" panose="020B0604020202020204" pitchFamily="34"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4130" algn="ctr" eaLnBrk="1" hangingPunct="1">
                        <a:spcBef>
                          <a:spcPts val="100"/>
                        </a:spcBef>
                        <a:spcAft>
                          <a:spcPts val="100"/>
                        </a:spcAft>
                        <a:buSzTx/>
                        <a:buNone/>
                      </a:pPr>
                      <a:r>
                        <a:rPr lang="zh-CN" altLang="zh-CN" sz="2000" dirty="0">
                          <a:solidFill>
                            <a:srgbClr val="000000"/>
                          </a:solidFill>
                          <a:latin typeface="Arial" panose="020B0604020202020204" pitchFamily="34" charset="0"/>
                          <a:ea typeface="黑体" panose="02010609060101010101" pitchFamily="49" charset="-122"/>
                        </a:rPr>
                        <a:t>表格背景图像</a:t>
                      </a:r>
                      <a:endParaRPr lang="zh-CN" altLang="zh-CN" sz="2000" dirty="0">
                        <a:solidFill>
                          <a:srgbClr val="000000"/>
                        </a:solidFill>
                        <a:latin typeface="Times New Roman" panose="02020603050405020304" pitchFamily="18" charset="0"/>
                        <a:ea typeface="宋体" panose="02010600030101010101" pitchFamily="2" charset="-122"/>
                      </a:endParaRPr>
                    </a:p>
                  </a:txBody>
                  <a:tcPr marL="68585" marR="68585" marT="0" marB="0" anchor="ctr" anchorCtr="0">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2.1.2  HTML</a:t>
            </a:r>
            <a:r>
              <a:rPr lang="zh-CN" altLang="en-US" baseline="0" dirty="0">
                <a:latin typeface="Times New Roman" panose="02020603050405020304" pitchFamily="18" charset="0"/>
                <a:ea typeface="黑体" panose="02010609060101010101" pitchFamily="49" charset="-122"/>
                <a:cs typeface="+mj-cs"/>
              </a:rPr>
              <a:t>基本标签与使用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44034" name="内容占位符 2"/>
          <p:cNvSpPr>
            <a:spLocks noGrp="1"/>
          </p:cNvSpPr>
          <p:nvPr>
            <p:ph idx="1"/>
          </p:nvPr>
        </p:nvSpPr>
        <p:spPr>
          <a:xfrm>
            <a:off x="107950" y="1125538"/>
            <a:ext cx="8928100" cy="1439862"/>
          </a:xfrm>
        </p:spPr>
        <p:txBody>
          <a:bodyPr vert="horz" wrap="square" lIns="91440" tIns="45720" rIns="91440" bIns="45720" anchor="t" anchorCtr="0"/>
          <a:p>
            <a:pPr marL="0" indent="0">
              <a:buNone/>
            </a:pPr>
            <a:r>
              <a:rPr lang="en-US" altLang="zh-CN" sz="2800" b="1" dirty="0">
                <a:solidFill>
                  <a:srgbClr val="000000"/>
                </a:solidFill>
              </a:rPr>
              <a:t>7. </a:t>
            </a:r>
            <a:r>
              <a:rPr lang="zh-CN" altLang="en-US" sz="2800" b="1" dirty="0">
                <a:solidFill>
                  <a:srgbClr val="000000"/>
                </a:solidFill>
              </a:rPr>
              <a:t>表格</a:t>
            </a:r>
            <a:endParaRPr lang="en-US" altLang="zh-CN" sz="2800" b="1" dirty="0">
              <a:solidFill>
                <a:srgbClr val="000000"/>
              </a:solidFill>
            </a:endParaRPr>
          </a:p>
          <a:p>
            <a:pPr marL="0" indent="0">
              <a:buNone/>
            </a:pPr>
            <a:r>
              <a:rPr lang="en-US" altLang="zh-CN" sz="2800" dirty="0">
                <a:solidFill>
                  <a:srgbClr val="000000"/>
                </a:solidFill>
              </a:rPr>
              <a:t>【</a:t>
            </a:r>
            <a:r>
              <a:rPr lang="zh-CN" altLang="en-US" sz="2800" dirty="0">
                <a:solidFill>
                  <a:srgbClr val="000000"/>
                </a:solidFill>
              </a:rPr>
              <a:t>例</a:t>
            </a:r>
            <a:r>
              <a:rPr lang="en-US" altLang="zh-CN" sz="2800" dirty="0">
                <a:solidFill>
                  <a:srgbClr val="000000"/>
                </a:solidFill>
              </a:rPr>
              <a:t>2-5】</a:t>
            </a:r>
            <a:r>
              <a:rPr lang="zh-CN" altLang="en-US" sz="2800" dirty="0">
                <a:solidFill>
                  <a:srgbClr val="000000"/>
                </a:solidFill>
              </a:rPr>
              <a:t>设计如图所示的表格，该表格中有跨行、跨列单元格。</a:t>
            </a:r>
            <a:endParaRPr lang="zh-CN" altLang="en-US" dirty="0"/>
          </a:p>
        </p:txBody>
      </p:sp>
      <p:pic>
        <p:nvPicPr>
          <p:cNvPr id="4" name="图片 3"/>
          <p:cNvPicPr>
            <a:picLocks noChangeAspect="1"/>
          </p:cNvPicPr>
          <p:nvPr/>
        </p:nvPicPr>
        <p:blipFill rotWithShape="1">
          <a:blip r:embed="rId1"/>
          <a:srcRect b="25939"/>
          <a:stretch>
            <a:fillRect/>
          </a:stretch>
        </p:blipFill>
        <p:spPr>
          <a:xfrm>
            <a:off x="1403350" y="2781300"/>
            <a:ext cx="6483350" cy="3679825"/>
          </a:xfrm>
          <a:prstGeom prst="rect">
            <a:avLst/>
          </a:prstGeom>
          <a:effectLst>
            <a:outerShdw blurRad="63500" sx="102000" sy="102000" algn="ctr" rotWithShape="0">
              <a:prstClr val="black">
                <a:alpha val="40000"/>
              </a:prstClr>
            </a:outerShdw>
          </a:effec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2.1.3  HTML</a:t>
            </a:r>
            <a:r>
              <a:rPr lang="zh-CN" altLang="en-US" baseline="0" dirty="0">
                <a:latin typeface="Times New Roman" panose="02020603050405020304" pitchFamily="18" charset="0"/>
                <a:ea typeface="黑体" panose="02010609060101010101" pitchFamily="49" charset="-122"/>
                <a:cs typeface="+mj-cs"/>
              </a:rPr>
              <a:t>表单标签与表单设计</a:t>
            </a:r>
            <a:endParaRPr lang="zh-CN" altLang="en-US" baseline="0" dirty="0">
              <a:latin typeface="Times New Roman" panose="02020603050405020304" pitchFamily="18" charset="0"/>
              <a:ea typeface="黑体" panose="02010609060101010101" pitchFamily="49" charset="-122"/>
              <a:cs typeface="+mj-cs"/>
            </a:endParaRPr>
          </a:p>
        </p:txBody>
      </p:sp>
      <p:pic>
        <p:nvPicPr>
          <p:cNvPr id="45058" name="图片 3"/>
          <p:cNvPicPr>
            <a:picLocks noChangeAspect="1"/>
          </p:cNvPicPr>
          <p:nvPr/>
        </p:nvPicPr>
        <p:blipFill>
          <a:blip r:embed="rId1"/>
          <a:srcRect t="4462" b="13393"/>
          <a:stretch>
            <a:fillRect/>
          </a:stretch>
        </p:blipFill>
        <p:spPr>
          <a:xfrm>
            <a:off x="1476375" y="1125538"/>
            <a:ext cx="6400800" cy="4111625"/>
          </a:xfrm>
          <a:prstGeom prst="rect">
            <a:avLst/>
          </a:prstGeom>
          <a:noFill/>
          <a:ln w="9525">
            <a:noFill/>
          </a:ln>
        </p:spPr>
      </p:pic>
      <p:sp>
        <p:nvSpPr>
          <p:cNvPr id="45059" name="内容占位符 2"/>
          <p:cNvSpPr>
            <a:spLocks noGrp="1"/>
          </p:cNvSpPr>
          <p:nvPr>
            <p:ph idx="1"/>
          </p:nvPr>
        </p:nvSpPr>
        <p:spPr>
          <a:xfrm>
            <a:off x="250825" y="5229225"/>
            <a:ext cx="8713788" cy="1368425"/>
          </a:xfrm>
        </p:spPr>
        <p:txBody>
          <a:bodyPr vert="horz" wrap="square" lIns="91440" tIns="45720" rIns="91440" bIns="45720" anchor="t" anchorCtr="0"/>
          <a:p>
            <a:pPr marL="0" indent="0">
              <a:buNone/>
            </a:pPr>
            <a:r>
              <a:rPr lang="zh-CN" altLang="en-US" sz="2800" dirty="0"/>
              <a:t>        表单是由</a:t>
            </a:r>
            <a:r>
              <a:rPr lang="zh-CN" altLang="en-US" sz="2800" dirty="0">
                <a:solidFill>
                  <a:srgbClr val="FF0000"/>
                </a:solidFill>
              </a:rPr>
              <a:t>文本框、密码框、多行文本框、单选、复选框、下拉菜单</a:t>
            </a:r>
            <a:r>
              <a:rPr lang="en-US" altLang="zh-CN" sz="2800" dirty="0">
                <a:solidFill>
                  <a:srgbClr val="FF0000"/>
                </a:solidFill>
              </a:rPr>
              <a:t>/</a:t>
            </a:r>
            <a:r>
              <a:rPr lang="zh-CN" altLang="en-US" sz="2800" dirty="0">
                <a:solidFill>
                  <a:srgbClr val="FF0000"/>
                </a:solidFill>
              </a:rPr>
              <a:t>列表、按钮、文件域、隐藏域</a:t>
            </a:r>
            <a:r>
              <a:rPr lang="zh-CN" altLang="en-US" sz="2800" dirty="0"/>
              <a:t>等各种表单元素及其标签组成的。</a:t>
            </a:r>
            <a:endParaRPr lang="zh-CN" altLang="en-US" sz="2800" dirty="0"/>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2.1.3  HTML</a:t>
            </a:r>
            <a:r>
              <a:rPr lang="zh-CN" altLang="en-US" baseline="0" dirty="0">
                <a:latin typeface="Times New Roman" panose="02020603050405020304" pitchFamily="18" charset="0"/>
                <a:ea typeface="黑体" panose="02010609060101010101" pitchFamily="49" charset="-122"/>
                <a:cs typeface="+mj-cs"/>
              </a:rPr>
              <a:t>表单标签与表单设计</a:t>
            </a:r>
            <a:endParaRPr lang="zh-CN" altLang="en-US" baseline="0" dirty="0">
              <a:latin typeface="Times New Roman" panose="02020603050405020304" pitchFamily="18" charset="0"/>
              <a:ea typeface="黑体" panose="02010609060101010101" pitchFamily="49" charset="-122"/>
              <a:cs typeface="+mj-cs"/>
            </a:endParaRPr>
          </a:p>
        </p:txBody>
      </p:sp>
      <p:sp>
        <p:nvSpPr>
          <p:cNvPr id="4608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1. &lt;form&gt;</a:t>
            </a:r>
            <a:r>
              <a:rPr lang="zh-CN" altLang="en-US" sz="2800" b="1" dirty="0">
                <a:solidFill>
                  <a:srgbClr val="000000"/>
                </a:solidFill>
              </a:rPr>
              <a:t>标签及其属性</a:t>
            </a:r>
            <a:endParaRPr lang="en-US" altLang="zh-CN" sz="2800" b="1" dirty="0">
              <a:solidFill>
                <a:srgbClr val="000000"/>
              </a:solidFill>
            </a:endParaRPr>
          </a:p>
          <a:p>
            <a:pPr marL="0" indent="0">
              <a:buNone/>
            </a:pPr>
            <a:r>
              <a:rPr lang="zh-CN" altLang="en-US" sz="2800" dirty="0">
                <a:solidFill>
                  <a:srgbClr val="000000"/>
                </a:solidFill>
              </a:rPr>
              <a:t>表单使用</a:t>
            </a:r>
            <a:r>
              <a:rPr lang="en-US" altLang="zh-CN" sz="2800" dirty="0">
                <a:solidFill>
                  <a:srgbClr val="000000"/>
                </a:solidFill>
              </a:rPr>
              <a:t>&lt;form&gt;</a:t>
            </a:r>
            <a:r>
              <a:rPr lang="zh-CN" altLang="en-US" sz="2800" dirty="0">
                <a:solidFill>
                  <a:srgbClr val="000000"/>
                </a:solidFill>
              </a:rPr>
              <a:t>和</a:t>
            </a:r>
            <a:r>
              <a:rPr lang="en-US" altLang="zh-CN" sz="2800" dirty="0">
                <a:solidFill>
                  <a:srgbClr val="000000"/>
                </a:solidFill>
              </a:rPr>
              <a:t>&lt;/form&gt;</a:t>
            </a:r>
            <a:r>
              <a:rPr lang="zh-CN" altLang="en-US" sz="2800" dirty="0">
                <a:solidFill>
                  <a:srgbClr val="000000"/>
                </a:solidFill>
              </a:rPr>
              <a:t>来定义的，</a:t>
            </a:r>
            <a:r>
              <a:rPr lang="en-US" altLang="zh-CN" sz="2800" dirty="0">
                <a:solidFill>
                  <a:srgbClr val="000000"/>
                </a:solidFill>
              </a:rPr>
              <a:t>&lt;form&gt;</a:t>
            </a:r>
            <a:r>
              <a:rPr lang="zh-CN" altLang="en-US" sz="2800" dirty="0">
                <a:solidFill>
                  <a:srgbClr val="000000"/>
                </a:solidFill>
              </a:rPr>
              <a:t>标签有：</a:t>
            </a:r>
            <a:r>
              <a:rPr lang="en-US" altLang="zh-CN" sz="2800" dirty="0">
                <a:solidFill>
                  <a:srgbClr val="000000"/>
                </a:solidFill>
              </a:rPr>
              <a:t>name</a:t>
            </a:r>
            <a:r>
              <a:rPr lang="zh-CN" altLang="en-US" sz="2800" dirty="0">
                <a:solidFill>
                  <a:srgbClr val="000000"/>
                </a:solidFill>
              </a:rPr>
              <a:t>、</a:t>
            </a:r>
            <a:r>
              <a:rPr lang="en-US" altLang="zh-CN" sz="2800" dirty="0">
                <a:solidFill>
                  <a:srgbClr val="000000"/>
                </a:solidFill>
              </a:rPr>
              <a:t>method</a:t>
            </a:r>
            <a:r>
              <a:rPr lang="zh-CN" altLang="en-US" sz="2800" dirty="0">
                <a:solidFill>
                  <a:srgbClr val="000000"/>
                </a:solidFill>
              </a:rPr>
              <a:t>、</a:t>
            </a:r>
            <a:r>
              <a:rPr lang="en-US" altLang="zh-CN" sz="2800" dirty="0">
                <a:solidFill>
                  <a:srgbClr val="000000"/>
                </a:solidFill>
              </a:rPr>
              <a:t>action</a:t>
            </a:r>
            <a:r>
              <a:rPr lang="zh-CN" altLang="en-US" sz="2800" dirty="0">
                <a:solidFill>
                  <a:srgbClr val="000000"/>
                </a:solidFill>
              </a:rPr>
              <a:t>、</a:t>
            </a:r>
            <a:r>
              <a:rPr lang="en-US" altLang="zh-CN" sz="2800" dirty="0">
                <a:solidFill>
                  <a:srgbClr val="000000"/>
                </a:solidFill>
              </a:rPr>
              <a:t>target</a:t>
            </a:r>
            <a:r>
              <a:rPr lang="zh-CN" altLang="en-US" sz="2800" dirty="0">
                <a:solidFill>
                  <a:srgbClr val="000000"/>
                </a:solidFill>
              </a:rPr>
              <a:t>等属性。</a:t>
            </a:r>
            <a:endParaRPr lang="zh-CN" altLang="en-US" sz="2800" dirty="0">
              <a:solidFill>
                <a:srgbClr val="000000"/>
              </a:solidFill>
            </a:endParaRPr>
          </a:p>
          <a:p>
            <a:pPr marL="0" indent="0">
              <a:buNone/>
            </a:pPr>
            <a:endParaRPr lang="en-US" altLang="zh-CN" sz="2800" dirty="0">
              <a:solidFill>
                <a:srgbClr val="000000"/>
              </a:solidFill>
            </a:endParaRPr>
          </a:p>
          <a:p>
            <a:pPr marL="0" indent="0">
              <a:buNone/>
            </a:pPr>
            <a:r>
              <a:rPr lang="zh-CN" altLang="en-US" sz="2800" dirty="0">
                <a:solidFill>
                  <a:srgbClr val="000000"/>
                </a:solidFill>
              </a:rPr>
              <a:t>语法格式：</a:t>
            </a:r>
            <a:endParaRPr lang="zh-CN" altLang="en-US" sz="2800" dirty="0">
              <a:solidFill>
                <a:srgbClr val="000000"/>
              </a:solidFill>
            </a:endParaRPr>
          </a:p>
          <a:p>
            <a:pPr marL="0" indent="0">
              <a:buNone/>
            </a:pPr>
            <a:r>
              <a:rPr lang="zh-CN" altLang="en-US" sz="2400" dirty="0">
                <a:solidFill>
                  <a:srgbClr val="000000"/>
                </a:solidFill>
              </a:rPr>
              <a:t>  </a:t>
            </a:r>
            <a:r>
              <a:rPr lang="en-US" altLang="zh-CN" sz="2400" dirty="0">
                <a:solidFill>
                  <a:srgbClr val="FF0000"/>
                </a:solidFill>
              </a:rPr>
              <a:t>&lt;form </a:t>
            </a:r>
            <a:r>
              <a:rPr lang="en-US" altLang="zh-CN" sz="2400" dirty="0">
                <a:solidFill>
                  <a:srgbClr val="000000"/>
                </a:solidFill>
              </a:rPr>
              <a:t>name="</a:t>
            </a:r>
            <a:r>
              <a:rPr lang="zh-CN" altLang="en-US" sz="2400" dirty="0">
                <a:solidFill>
                  <a:srgbClr val="000000"/>
                </a:solidFill>
              </a:rPr>
              <a:t>表单名</a:t>
            </a:r>
            <a:r>
              <a:rPr lang="en-US" altLang="zh-CN" sz="2400" dirty="0">
                <a:solidFill>
                  <a:srgbClr val="000000"/>
                </a:solidFill>
              </a:rPr>
              <a:t>" method="</a:t>
            </a:r>
            <a:r>
              <a:rPr lang="zh-CN" altLang="en-US" sz="2400" dirty="0">
                <a:solidFill>
                  <a:srgbClr val="000000"/>
                </a:solidFill>
              </a:rPr>
              <a:t>提交方法</a:t>
            </a:r>
            <a:r>
              <a:rPr lang="en-US" altLang="zh-CN" sz="2400" dirty="0">
                <a:solidFill>
                  <a:srgbClr val="000000"/>
                </a:solidFill>
              </a:rPr>
              <a:t>" action="</a:t>
            </a:r>
            <a:r>
              <a:rPr lang="zh-CN" altLang="en-US" sz="2400" dirty="0">
                <a:solidFill>
                  <a:srgbClr val="000000"/>
                </a:solidFill>
              </a:rPr>
              <a:t>处理程序</a:t>
            </a:r>
            <a:r>
              <a:rPr lang="en-US" altLang="zh-CN" sz="2400" dirty="0">
                <a:solidFill>
                  <a:srgbClr val="000000"/>
                </a:solidFill>
              </a:rPr>
              <a:t>"</a:t>
            </a:r>
            <a:r>
              <a:rPr lang="en-US" altLang="zh-CN" sz="2400" dirty="0">
                <a:solidFill>
                  <a:srgbClr val="FF0000"/>
                </a:solidFill>
              </a:rPr>
              <a:t>&gt;</a:t>
            </a:r>
            <a:endParaRPr lang="en-US" altLang="zh-CN" sz="2400" dirty="0">
              <a:solidFill>
                <a:srgbClr val="FF0000"/>
              </a:solidFill>
            </a:endParaRPr>
          </a:p>
          <a:p>
            <a:pPr marL="0" indent="0">
              <a:buNone/>
            </a:pPr>
            <a:r>
              <a:rPr lang="en-US" altLang="zh-CN" sz="2400" dirty="0">
                <a:solidFill>
                  <a:srgbClr val="000000"/>
                </a:solidFill>
              </a:rPr>
              <a:t>    ………..</a:t>
            </a:r>
            <a:endParaRPr lang="en-US" altLang="zh-CN" sz="2400" dirty="0">
              <a:solidFill>
                <a:srgbClr val="000000"/>
              </a:solidFill>
            </a:endParaRPr>
          </a:p>
          <a:p>
            <a:pPr marL="0" indent="0">
              <a:buNone/>
            </a:pPr>
            <a:r>
              <a:rPr lang="en-US" altLang="zh-CN" sz="2400" dirty="0">
                <a:solidFill>
                  <a:srgbClr val="000000"/>
                </a:solidFill>
              </a:rPr>
              <a:t>  </a:t>
            </a:r>
            <a:r>
              <a:rPr lang="en-US" altLang="zh-CN" sz="2400" dirty="0">
                <a:solidFill>
                  <a:srgbClr val="FF0000"/>
                </a:solidFill>
              </a:rPr>
              <a:t>&lt;/form&gt;</a:t>
            </a:r>
            <a:endParaRPr lang="en-US" altLang="zh-CN" sz="2400" dirty="0">
              <a:solidFill>
                <a:srgbClr val="FF0000"/>
              </a:solidFill>
            </a:endParaRPr>
          </a:p>
          <a:p>
            <a:pPr marL="0" indent="0">
              <a:buNone/>
            </a:pPr>
            <a:r>
              <a:rPr lang="zh-CN" altLang="en-US" sz="2800" dirty="0">
                <a:solidFill>
                  <a:srgbClr val="000000"/>
                </a:solidFill>
              </a:rPr>
              <a:t>其中：属性</a:t>
            </a:r>
            <a:r>
              <a:rPr lang="en-US" altLang="zh-CN" sz="2800" dirty="0">
                <a:solidFill>
                  <a:srgbClr val="000000"/>
                </a:solidFill>
              </a:rPr>
              <a:t>name</a:t>
            </a:r>
            <a:r>
              <a:rPr lang="zh-CN" altLang="en-US" sz="2800" dirty="0">
                <a:solidFill>
                  <a:srgbClr val="000000"/>
                </a:solidFill>
              </a:rPr>
              <a:t>是表单对象名称，</a:t>
            </a:r>
            <a:endParaRPr lang="zh-CN" altLang="en-US" sz="2800" dirty="0">
              <a:solidFill>
                <a:srgbClr val="000000"/>
              </a:solidFill>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2.1.3  HTML</a:t>
            </a:r>
            <a:r>
              <a:rPr lang="zh-CN" altLang="en-US" baseline="0" dirty="0">
                <a:latin typeface="Times New Roman" panose="02020603050405020304" pitchFamily="18" charset="0"/>
                <a:ea typeface="黑体" panose="02010609060101010101" pitchFamily="49" charset="-122"/>
                <a:cs typeface="+mj-cs"/>
              </a:rPr>
              <a:t>表单标签与表单设计</a:t>
            </a:r>
            <a:endParaRPr lang="zh-CN" altLang="en-US" baseline="0" dirty="0">
              <a:latin typeface="Times New Roman" panose="02020603050405020304" pitchFamily="18" charset="0"/>
              <a:ea typeface="黑体" panose="02010609060101010101" pitchFamily="49" charset="-122"/>
              <a:cs typeface="+mj-cs"/>
            </a:endParaRPr>
          </a:p>
        </p:txBody>
      </p:sp>
      <p:sp>
        <p:nvSpPr>
          <p:cNvPr id="4710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b="1" dirty="0">
                <a:solidFill>
                  <a:srgbClr val="000000"/>
                </a:solidFill>
              </a:rPr>
              <a:t>2. &lt;input&gt;</a:t>
            </a:r>
            <a:r>
              <a:rPr lang="zh-CN" altLang="en-US" sz="2800" b="1" dirty="0">
                <a:solidFill>
                  <a:srgbClr val="000000"/>
                </a:solidFill>
              </a:rPr>
              <a:t>标签及其属性</a:t>
            </a:r>
            <a:endParaRPr lang="zh-CN" altLang="en-US" sz="2800" b="1" dirty="0">
              <a:solidFill>
                <a:srgbClr val="000000"/>
              </a:solidFill>
            </a:endParaRPr>
          </a:p>
          <a:p>
            <a:pPr marL="0" indent="0">
              <a:buNone/>
            </a:pPr>
            <a:r>
              <a:rPr lang="zh-CN" altLang="en-US" sz="2800" dirty="0">
                <a:solidFill>
                  <a:srgbClr val="000000"/>
                </a:solidFill>
              </a:rPr>
              <a:t>基本语法：</a:t>
            </a:r>
            <a:endParaRPr lang="zh-CN" altLang="en-US" sz="2800" dirty="0">
              <a:solidFill>
                <a:srgbClr val="000000"/>
              </a:solidFill>
            </a:endParaRPr>
          </a:p>
          <a:p>
            <a:pPr marL="0" indent="0">
              <a:buNone/>
            </a:pPr>
            <a:r>
              <a:rPr lang="en-US" altLang="zh-CN" sz="2800" dirty="0">
                <a:solidFill>
                  <a:srgbClr val="FF0000"/>
                </a:solidFill>
              </a:rPr>
              <a:t>&lt;input </a:t>
            </a:r>
            <a:r>
              <a:rPr lang="en-US" altLang="zh-CN" sz="2800" dirty="0">
                <a:solidFill>
                  <a:srgbClr val="000000"/>
                </a:solidFill>
              </a:rPr>
              <a:t>name="</a:t>
            </a:r>
            <a:r>
              <a:rPr lang="zh-CN" altLang="en-US" sz="2800" dirty="0">
                <a:solidFill>
                  <a:srgbClr val="000000"/>
                </a:solidFill>
              </a:rPr>
              <a:t>输入域名称</a:t>
            </a:r>
            <a:r>
              <a:rPr lang="en-US" altLang="zh-CN" sz="2800" dirty="0">
                <a:solidFill>
                  <a:srgbClr val="000000"/>
                </a:solidFill>
              </a:rPr>
              <a:t>" type="</a:t>
            </a:r>
            <a:r>
              <a:rPr lang="zh-CN" altLang="en-US" sz="2800" dirty="0">
                <a:solidFill>
                  <a:srgbClr val="000000"/>
                </a:solidFill>
              </a:rPr>
              <a:t>域类型</a:t>
            </a:r>
            <a:r>
              <a:rPr lang="en-US" altLang="zh-CN" sz="2800" dirty="0">
                <a:solidFill>
                  <a:srgbClr val="000000"/>
                </a:solidFill>
              </a:rPr>
              <a:t>" value="</a:t>
            </a:r>
            <a:r>
              <a:rPr lang="zh-CN" altLang="en-US" sz="2800" dirty="0">
                <a:solidFill>
                  <a:srgbClr val="000000"/>
                </a:solidFill>
              </a:rPr>
              <a:t>输入域的值</a:t>
            </a:r>
            <a:r>
              <a:rPr lang="en-US" altLang="zh-CN" sz="2800" dirty="0">
                <a:solidFill>
                  <a:srgbClr val="000000"/>
                </a:solidFill>
              </a:rPr>
              <a:t>"</a:t>
            </a:r>
            <a:r>
              <a:rPr lang="en-US" altLang="zh-CN" sz="2800" dirty="0">
                <a:solidFill>
                  <a:srgbClr val="FF0000"/>
                </a:solidFill>
              </a:rPr>
              <a:t>&gt;</a:t>
            </a:r>
            <a:endParaRPr lang="en-US" altLang="zh-CN" sz="2800" dirty="0">
              <a:solidFill>
                <a:srgbClr val="FF0000"/>
              </a:solidFill>
            </a:endParaRPr>
          </a:p>
          <a:p>
            <a:pPr marL="0" indent="0">
              <a:buNone/>
            </a:pPr>
            <a:endParaRPr lang="en-US" altLang="zh-CN" sz="2800" dirty="0">
              <a:solidFill>
                <a:srgbClr val="000000"/>
              </a:solidFill>
            </a:endParaRPr>
          </a:p>
          <a:p>
            <a:pPr marL="0" indent="0">
              <a:buNone/>
            </a:pPr>
            <a:r>
              <a:rPr lang="en-US" altLang="zh-CN" sz="2800" dirty="0">
                <a:solidFill>
                  <a:srgbClr val="000000"/>
                </a:solidFill>
              </a:rPr>
              <a:t>    &lt;input&gt;</a:t>
            </a:r>
            <a:r>
              <a:rPr lang="zh-CN" altLang="en-US" sz="2800" dirty="0">
                <a:solidFill>
                  <a:srgbClr val="000000"/>
                </a:solidFill>
              </a:rPr>
              <a:t>标签主要有六个属性：</a:t>
            </a:r>
            <a:endParaRPr lang="en-US" altLang="zh-CN" sz="2800" dirty="0">
              <a:solidFill>
                <a:srgbClr val="000000"/>
              </a:solidFill>
            </a:endParaRPr>
          </a:p>
          <a:p>
            <a:pPr marL="0" indent="0">
              <a:buNone/>
            </a:pPr>
            <a:r>
              <a:rPr lang="en-US" altLang="zh-CN" sz="2800" dirty="0">
                <a:solidFill>
                  <a:srgbClr val="000000"/>
                </a:solidFill>
              </a:rPr>
              <a:t>    type</a:t>
            </a:r>
            <a:r>
              <a:rPr lang="zh-CN" altLang="en-US" sz="2800" dirty="0">
                <a:solidFill>
                  <a:srgbClr val="000000"/>
                </a:solidFill>
              </a:rPr>
              <a:t>，</a:t>
            </a:r>
            <a:r>
              <a:rPr lang="en-US" altLang="zh-CN" sz="2800" dirty="0">
                <a:solidFill>
                  <a:srgbClr val="000000"/>
                </a:solidFill>
              </a:rPr>
              <a:t>name</a:t>
            </a:r>
            <a:r>
              <a:rPr lang="zh-CN" altLang="en-US" sz="2800" dirty="0">
                <a:solidFill>
                  <a:srgbClr val="000000"/>
                </a:solidFill>
              </a:rPr>
              <a:t>，</a:t>
            </a:r>
            <a:r>
              <a:rPr lang="en-US" altLang="zh-CN" sz="2800" dirty="0">
                <a:solidFill>
                  <a:srgbClr val="000000"/>
                </a:solidFill>
              </a:rPr>
              <a:t>size</a:t>
            </a:r>
            <a:r>
              <a:rPr lang="zh-CN" altLang="en-US" sz="2800" dirty="0">
                <a:solidFill>
                  <a:srgbClr val="000000"/>
                </a:solidFill>
              </a:rPr>
              <a:t>，</a:t>
            </a:r>
            <a:r>
              <a:rPr lang="en-US" altLang="zh-CN" sz="2800" dirty="0">
                <a:solidFill>
                  <a:srgbClr val="000000"/>
                </a:solidFill>
              </a:rPr>
              <a:t>value</a:t>
            </a:r>
            <a:r>
              <a:rPr lang="zh-CN" altLang="en-US" sz="2800" dirty="0">
                <a:solidFill>
                  <a:srgbClr val="000000"/>
                </a:solidFill>
              </a:rPr>
              <a:t>，</a:t>
            </a:r>
            <a:r>
              <a:rPr lang="en-US" altLang="zh-CN" sz="2800" dirty="0">
                <a:solidFill>
                  <a:srgbClr val="000000"/>
                </a:solidFill>
              </a:rPr>
              <a:t>maxlength</a:t>
            </a:r>
            <a:r>
              <a:rPr lang="zh-CN" altLang="en-US" sz="2800" dirty="0">
                <a:solidFill>
                  <a:srgbClr val="000000"/>
                </a:solidFill>
              </a:rPr>
              <a:t>，</a:t>
            </a:r>
            <a:r>
              <a:rPr lang="en-US" altLang="zh-CN" sz="2800" dirty="0">
                <a:solidFill>
                  <a:srgbClr val="000000"/>
                </a:solidFill>
              </a:rPr>
              <a:t>check</a:t>
            </a:r>
            <a:r>
              <a:rPr lang="zh-CN" altLang="en-US" sz="2800" dirty="0">
                <a:solidFill>
                  <a:srgbClr val="000000"/>
                </a:solidFill>
              </a:rPr>
              <a:t>。</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其中，</a:t>
            </a:r>
            <a:r>
              <a:rPr lang="en-US" altLang="zh-CN" sz="2800" dirty="0">
                <a:solidFill>
                  <a:srgbClr val="000000"/>
                </a:solidFill>
              </a:rPr>
              <a:t>name</a:t>
            </a:r>
            <a:r>
              <a:rPr lang="zh-CN" altLang="en-US" sz="2800" dirty="0">
                <a:solidFill>
                  <a:srgbClr val="000000"/>
                </a:solidFill>
              </a:rPr>
              <a:t>和</a:t>
            </a:r>
            <a:r>
              <a:rPr lang="en-US" altLang="zh-CN" sz="2800" dirty="0">
                <a:solidFill>
                  <a:srgbClr val="000000"/>
                </a:solidFill>
              </a:rPr>
              <a:t>type</a:t>
            </a:r>
            <a:r>
              <a:rPr lang="zh-CN" altLang="en-US" sz="2800" dirty="0">
                <a:solidFill>
                  <a:srgbClr val="000000"/>
                </a:solidFill>
              </a:rPr>
              <a:t>是必选的两个属性：</a:t>
            </a:r>
            <a:endParaRPr lang="en-US" altLang="zh-CN" sz="2800" dirty="0">
              <a:solidFill>
                <a:srgbClr val="000000"/>
              </a:solidFill>
            </a:endParaRPr>
          </a:p>
          <a:p>
            <a:pPr marL="0" indent="0">
              <a:buNone/>
            </a:pPr>
            <a:r>
              <a:rPr lang="en-US" altLang="zh-CN" sz="2800" dirty="0">
                <a:solidFill>
                  <a:srgbClr val="000000"/>
                </a:solidFill>
              </a:rPr>
              <a:t>    name</a:t>
            </a:r>
            <a:r>
              <a:rPr lang="zh-CN" altLang="en-US" sz="2800" dirty="0">
                <a:solidFill>
                  <a:srgbClr val="000000"/>
                </a:solidFill>
              </a:rPr>
              <a:t>：属性的值是响应程序（由</a:t>
            </a:r>
            <a:r>
              <a:rPr lang="en-US" altLang="zh-CN" sz="2800" dirty="0">
                <a:solidFill>
                  <a:srgbClr val="000000"/>
                </a:solidFill>
              </a:rPr>
              <a:t>form</a:t>
            </a:r>
            <a:r>
              <a:rPr lang="zh-CN" altLang="en-US" sz="2800" dirty="0">
                <a:solidFill>
                  <a:srgbClr val="000000"/>
                </a:solidFill>
              </a:rPr>
              <a:t>标签中的</a:t>
            </a:r>
            <a:r>
              <a:rPr lang="en-US" altLang="zh-CN" sz="2800" dirty="0">
                <a:solidFill>
                  <a:srgbClr val="000000"/>
                </a:solidFill>
              </a:rPr>
              <a:t>action</a:t>
            </a:r>
            <a:r>
              <a:rPr lang="zh-CN" altLang="en-US" sz="2800" dirty="0">
                <a:solidFill>
                  <a:srgbClr val="000000"/>
                </a:solidFill>
              </a:rPr>
              <a:t>属性指定）中的变量名</a:t>
            </a:r>
            <a:endParaRPr lang="zh-CN" altLang="en-US" sz="2800" dirty="0">
              <a:solidFill>
                <a:srgbClr val="000000"/>
              </a:solidFill>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2.1.3  HTML</a:t>
            </a:r>
            <a:r>
              <a:rPr lang="zh-CN" altLang="en-US" baseline="0" dirty="0">
                <a:latin typeface="Times New Roman" panose="02020603050405020304" pitchFamily="18" charset="0"/>
                <a:ea typeface="黑体" panose="02010609060101010101" pitchFamily="49" charset="-122"/>
                <a:cs typeface="+mj-cs"/>
              </a:rPr>
              <a:t>表单标签与表单设计</a:t>
            </a:r>
            <a:endParaRPr lang="zh-CN" altLang="en-US" baseline="0" dirty="0">
              <a:latin typeface="Times New Roman" panose="02020603050405020304" pitchFamily="18" charset="0"/>
              <a:ea typeface="黑体" panose="02010609060101010101" pitchFamily="49" charset="-122"/>
              <a:cs typeface="+mj-cs"/>
            </a:endParaRPr>
          </a:p>
        </p:txBody>
      </p:sp>
      <p:sp>
        <p:nvSpPr>
          <p:cNvPr id="48130" name="内容占位符 2"/>
          <p:cNvSpPr>
            <a:spLocks noGrp="1"/>
          </p:cNvSpPr>
          <p:nvPr>
            <p:ph idx="1"/>
          </p:nvPr>
        </p:nvSpPr>
        <p:spPr>
          <a:xfrm>
            <a:off x="107950" y="1125538"/>
            <a:ext cx="8928100" cy="647700"/>
          </a:xfrm>
        </p:spPr>
        <p:txBody>
          <a:bodyPr vert="horz" wrap="square" lIns="91440" tIns="45720" rIns="91440" bIns="45720" anchor="t" anchorCtr="0"/>
          <a:p>
            <a:pPr marL="0" indent="0">
              <a:buNone/>
            </a:pPr>
            <a:r>
              <a:rPr lang="en-US" altLang="zh-CN" b="1" dirty="0">
                <a:solidFill>
                  <a:srgbClr val="000000"/>
                </a:solidFill>
              </a:rPr>
              <a:t>2. &lt;input&gt;</a:t>
            </a:r>
            <a:r>
              <a:rPr lang="zh-CN" altLang="en-US" b="1" dirty="0">
                <a:solidFill>
                  <a:srgbClr val="000000"/>
                </a:solidFill>
              </a:rPr>
              <a:t>标签及其属性</a:t>
            </a:r>
            <a:endParaRPr lang="en-US" altLang="zh-CN" dirty="0"/>
          </a:p>
          <a:p>
            <a:pPr marL="0" indent="0">
              <a:buNone/>
            </a:pPr>
            <a:r>
              <a:rPr lang="en-US" altLang="zh-CN" dirty="0"/>
              <a:t>type</a:t>
            </a:r>
            <a:r>
              <a:rPr lang="zh-CN" altLang="en-US" dirty="0"/>
              <a:t>主要有</a:t>
            </a:r>
            <a:r>
              <a:rPr lang="en-US" altLang="zh-CN" dirty="0"/>
              <a:t>9</a:t>
            </a:r>
            <a:r>
              <a:rPr lang="zh-CN" altLang="en-US" dirty="0"/>
              <a:t>种类型：</a:t>
            </a:r>
            <a:endParaRPr lang="zh-CN" altLang="en-US" dirty="0"/>
          </a:p>
          <a:p>
            <a:pPr marL="0" indent="0">
              <a:buNone/>
            </a:pPr>
            <a:endParaRPr lang="zh-CN" altLang="en-US" dirty="0"/>
          </a:p>
        </p:txBody>
      </p:sp>
      <p:graphicFrame>
        <p:nvGraphicFramePr>
          <p:cNvPr id="49156" name="表格 49155"/>
          <p:cNvGraphicFramePr/>
          <p:nvPr/>
        </p:nvGraphicFramePr>
        <p:xfrm>
          <a:off x="250825" y="2349500"/>
          <a:ext cx="8642350" cy="4405313"/>
        </p:xfrm>
        <a:graphic>
          <a:graphicData uri="http://schemas.openxmlformats.org/drawingml/2006/table">
            <a:tbl>
              <a:tblPr/>
              <a:tblGrid>
                <a:gridCol w="1060450"/>
                <a:gridCol w="4197350"/>
                <a:gridCol w="3384550"/>
              </a:tblGrid>
              <a:tr h="2444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latin typeface="Arial" panose="020B0604020202020204" pitchFamily="34" charset="0"/>
                          <a:ea typeface="黑体" panose="02010609060101010101" pitchFamily="49" charset="-122"/>
                        </a:rPr>
                        <a:t>名</a:t>
                      </a:r>
                      <a:r>
                        <a:rPr lang="en-US" altLang="zh-CN" sz="1400" dirty="0">
                          <a:latin typeface="Arial" panose="020B0604020202020204" pitchFamily="34" charset="0"/>
                          <a:ea typeface="黑体" panose="02010609060101010101" pitchFamily="49" charset="-122"/>
                        </a:rPr>
                        <a:t> </a:t>
                      </a:r>
                      <a:r>
                        <a:rPr lang="zh-CN" altLang="zh-CN" sz="1400" dirty="0">
                          <a:latin typeface="Arial" panose="020B0604020202020204" pitchFamily="34" charset="0"/>
                          <a:ea typeface="黑体" panose="02010609060101010101" pitchFamily="49" charset="-122"/>
                        </a:rPr>
                        <a:t>称</a:t>
                      </a:r>
                      <a:endParaRPr lang="zh-CN" altLang="zh-CN" sz="1400" dirty="0">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zh-CN" altLang="zh-CN" sz="1400" dirty="0">
                          <a:latin typeface="Arial" panose="020B0604020202020204" pitchFamily="34" charset="0"/>
                          <a:ea typeface="黑体" panose="02010609060101010101" pitchFamily="49" charset="-122"/>
                        </a:rPr>
                        <a:t>格式</a:t>
                      </a:r>
                      <a:endParaRPr lang="zh-CN" altLang="zh-CN" sz="1400" dirty="0">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sz="1400" dirty="0">
                          <a:latin typeface="Arial" panose="020B0604020202020204" pitchFamily="34" charset="0"/>
                          <a:ea typeface="黑体" panose="02010609060101010101" pitchFamily="49" charset="-122"/>
                        </a:rPr>
                        <a:t>说明</a:t>
                      </a:r>
                      <a:endParaRPr lang="zh-CN" altLang="zh-CN" sz="1400" dirty="0">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41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文本域</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type="text" name="</a:t>
                      </a:r>
                      <a:r>
                        <a:rPr lang="zh-CN" altLang="zh-CN" sz="1400" dirty="0">
                          <a:solidFill>
                            <a:srgbClr val="000000"/>
                          </a:solidFill>
                          <a:latin typeface="Arial" panose="020B0604020202020204" pitchFamily="34" charset="0"/>
                          <a:ea typeface="黑体" panose="02010609060101010101" pitchFamily="49" charset="-122"/>
                        </a:rPr>
                        <a:t>文本字段名称</a:t>
                      </a:r>
                      <a:r>
                        <a:rPr lang="en-US" altLang="zh-CN" sz="1400" dirty="0">
                          <a:solidFill>
                            <a:srgbClr val="000000"/>
                          </a:solidFill>
                          <a:latin typeface="Arial" panose="020B0604020202020204" pitchFamily="34" charset="0"/>
                          <a:ea typeface="黑体" panose="02010609060101010101" pitchFamily="49" charset="-122"/>
                        </a:rPr>
                        <a:t>"</a:t>
                      </a:r>
                      <a:endParaRPr lang="zh-CN" altLang="zh-CN" sz="1400" dirty="0">
                        <a:solidFill>
                          <a:srgbClr val="000000"/>
                        </a:solidFill>
                        <a:latin typeface="Times New Roman" panose="02020603050405020304" pitchFamily="18" charset="0"/>
                        <a:cs typeface="Times New Roman" panose="02020603050405020304" pitchFamily="18" charset="0"/>
                      </a:endParaRPr>
                    </a:p>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maxlength=" " size=" " value=" "&gt;</a:t>
                      </a:r>
                      <a:endParaRPr lang="zh-CN" altLang="zh-CN" sz="1400" dirty="0">
                        <a:solidFill>
                          <a:srgbClr val="000000"/>
                        </a:solidFill>
                        <a:latin typeface="Times New Roman" panose="02020603050405020304" pitchFamily="18" charset="0"/>
                        <a:ea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size</a:t>
                      </a:r>
                      <a:r>
                        <a:rPr lang="zh-CN" altLang="zh-CN" sz="1400" dirty="0">
                          <a:solidFill>
                            <a:srgbClr val="000000"/>
                          </a:solidFill>
                          <a:latin typeface="Arial" panose="020B0604020202020204" pitchFamily="34" charset="0"/>
                          <a:ea typeface="黑体" panose="02010609060101010101" pitchFamily="49" charset="-122"/>
                        </a:rPr>
                        <a:t>与</a:t>
                      </a:r>
                      <a:r>
                        <a:rPr lang="en-US" altLang="zh-CN" sz="1400" dirty="0">
                          <a:solidFill>
                            <a:srgbClr val="000000"/>
                          </a:solidFill>
                          <a:latin typeface="Arial" panose="020B0604020202020204" pitchFamily="34" charset="0"/>
                          <a:ea typeface="黑体" panose="02010609060101010101" pitchFamily="49" charset="-122"/>
                        </a:rPr>
                        <a:t>maxlength</a:t>
                      </a:r>
                      <a:r>
                        <a:rPr lang="zh-CN" altLang="zh-CN" sz="1400" dirty="0">
                          <a:solidFill>
                            <a:srgbClr val="000000"/>
                          </a:solidFill>
                          <a:latin typeface="Arial" panose="020B0604020202020204" pitchFamily="34" charset="0"/>
                          <a:ea typeface="黑体" panose="02010609060101010101" pitchFamily="49" charset="-122"/>
                        </a:rPr>
                        <a:t>属性用来定义此区域显示的尺寸大小与输入的最大字符数</a:t>
                      </a:r>
                      <a:endParaRPr lang="zh-CN" altLang="zh-CN" sz="1400" dirty="0">
                        <a:solidFill>
                          <a:srgbClr val="000000"/>
                        </a:solidFill>
                        <a:latin typeface="Times New Roman" panose="02020603050405020304" pitchFamily="18" charset="0"/>
                        <a:ea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41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密码域</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type="password"  name="</a:t>
                      </a:r>
                      <a:r>
                        <a:rPr lang="zh-CN" altLang="zh-CN" sz="1400" dirty="0">
                          <a:solidFill>
                            <a:srgbClr val="000000"/>
                          </a:solidFill>
                          <a:latin typeface="Arial" panose="020B0604020202020204" pitchFamily="34" charset="0"/>
                          <a:ea typeface="黑体" panose="02010609060101010101" pitchFamily="49" charset="-122"/>
                        </a:rPr>
                        <a:t>密码字段名称</a:t>
                      </a:r>
                      <a:r>
                        <a:rPr lang="en-US" altLang="zh-CN" sz="1400" dirty="0">
                          <a:solidFill>
                            <a:srgbClr val="000000"/>
                          </a:solidFill>
                          <a:latin typeface="Arial" panose="020B0604020202020204" pitchFamily="34" charset="0"/>
                          <a:ea typeface="黑体" panose="02010609060101010101" pitchFamily="49" charset="-122"/>
                        </a:rPr>
                        <a:t>"</a:t>
                      </a:r>
                      <a:endParaRPr lang="zh-CN" altLang="zh-CN" sz="1400" dirty="0">
                        <a:solidFill>
                          <a:srgbClr val="000000"/>
                        </a:solidFill>
                        <a:latin typeface="Times New Roman" panose="02020603050405020304" pitchFamily="18" charset="0"/>
                        <a:cs typeface="Times New Roman" panose="02020603050405020304" pitchFamily="18" charset="0"/>
                      </a:endParaRPr>
                    </a:p>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size=" "  maxlength=" " value=" " &gt;</a:t>
                      </a:r>
                      <a:endParaRPr lang="zh-CN" altLang="zh-CN" sz="1400" dirty="0">
                        <a:solidFill>
                          <a:srgbClr val="000000"/>
                        </a:solidFill>
                        <a:latin typeface="Times New Roman" panose="02020603050405020304" pitchFamily="18" charset="0"/>
                        <a:ea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当用户输入密码时，区域内将会显示“</a:t>
                      </a:r>
                      <a:r>
                        <a:rPr lang="en-US" altLang="zh-CN" sz="1400" dirty="0">
                          <a:solidFill>
                            <a:srgbClr val="000000"/>
                          </a:solidFill>
                          <a:latin typeface="Arial" panose="020B0604020202020204" pitchFamily="34" charset="0"/>
                          <a:ea typeface="黑体" panose="02010609060101010101" pitchFamily="49" charset="-122"/>
                        </a:rPr>
                        <a:t>*</a:t>
                      </a:r>
                      <a:r>
                        <a:rPr lang="zh-CN" altLang="zh-CN" sz="1400" dirty="0">
                          <a:solidFill>
                            <a:srgbClr val="000000"/>
                          </a:solidFill>
                          <a:latin typeface="Arial" panose="020B0604020202020204" pitchFamily="34" charset="0"/>
                          <a:ea typeface="黑体" panose="02010609060101010101" pitchFamily="49" charset="-122"/>
                        </a:rPr>
                        <a:t>”号代替用户输入的内容</a:t>
                      </a:r>
                      <a:endParaRPr lang="zh-CN" altLang="zh-CN" sz="1400" dirty="0">
                        <a:solidFill>
                          <a:srgbClr val="000000"/>
                        </a:solidFill>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540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单选按钮</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type="radio" name=" " value=" " checked /&gt;</a:t>
                      </a:r>
                      <a:endParaRPr lang="zh-CN" altLang="zh-CN" sz="1400" dirty="0">
                        <a:solidFill>
                          <a:srgbClr val="000000"/>
                        </a:solidFill>
                        <a:latin typeface="Times New Roman" panose="02020603050405020304" pitchFamily="18" charset="0"/>
                        <a:ea typeface="黑体" panose="02010609060101010101" pitchFamily="49" charset="-122"/>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checked</a:t>
                      </a:r>
                      <a:r>
                        <a:rPr lang="zh-CN" altLang="zh-CN" sz="1400" dirty="0">
                          <a:solidFill>
                            <a:srgbClr val="000000"/>
                          </a:solidFill>
                          <a:latin typeface="Arial" panose="020B0604020202020204" pitchFamily="34" charset="0"/>
                          <a:ea typeface="黑体" panose="02010609060101010101" pitchFamily="49" charset="-122"/>
                        </a:rPr>
                        <a:t>属性用来设置该单选按钮默认状态是否被选中。当有多个互斥的单选按钮时，设置相同的</a:t>
                      </a:r>
                      <a:r>
                        <a:rPr lang="en-US" altLang="zh-CN" sz="1400" dirty="0">
                          <a:solidFill>
                            <a:srgbClr val="000000"/>
                          </a:solidFill>
                          <a:latin typeface="Arial" panose="020B0604020202020204" pitchFamily="34" charset="0"/>
                          <a:ea typeface="黑体" panose="02010609060101010101" pitchFamily="49" charset="-122"/>
                        </a:rPr>
                        <a:t>name</a:t>
                      </a:r>
                      <a:r>
                        <a:rPr lang="zh-CN" altLang="zh-CN" sz="1400" dirty="0">
                          <a:solidFill>
                            <a:srgbClr val="000000"/>
                          </a:solidFill>
                          <a:latin typeface="Arial" panose="020B0604020202020204" pitchFamily="34" charset="0"/>
                          <a:ea typeface="黑体" panose="02010609060101010101" pitchFamily="49" charset="-122"/>
                        </a:rPr>
                        <a:t>值</a:t>
                      </a:r>
                      <a:endParaRPr lang="zh-CN" altLang="zh-CN" sz="1400" dirty="0">
                        <a:solidFill>
                          <a:srgbClr val="000000"/>
                        </a:solidFill>
                        <a:latin typeface="Times New Roman" panose="02020603050405020304" pitchFamily="18" charset="0"/>
                        <a:ea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8715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复选框</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type="checkbox" name=" " value=" " checked /&gt;</a:t>
                      </a:r>
                      <a:endParaRPr lang="zh-CN" altLang="zh-CN" sz="1400" dirty="0">
                        <a:solidFill>
                          <a:srgbClr val="000000"/>
                        </a:solidFill>
                        <a:latin typeface="Times New Roman" panose="02020603050405020304" pitchFamily="18" charset="0"/>
                        <a:ea typeface="黑体" panose="02010609060101010101" pitchFamily="49" charset="-122"/>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checked</a:t>
                      </a:r>
                      <a:r>
                        <a:rPr lang="zh-CN" altLang="zh-CN" sz="1400" dirty="0">
                          <a:solidFill>
                            <a:srgbClr val="000000"/>
                          </a:solidFill>
                          <a:latin typeface="Arial" panose="020B0604020202020204" pitchFamily="34" charset="0"/>
                          <a:ea typeface="黑体" panose="02010609060101010101" pitchFamily="49" charset="-122"/>
                        </a:rPr>
                        <a:t>属性用来设置该</a:t>
                      </a:r>
                      <a:r>
                        <a:rPr lang="zh-CN" altLang="zh-CN" sz="1400" dirty="0">
                          <a:solidFill>
                            <a:srgbClr val="FF00FF"/>
                          </a:solidFill>
                          <a:latin typeface="Arial" panose="020B0604020202020204" pitchFamily="34" charset="0"/>
                          <a:ea typeface="黑体" panose="02010609060101010101" pitchFamily="49" charset="-122"/>
                        </a:rPr>
                        <a:t>复选框</a:t>
                      </a:r>
                      <a:r>
                        <a:rPr lang="zh-CN" altLang="zh-CN" sz="1400" dirty="0">
                          <a:solidFill>
                            <a:srgbClr val="000000"/>
                          </a:solidFill>
                          <a:latin typeface="Arial" panose="020B0604020202020204" pitchFamily="34" charset="0"/>
                          <a:ea typeface="黑体" panose="02010609060101010101" pitchFamily="49" charset="-122"/>
                        </a:rPr>
                        <a:t>默认状态是否被选中，当有多个复选框时，可设置相同的</a:t>
                      </a:r>
                      <a:r>
                        <a:rPr lang="en-US" altLang="zh-CN" sz="1400" dirty="0">
                          <a:solidFill>
                            <a:srgbClr val="000000"/>
                          </a:solidFill>
                          <a:latin typeface="Arial" panose="020B0604020202020204" pitchFamily="34" charset="0"/>
                          <a:ea typeface="黑体" panose="02010609060101010101" pitchFamily="49" charset="-122"/>
                        </a:rPr>
                        <a:t>name</a:t>
                      </a:r>
                      <a:r>
                        <a:rPr lang="zh-CN" altLang="zh-CN" sz="1400" dirty="0">
                          <a:solidFill>
                            <a:srgbClr val="000000"/>
                          </a:solidFill>
                          <a:latin typeface="Arial" panose="020B0604020202020204" pitchFamily="34" charset="0"/>
                          <a:ea typeface="黑体" panose="02010609060101010101" pitchFamily="49" charset="-122"/>
                        </a:rPr>
                        <a:t>值，也可以设置不同的</a:t>
                      </a:r>
                      <a:r>
                        <a:rPr lang="en-US" altLang="zh-CN" sz="1400" dirty="0">
                          <a:solidFill>
                            <a:srgbClr val="000000"/>
                          </a:solidFill>
                          <a:latin typeface="Arial" panose="020B0604020202020204" pitchFamily="34" charset="0"/>
                          <a:ea typeface="黑体" panose="02010609060101010101" pitchFamily="49" charset="-122"/>
                        </a:rPr>
                        <a:t>name</a:t>
                      </a:r>
                      <a:r>
                        <a:rPr lang="zh-CN" altLang="zh-CN" sz="1400" dirty="0">
                          <a:solidFill>
                            <a:srgbClr val="000000"/>
                          </a:solidFill>
                          <a:latin typeface="Arial" panose="020B0604020202020204" pitchFamily="34" charset="0"/>
                          <a:ea typeface="黑体" panose="02010609060101010101" pitchFamily="49" charset="-122"/>
                        </a:rPr>
                        <a:t>值</a:t>
                      </a:r>
                      <a:endParaRPr lang="zh-CN" altLang="zh-CN" sz="1400" dirty="0">
                        <a:solidFill>
                          <a:srgbClr val="000000"/>
                        </a:solidFill>
                        <a:latin typeface="Times New Roman" panose="02020603050405020304" pitchFamily="18" charset="0"/>
                        <a:ea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174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提交按钮</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type="submit" name=" " value=" "/&gt;</a:t>
                      </a:r>
                      <a:endParaRPr lang="zh-CN" altLang="zh-CN" sz="1400" dirty="0">
                        <a:solidFill>
                          <a:srgbClr val="000000"/>
                        </a:solidFill>
                        <a:latin typeface="Times New Roman" panose="02020603050405020304" pitchFamily="18" charset="0"/>
                        <a:ea typeface="黑体" panose="02010609060101010101" pitchFamily="49" charset="-122"/>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将表单内容提交给服务器的按钮</a:t>
                      </a:r>
                      <a:endParaRPr lang="zh-CN" altLang="zh-CN" sz="1400" dirty="0">
                        <a:solidFill>
                          <a:srgbClr val="000000"/>
                        </a:solidFill>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127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取消按钮</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type="reset" name=" " value=" "/&gt;</a:t>
                      </a:r>
                      <a:endParaRPr lang="zh-CN" altLang="zh-CN" sz="1400" dirty="0">
                        <a:solidFill>
                          <a:srgbClr val="000000"/>
                        </a:solidFill>
                        <a:latin typeface="Times New Roman" panose="02020603050405020304" pitchFamily="18" charset="0"/>
                        <a:ea typeface="黑体" panose="02010609060101010101" pitchFamily="49" charset="-122"/>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将表单内容全部清楚，重新填写的按钮</a:t>
                      </a:r>
                      <a:endParaRPr lang="zh-CN" altLang="zh-CN" sz="1400" dirty="0">
                        <a:solidFill>
                          <a:srgbClr val="000000"/>
                        </a:solidFill>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841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图像按钮</a:t>
                      </a:r>
                      <a:endParaRPr lang="zh-CN" altLang="zh-CN" sz="1400" dirty="0">
                        <a:solidFill>
                          <a:srgbClr val="000000"/>
                        </a:solidFill>
                        <a:latin typeface="Times New Roman" panose="02020603050405020304" pitchFamily="18" charset="0"/>
                      </a:endParaRPr>
                    </a:p>
                    <a:p>
                      <a:pPr lvl="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image</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type="image" src="</a:t>
                      </a:r>
                      <a:r>
                        <a:rPr lang="zh-CN" altLang="zh-CN" sz="1400" dirty="0">
                          <a:solidFill>
                            <a:srgbClr val="000000"/>
                          </a:solidFill>
                          <a:latin typeface="Arial" panose="020B0604020202020204" pitchFamily="34" charset="0"/>
                          <a:ea typeface="黑体" panose="02010609060101010101" pitchFamily="49" charset="-122"/>
                        </a:rPr>
                        <a:t>图片</a:t>
                      </a:r>
                      <a:r>
                        <a:rPr lang="en-US" altLang="zh-CN" sz="1400" dirty="0">
                          <a:solidFill>
                            <a:srgbClr val="000000"/>
                          </a:solidFill>
                          <a:latin typeface="Arial" panose="020B0604020202020204" pitchFamily="34" charset="0"/>
                          <a:ea typeface="黑体" panose="02010609060101010101" pitchFamily="49" charset="-122"/>
                        </a:rPr>
                        <a:t>"/&gt;</a:t>
                      </a:r>
                      <a:endParaRPr lang="zh-CN" altLang="zh-CN" sz="1400" dirty="0">
                        <a:solidFill>
                          <a:srgbClr val="000000"/>
                        </a:solidFill>
                        <a:latin typeface="Times New Roman" panose="02020603050405020304" pitchFamily="18" charset="0"/>
                        <a:ea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使用图像代替</a:t>
                      </a:r>
                      <a:r>
                        <a:rPr lang="en-US" altLang="zh-CN" sz="1400" dirty="0">
                          <a:solidFill>
                            <a:srgbClr val="000000"/>
                          </a:solidFill>
                          <a:latin typeface="Arial" panose="020B0604020202020204" pitchFamily="34" charset="0"/>
                          <a:ea typeface="黑体" panose="02010609060101010101" pitchFamily="49" charset="-122"/>
                        </a:rPr>
                        <a:t>submit</a:t>
                      </a:r>
                      <a:r>
                        <a:rPr lang="zh-CN" altLang="zh-CN" sz="1400" dirty="0">
                          <a:solidFill>
                            <a:srgbClr val="000000"/>
                          </a:solidFill>
                          <a:latin typeface="Arial" panose="020B0604020202020204" pitchFamily="34" charset="0"/>
                          <a:ea typeface="黑体" panose="02010609060101010101" pitchFamily="49" charset="-122"/>
                        </a:rPr>
                        <a:t>按钮，图像的源文件名由</a:t>
                      </a:r>
                      <a:r>
                        <a:rPr lang="en-US" altLang="zh-CN" sz="1400" dirty="0">
                          <a:solidFill>
                            <a:srgbClr val="000000"/>
                          </a:solidFill>
                          <a:latin typeface="Arial" panose="020B0604020202020204" pitchFamily="34" charset="0"/>
                          <a:ea typeface="黑体" panose="02010609060101010101" pitchFamily="49" charset="-122"/>
                        </a:rPr>
                        <a:t>src</a:t>
                      </a:r>
                      <a:r>
                        <a:rPr lang="zh-CN" altLang="zh-CN" sz="1400" dirty="0">
                          <a:solidFill>
                            <a:srgbClr val="000000"/>
                          </a:solidFill>
                          <a:latin typeface="Arial" panose="020B0604020202020204" pitchFamily="34" charset="0"/>
                          <a:ea typeface="黑体" panose="02010609060101010101" pitchFamily="49" charset="-122"/>
                        </a:rPr>
                        <a:t>属性指定</a:t>
                      </a:r>
                      <a:endParaRPr lang="zh-CN" altLang="zh-CN" sz="1400" dirty="0">
                        <a:solidFill>
                          <a:srgbClr val="000000"/>
                        </a:solidFill>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174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文件域</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type="file" name=" " size=" " maxlength=" "&gt;</a:t>
                      </a:r>
                      <a:endParaRPr lang="zh-CN" altLang="zh-CN" sz="1400" dirty="0">
                        <a:solidFill>
                          <a:srgbClr val="000000"/>
                        </a:solidFill>
                        <a:latin typeface="Times New Roman" panose="02020603050405020304" pitchFamily="18" charset="0"/>
                        <a:ea typeface="黑体" panose="02010609060101010101" pitchFamily="49" charset="-122"/>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上传文件</a:t>
                      </a:r>
                      <a:endParaRPr lang="zh-CN" altLang="zh-CN" sz="1400" dirty="0">
                        <a:solidFill>
                          <a:srgbClr val="000000"/>
                        </a:solidFill>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49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隐藏域</a:t>
                      </a:r>
                      <a:endParaRPr lang="zh-CN" altLang="zh-CN" sz="1400" dirty="0">
                        <a:solidFill>
                          <a:srgbClr val="000000"/>
                        </a:solidFill>
                        <a:latin typeface="Times New Roman" panose="02020603050405020304" pitchFamily="18" charset="0"/>
                      </a:endParaRPr>
                    </a:p>
                  </a:txBody>
                  <a:tcPr marL="68594" marR="68594"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400" dirty="0">
                          <a:solidFill>
                            <a:srgbClr val="000000"/>
                          </a:solidFill>
                          <a:latin typeface="Arial" panose="020B0604020202020204" pitchFamily="34" charset="0"/>
                          <a:ea typeface="黑体" panose="02010609060101010101" pitchFamily="49" charset="-122"/>
                        </a:rPr>
                        <a:t>&lt;input type="hidden" name=" "  value=" " /&gt;</a:t>
                      </a:r>
                      <a:endParaRPr lang="zh-CN" altLang="zh-CN" sz="1400" dirty="0">
                        <a:solidFill>
                          <a:srgbClr val="000000"/>
                        </a:solidFill>
                        <a:latin typeface="Times New Roman" panose="02020603050405020304" pitchFamily="18" charset="0"/>
                        <a:ea typeface="黑体" panose="02010609060101010101" pitchFamily="49" charset="-122"/>
                      </a:endParaRPr>
                    </a:p>
                  </a:txBody>
                  <a:tcPr marL="68594" marR="68594"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just" eaLnBrk="1" hangingPunct="1">
                        <a:spcBef>
                          <a:spcPts val="100"/>
                        </a:spcBef>
                        <a:spcAft>
                          <a:spcPts val="100"/>
                        </a:spcAft>
                        <a:buNone/>
                      </a:pPr>
                      <a:r>
                        <a:rPr lang="zh-CN" altLang="zh-CN" sz="1400" dirty="0">
                          <a:solidFill>
                            <a:srgbClr val="000000"/>
                          </a:solidFill>
                          <a:latin typeface="Arial" panose="020B0604020202020204" pitchFamily="34" charset="0"/>
                          <a:ea typeface="黑体" panose="02010609060101010101" pitchFamily="49" charset="-122"/>
                        </a:rPr>
                        <a:t>用户不能在其中输入信息，用来预设某些要传递的信息</a:t>
                      </a:r>
                      <a:endParaRPr lang="zh-CN" altLang="zh-CN" sz="1400" dirty="0">
                        <a:solidFill>
                          <a:srgbClr val="000000"/>
                        </a:solidFill>
                        <a:latin typeface="Times New Roman" panose="02020603050405020304" pitchFamily="18" charset="0"/>
                      </a:endParaRPr>
                    </a:p>
                  </a:txBody>
                  <a:tcPr marL="68594" marR="68594"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2.1.3  HTML</a:t>
            </a:r>
            <a:r>
              <a:rPr lang="zh-CN" altLang="en-US" baseline="0" dirty="0">
                <a:latin typeface="Times New Roman" panose="02020603050405020304" pitchFamily="18" charset="0"/>
                <a:ea typeface="黑体" panose="02010609060101010101" pitchFamily="49" charset="-122"/>
                <a:cs typeface="+mj-cs"/>
              </a:rPr>
              <a:t>表单标签与表单设计</a:t>
            </a:r>
            <a:endParaRPr lang="zh-CN" altLang="en-US" baseline="0" dirty="0">
              <a:latin typeface="Times New Roman" panose="02020603050405020304" pitchFamily="18" charset="0"/>
              <a:ea typeface="黑体" panose="02010609060101010101" pitchFamily="49" charset="-122"/>
              <a:cs typeface="+mj-cs"/>
            </a:endParaRPr>
          </a:p>
        </p:txBody>
      </p:sp>
      <p:sp>
        <p:nvSpPr>
          <p:cNvPr id="49154"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3.</a:t>
            </a:r>
            <a:r>
              <a:rPr lang="zh-CN" altLang="en-US" b="1" dirty="0">
                <a:solidFill>
                  <a:srgbClr val="000000"/>
                </a:solidFill>
              </a:rPr>
              <a:t> 下拉列表框：</a:t>
            </a:r>
            <a:r>
              <a:rPr lang="en-US" altLang="zh-CN" b="1" dirty="0">
                <a:solidFill>
                  <a:srgbClr val="000000"/>
                </a:solidFill>
              </a:rPr>
              <a:t>&lt;select&gt;</a:t>
            </a:r>
            <a:r>
              <a:rPr lang="zh-CN" altLang="en-US" b="1" dirty="0">
                <a:solidFill>
                  <a:srgbClr val="000000"/>
                </a:solidFill>
              </a:rPr>
              <a:t>、</a:t>
            </a:r>
            <a:r>
              <a:rPr lang="en-US" altLang="zh-CN" b="1" dirty="0">
                <a:solidFill>
                  <a:srgbClr val="000000"/>
                </a:solidFill>
              </a:rPr>
              <a:t>&lt;option&gt;</a:t>
            </a:r>
            <a:endParaRPr lang="en-US" altLang="zh-CN" b="1" dirty="0">
              <a:solidFill>
                <a:srgbClr val="000000"/>
              </a:solidFill>
            </a:endParaRPr>
          </a:p>
          <a:p>
            <a:pPr marL="0" indent="0" algn="just">
              <a:buNone/>
            </a:pPr>
            <a:r>
              <a:rPr lang="zh-CN" altLang="en-US" sz="2800" dirty="0">
                <a:solidFill>
                  <a:srgbClr val="000000"/>
                </a:solidFill>
              </a:rPr>
              <a:t>在表单中，通过</a:t>
            </a:r>
            <a:r>
              <a:rPr lang="en-US" altLang="zh-CN" sz="2800" dirty="0">
                <a:solidFill>
                  <a:srgbClr val="000000"/>
                </a:solidFill>
              </a:rPr>
              <a:t>&lt;select&gt;</a:t>
            </a:r>
            <a:r>
              <a:rPr lang="zh-CN" altLang="en-US" sz="2800" dirty="0">
                <a:solidFill>
                  <a:srgbClr val="000000"/>
                </a:solidFill>
              </a:rPr>
              <a:t>和</a:t>
            </a:r>
            <a:r>
              <a:rPr lang="en-US" altLang="zh-CN" sz="2800" dirty="0">
                <a:solidFill>
                  <a:srgbClr val="000000"/>
                </a:solidFill>
              </a:rPr>
              <a:t>&lt;option&gt;</a:t>
            </a:r>
            <a:r>
              <a:rPr lang="zh-CN" altLang="en-US" sz="2800" dirty="0">
                <a:solidFill>
                  <a:srgbClr val="000000"/>
                </a:solidFill>
              </a:rPr>
              <a:t>标签可设计一个下拉式的列表或带有滚动条的列表，用户可以在列表中选中一个或多个选项。</a:t>
            </a:r>
            <a:endParaRPr lang="zh-CN" altLang="en-US" sz="2800" dirty="0">
              <a:solidFill>
                <a:srgbClr val="000000"/>
              </a:solidFill>
            </a:endParaRPr>
          </a:p>
          <a:p>
            <a:pPr marL="0" indent="0">
              <a:buNone/>
            </a:pPr>
            <a:endParaRPr lang="en-US" altLang="zh-CN" sz="2800" dirty="0">
              <a:solidFill>
                <a:srgbClr val="000000"/>
              </a:solidFill>
            </a:endParaRPr>
          </a:p>
          <a:p>
            <a:pPr marL="0" indent="0">
              <a:buNone/>
            </a:pPr>
            <a:r>
              <a:rPr lang="zh-CN" altLang="en-US" sz="2800" dirty="0">
                <a:solidFill>
                  <a:srgbClr val="0000FF"/>
                </a:solidFill>
              </a:rPr>
              <a:t>基本语法：</a:t>
            </a:r>
            <a:endParaRPr lang="zh-CN" altLang="en-US" sz="2800" dirty="0">
              <a:solidFill>
                <a:srgbClr val="0000FF"/>
              </a:solidFill>
            </a:endParaRPr>
          </a:p>
          <a:p>
            <a:pPr marL="0" indent="0">
              <a:buNone/>
            </a:pPr>
            <a:r>
              <a:rPr lang="en-US" altLang="zh-CN" sz="2800" dirty="0">
                <a:solidFill>
                  <a:srgbClr val="0000FF"/>
                </a:solidFill>
              </a:rPr>
              <a:t>&lt;select </a:t>
            </a:r>
            <a:r>
              <a:rPr lang="en-US" altLang="zh-CN" sz="2800" dirty="0">
                <a:solidFill>
                  <a:srgbClr val="000000"/>
                </a:solidFill>
              </a:rPr>
              <a:t>name="" size="" multiple</a:t>
            </a:r>
            <a:r>
              <a:rPr lang="en-US" altLang="zh-CN" sz="2800" dirty="0">
                <a:solidFill>
                  <a:srgbClr val="0000FF"/>
                </a:solidFill>
              </a:rPr>
              <a:t>&gt;</a:t>
            </a:r>
            <a:endParaRPr lang="en-US" altLang="zh-CN" sz="2800" dirty="0">
              <a:solidFill>
                <a:srgbClr val="0000FF"/>
              </a:solidFill>
            </a:endParaRPr>
          </a:p>
          <a:p>
            <a:pPr marL="0" indent="0">
              <a:buNone/>
            </a:pPr>
            <a:r>
              <a:rPr lang="en-US" altLang="zh-CN" sz="2800" dirty="0">
                <a:solidFill>
                  <a:srgbClr val="000000"/>
                </a:solidFill>
              </a:rPr>
              <a:t>      </a:t>
            </a:r>
            <a:r>
              <a:rPr lang="en-US" altLang="zh-CN" sz="2800" dirty="0">
                <a:solidFill>
                  <a:srgbClr val="0000FF"/>
                </a:solidFill>
              </a:rPr>
              <a:t>&lt;option </a:t>
            </a:r>
            <a:r>
              <a:rPr lang="en-US" altLang="zh-CN" sz="2800" dirty="0">
                <a:solidFill>
                  <a:srgbClr val="000000"/>
                </a:solidFill>
              </a:rPr>
              <a:t>value="" selected&gt;…</a:t>
            </a:r>
            <a:r>
              <a:rPr lang="en-US" altLang="zh-CN" sz="2800" dirty="0">
                <a:solidFill>
                  <a:srgbClr val="0000FF"/>
                </a:solidFill>
              </a:rPr>
              <a:t>&lt;/option&gt;</a:t>
            </a:r>
            <a:endParaRPr lang="en-US" altLang="zh-CN" sz="2800" dirty="0">
              <a:solidFill>
                <a:srgbClr val="0000FF"/>
              </a:solidFill>
            </a:endParaRPr>
          </a:p>
          <a:p>
            <a:pPr marL="0" indent="0">
              <a:buNone/>
            </a:pPr>
            <a:r>
              <a:rPr lang="en-US" altLang="zh-CN" sz="2800" dirty="0">
                <a:solidFill>
                  <a:srgbClr val="000000"/>
                </a:solidFill>
              </a:rPr>
              <a:t>     </a:t>
            </a:r>
            <a:r>
              <a:rPr lang="en-US" altLang="zh-CN" sz="2800" dirty="0">
                <a:solidFill>
                  <a:srgbClr val="0000FF"/>
                </a:solidFill>
              </a:rPr>
              <a:t> &lt;option </a:t>
            </a:r>
            <a:r>
              <a:rPr lang="en-US" altLang="zh-CN" sz="2800" dirty="0">
                <a:solidFill>
                  <a:srgbClr val="000000"/>
                </a:solidFill>
              </a:rPr>
              <a:t>value=""&gt;…</a:t>
            </a:r>
            <a:r>
              <a:rPr lang="en-US" altLang="zh-CN" sz="2800" dirty="0">
                <a:solidFill>
                  <a:srgbClr val="0000FF"/>
                </a:solidFill>
              </a:rPr>
              <a:t>&lt;/option&gt;</a:t>
            </a:r>
            <a:endParaRPr lang="en-US" altLang="zh-CN" sz="2800" dirty="0">
              <a:solidFill>
                <a:srgbClr val="0000FF"/>
              </a:solidFill>
            </a:endParaRPr>
          </a:p>
          <a:p>
            <a:pPr marL="0" indent="0">
              <a:buNone/>
            </a:pPr>
            <a:r>
              <a:rPr lang="en-US" altLang="zh-CN" sz="2800" dirty="0">
                <a:solidFill>
                  <a:srgbClr val="000000"/>
                </a:solidFill>
              </a:rPr>
              <a:t>      ……</a:t>
            </a:r>
            <a:endParaRPr lang="en-US" altLang="zh-CN" sz="2800" dirty="0">
              <a:solidFill>
                <a:srgbClr val="000000"/>
              </a:solidFill>
            </a:endParaRPr>
          </a:p>
          <a:p>
            <a:pPr marL="0" indent="0">
              <a:buNone/>
            </a:pPr>
            <a:r>
              <a:rPr lang="en-US" altLang="zh-CN" sz="2800" dirty="0">
                <a:solidFill>
                  <a:srgbClr val="0000FF"/>
                </a:solidFill>
              </a:rPr>
              <a:t>&lt;/select&gt;</a:t>
            </a:r>
            <a:endParaRPr lang="en-US" altLang="zh-CN" sz="2800" dirty="0">
              <a:solidFill>
                <a:srgbClr val="0000FF"/>
              </a:solidFill>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2.1.3  HTML</a:t>
            </a:r>
            <a:r>
              <a:rPr lang="zh-CN" altLang="en-US" baseline="0" dirty="0">
                <a:latin typeface="Times New Roman" panose="02020603050405020304" pitchFamily="18" charset="0"/>
                <a:ea typeface="黑体" panose="02010609060101010101" pitchFamily="49" charset="-122"/>
                <a:cs typeface="+mj-cs"/>
              </a:rPr>
              <a:t>表单标签与表单设计</a:t>
            </a:r>
            <a:endParaRPr lang="zh-CN" altLang="en-US" baseline="0" dirty="0">
              <a:latin typeface="Times New Roman" panose="02020603050405020304" pitchFamily="18" charset="0"/>
              <a:ea typeface="黑体" panose="02010609060101010101" pitchFamily="49" charset="-122"/>
              <a:cs typeface="+mj-cs"/>
            </a:endParaRPr>
          </a:p>
        </p:txBody>
      </p:sp>
      <p:sp>
        <p:nvSpPr>
          <p:cNvPr id="5017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4. </a:t>
            </a:r>
            <a:r>
              <a:rPr lang="zh-CN" altLang="en-US" b="1" dirty="0">
                <a:solidFill>
                  <a:srgbClr val="000000"/>
                </a:solidFill>
              </a:rPr>
              <a:t>多行文本框</a:t>
            </a:r>
            <a:r>
              <a:rPr lang="en-US" altLang="zh-CN" b="1" dirty="0">
                <a:solidFill>
                  <a:srgbClr val="000000"/>
                </a:solidFill>
              </a:rPr>
              <a:t>&lt;textarea&gt;</a:t>
            </a:r>
            <a:r>
              <a:rPr lang="zh-CN" altLang="en-US" b="1" dirty="0">
                <a:solidFill>
                  <a:srgbClr val="000000"/>
                </a:solidFill>
              </a:rPr>
              <a:t>标签</a:t>
            </a:r>
            <a:endParaRPr lang="zh-CN" altLang="en-US" b="1" dirty="0">
              <a:solidFill>
                <a:srgbClr val="000000"/>
              </a:solidFill>
            </a:endParaRPr>
          </a:p>
          <a:p>
            <a:pPr marL="0" indent="0">
              <a:buNone/>
            </a:pPr>
            <a:r>
              <a:rPr lang="zh-CN" altLang="en-US" sz="2400" dirty="0">
                <a:solidFill>
                  <a:srgbClr val="000000"/>
                </a:solidFill>
              </a:rPr>
              <a:t>基本语法：</a:t>
            </a:r>
            <a:endParaRPr lang="zh-CN" altLang="en-US" sz="2400" dirty="0">
              <a:solidFill>
                <a:srgbClr val="000000"/>
              </a:solidFill>
            </a:endParaRPr>
          </a:p>
          <a:p>
            <a:pPr marL="0" indent="0">
              <a:buNone/>
            </a:pPr>
            <a:r>
              <a:rPr lang="en-US" altLang="zh-CN" sz="2400" dirty="0">
                <a:solidFill>
                  <a:srgbClr val="000000"/>
                </a:solidFill>
              </a:rPr>
              <a:t>     </a:t>
            </a:r>
            <a:r>
              <a:rPr lang="en-US" altLang="zh-CN" sz="2400" dirty="0">
                <a:solidFill>
                  <a:srgbClr val="0000FF"/>
                </a:solidFill>
              </a:rPr>
              <a:t>&lt;textarea</a:t>
            </a:r>
            <a:r>
              <a:rPr lang="en-US" altLang="zh-CN" sz="2400" dirty="0">
                <a:solidFill>
                  <a:srgbClr val="000000"/>
                </a:solidFill>
              </a:rPr>
              <a:t>  name=""</a:t>
            </a:r>
            <a:r>
              <a:rPr lang="zh-CN" altLang="en-US" sz="2400" dirty="0">
                <a:solidFill>
                  <a:srgbClr val="000000"/>
                </a:solidFill>
              </a:rPr>
              <a:t> </a:t>
            </a:r>
            <a:r>
              <a:rPr lang="en-US" altLang="zh-CN" sz="2400" dirty="0">
                <a:solidFill>
                  <a:srgbClr val="000000"/>
                </a:solidFill>
              </a:rPr>
              <a:t>rows="" </a:t>
            </a:r>
            <a:endParaRPr lang="en-US" altLang="zh-CN" sz="2400" dirty="0">
              <a:solidFill>
                <a:srgbClr val="000000"/>
              </a:solidFill>
            </a:endParaRPr>
          </a:p>
          <a:p>
            <a:pPr marL="0" indent="0">
              <a:buNone/>
            </a:pPr>
            <a:r>
              <a:rPr lang="en-US" altLang="zh-CN" sz="2400" dirty="0">
                <a:solidFill>
                  <a:srgbClr val="000000"/>
                </a:solidFill>
              </a:rPr>
              <a:t>                      cols="" </a:t>
            </a:r>
            <a:endParaRPr lang="en-US" altLang="zh-CN" sz="2400" dirty="0">
              <a:solidFill>
                <a:srgbClr val="000000"/>
              </a:solidFill>
            </a:endParaRPr>
          </a:p>
          <a:p>
            <a:pPr marL="0" indent="0">
              <a:buNone/>
            </a:pPr>
            <a:r>
              <a:rPr lang="en-US" altLang="zh-CN" sz="2400" dirty="0">
                <a:solidFill>
                  <a:srgbClr val="000000"/>
                </a:solidFill>
              </a:rPr>
              <a:t>                       wrap="off|virtual|physical"</a:t>
            </a:r>
            <a:r>
              <a:rPr lang="en-US" altLang="zh-CN" sz="2400" dirty="0">
                <a:solidFill>
                  <a:srgbClr val="0000FF"/>
                </a:solidFill>
              </a:rPr>
              <a:t>&gt;</a:t>
            </a:r>
            <a:endParaRPr lang="en-US" altLang="zh-CN" sz="2400" dirty="0">
              <a:solidFill>
                <a:srgbClr val="0000FF"/>
              </a:solidFill>
            </a:endParaRPr>
          </a:p>
          <a:p>
            <a:pPr marL="0" indent="0">
              <a:buNone/>
            </a:pPr>
            <a:r>
              <a:rPr lang="en-US" altLang="zh-CN" sz="2400" dirty="0">
                <a:solidFill>
                  <a:srgbClr val="000000"/>
                </a:solidFill>
              </a:rPr>
              <a:t>                     </a:t>
            </a:r>
            <a:r>
              <a:rPr lang="zh-CN" altLang="en-US" sz="2400" dirty="0">
                <a:solidFill>
                  <a:srgbClr val="000000"/>
                </a:solidFill>
              </a:rPr>
              <a:t>初始值</a:t>
            </a:r>
            <a:endParaRPr lang="zh-CN" altLang="en-US" sz="2400" dirty="0">
              <a:solidFill>
                <a:srgbClr val="000000"/>
              </a:solidFill>
            </a:endParaRPr>
          </a:p>
          <a:p>
            <a:pPr marL="0" indent="0">
              <a:buNone/>
            </a:pPr>
            <a:r>
              <a:rPr lang="en-US" altLang="zh-CN" sz="2400" dirty="0">
                <a:solidFill>
                  <a:srgbClr val="000000"/>
                </a:solidFill>
              </a:rPr>
              <a:t>     </a:t>
            </a:r>
            <a:r>
              <a:rPr lang="en-US" altLang="zh-CN" sz="2400" dirty="0">
                <a:solidFill>
                  <a:srgbClr val="0000FF"/>
                </a:solidFill>
              </a:rPr>
              <a:t>&lt;/textarea&gt;</a:t>
            </a:r>
            <a:endParaRPr lang="en-US" altLang="zh-CN" sz="2400" dirty="0">
              <a:solidFill>
                <a:srgbClr val="0000FF"/>
              </a:solidFill>
            </a:endParaRPr>
          </a:p>
          <a:p>
            <a:pPr marL="0" indent="0">
              <a:buNone/>
            </a:pPr>
            <a:r>
              <a:rPr lang="zh-CN" altLang="en-US" sz="2400" dirty="0">
                <a:solidFill>
                  <a:srgbClr val="000000"/>
                </a:solidFill>
              </a:rPr>
              <a:t>       其中：</a:t>
            </a:r>
            <a:endParaRPr lang="en-US" altLang="zh-CN" sz="2400" dirty="0">
              <a:solidFill>
                <a:srgbClr val="000000"/>
              </a:solidFill>
            </a:endParaRPr>
          </a:p>
          <a:p>
            <a:pPr marL="0" indent="0">
              <a:buNone/>
            </a:pPr>
            <a:r>
              <a:rPr lang="en-US" altLang="zh-CN" sz="2400" dirty="0">
                <a:solidFill>
                  <a:srgbClr val="000000"/>
                </a:solidFill>
              </a:rPr>
              <a:t>              rows</a:t>
            </a:r>
            <a:r>
              <a:rPr lang="zh-CN" altLang="en-US" sz="2400" dirty="0">
                <a:solidFill>
                  <a:srgbClr val="000000"/>
                </a:solidFill>
              </a:rPr>
              <a:t>设置输入域的行数，</a:t>
            </a:r>
            <a:endParaRPr lang="en-US" altLang="zh-CN" sz="2400" dirty="0">
              <a:solidFill>
                <a:srgbClr val="000000"/>
              </a:solidFill>
            </a:endParaRPr>
          </a:p>
          <a:p>
            <a:pPr marL="0" indent="0">
              <a:buNone/>
            </a:pPr>
            <a:r>
              <a:rPr lang="en-US" altLang="zh-CN" sz="2400" dirty="0">
                <a:solidFill>
                  <a:srgbClr val="000000"/>
                </a:solidFill>
              </a:rPr>
              <a:t>              cols</a:t>
            </a:r>
            <a:r>
              <a:rPr lang="zh-CN" altLang="en-US" sz="2400" dirty="0">
                <a:solidFill>
                  <a:srgbClr val="000000"/>
                </a:solidFill>
              </a:rPr>
              <a:t>设置输入域的列数，</a:t>
            </a:r>
            <a:endParaRPr lang="en-US" altLang="zh-CN" sz="2400" dirty="0">
              <a:solidFill>
                <a:srgbClr val="000000"/>
              </a:solidFill>
            </a:endParaRPr>
          </a:p>
          <a:p>
            <a:pPr marL="0" indent="0">
              <a:buNone/>
            </a:pPr>
            <a:r>
              <a:rPr lang="en-US" altLang="zh-CN" sz="2400" dirty="0">
                <a:solidFill>
                  <a:srgbClr val="000000"/>
                </a:solidFill>
              </a:rPr>
              <a:t>              wrap</a:t>
            </a:r>
            <a:r>
              <a:rPr lang="zh-CN" altLang="en-US" sz="2400" dirty="0">
                <a:solidFill>
                  <a:srgbClr val="000000"/>
                </a:solidFill>
              </a:rPr>
              <a:t>设置是否自动换行。</a:t>
            </a:r>
            <a:endParaRPr lang="zh-CN" altLang="en-US" sz="2400" dirty="0">
              <a:solidFill>
                <a:srgbClr val="000000"/>
              </a:solidFill>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200" baseline="0" dirty="0">
                <a:latin typeface="Times New Roman" panose="02020603050405020304" pitchFamily="18" charset="0"/>
                <a:ea typeface="黑体" panose="02010609060101010101" pitchFamily="49" charset="-122"/>
                <a:cs typeface="+mj-cs"/>
              </a:rPr>
              <a:t>2.1.4  </a:t>
            </a:r>
            <a:r>
              <a:rPr lang="zh-CN" altLang="en-US" sz="3200" baseline="0" dirty="0">
                <a:latin typeface="Times New Roman" panose="02020603050405020304" pitchFamily="18" charset="0"/>
                <a:ea typeface="黑体" panose="02010609060101010101" pitchFamily="49" charset="-122"/>
                <a:cs typeface="+mj-cs"/>
              </a:rPr>
              <a:t>表单设计案例</a:t>
            </a:r>
            <a:br>
              <a:rPr lang="zh-CN" altLang="en-US" sz="3200" baseline="0" dirty="0">
                <a:latin typeface="Times New Roman" panose="02020603050405020304" pitchFamily="18" charset="0"/>
                <a:ea typeface="黑体" panose="02010609060101010101" pitchFamily="49" charset="-122"/>
                <a:cs typeface="+mj-cs"/>
              </a:rPr>
            </a:br>
            <a:r>
              <a:rPr lang="zh-CN" altLang="en-US" sz="3200" baseline="0" dirty="0">
                <a:latin typeface="Times New Roman" panose="02020603050405020304" pitchFamily="18" charset="0"/>
                <a:ea typeface="黑体" panose="02010609060101010101" pitchFamily="49" charset="-122"/>
                <a:cs typeface="+mj-cs"/>
              </a:rPr>
              <a:t>                       </a:t>
            </a:r>
            <a:r>
              <a:rPr lang="en-US" altLang="zh-CN" sz="3200" baseline="0" dirty="0">
                <a:latin typeface="Times New Roman" panose="02020603050405020304" pitchFamily="18" charset="0"/>
                <a:ea typeface="黑体" panose="02010609060101010101" pitchFamily="49" charset="-122"/>
                <a:cs typeface="+mj-cs"/>
              </a:rPr>
              <a:t>—</a:t>
            </a:r>
            <a:r>
              <a:rPr lang="zh-CN" altLang="en-US" sz="3200" baseline="0" dirty="0">
                <a:latin typeface="Times New Roman" panose="02020603050405020304" pitchFamily="18" charset="0"/>
                <a:ea typeface="黑体" panose="02010609060101010101" pitchFamily="49" charset="-122"/>
                <a:cs typeface="+mj-cs"/>
              </a:rPr>
              <a:t>学生入校注册页面设计</a:t>
            </a:r>
            <a:endParaRPr lang="zh-CN" altLang="en-US" sz="3200" baseline="0" dirty="0">
              <a:latin typeface="Times New Roman" panose="02020603050405020304" pitchFamily="18" charset="0"/>
              <a:ea typeface="黑体" panose="02010609060101010101" pitchFamily="49" charset="-122"/>
              <a:cs typeface="+mj-cs"/>
            </a:endParaRPr>
          </a:p>
        </p:txBody>
      </p:sp>
      <p:sp>
        <p:nvSpPr>
          <p:cNvPr id="5120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dirty="0"/>
              <a:t>【</a:t>
            </a:r>
            <a:r>
              <a:rPr lang="zh-CN" altLang="en-US" dirty="0"/>
              <a:t>例</a:t>
            </a:r>
            <a:r>
              <a:rPr lang="en-US" altLang="zh-CN" dirty="0"/>
              <a:t>2-6】</a:t>
            </a:r>
            <a:r>
              <a:rPr lang="zh-CN" altLang="en-US" dirty="0"/>
              <a:t>设计所示的学生信息注册网页。</a:t>
            </a:r>
            <a:endParaRPr lang="zh-CN" altLang="en-US" dirty="0"/>
          </a:p>
        </p:txBody>
      </p:sp>
      <p:pic>
        <p:nvPicPr>
          <p:cNvPr id="51203" name="图片 3"/>
          <p:cNvPicPr>
            <a:picLocks noChangeAspect="1"/>
          </p:cNvPicPr>
          <p:nvPr/>
        </p:nvPicPr>
        <p:blipFill>
          <a:blip r:embed="rId1"/>
          <a:srcRect t="4462" b="13393"/>
          <a:stretch>
            <a:fillRect/>
          </a:stretch>
        </p:blipFill>
        <p:spPr>
          <a:xfrm>
            <a:off x="1371600" y="1916113"/>
            <a:ext cx="6400800" cy="4113212"/>
          </a:xfrm>
          <a:prstGeom prst="rect">
            <a:avLst/>
          </a:prstGeom>
          <a:noFill/>
          <a:ln w="9525">
            <a:noFill/>
          </a:ln>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200" baseline="0" dirty="0">
                <a:solidFill>
                  <a:srgbClr val="000000"/>
                </a:solidFill>
                <a:latin typeface="Times New Roman" panose="02020603050405020304" pitchFamily="18" charset="0"/>
                <a:ea typeface="黑体" panose="02010609060101010101" pitchFamily="49" charset="-122"/>
                <a:cs typeface="+mj-cs"/>
              </a:rPr>
              <a:t>2.1.4  </a:t>
            </a:r>
            <a:r>
              <a:rPr lang="zh-CN" altLang="en-US" sz="3200" baseline="0" dirty="0">
                <a:solidFill>
                  <a:srgbClr val="000000"/>
                </a:solidFill>
                <a:latin typeface="Times New Roman" panose="02020603050405020304" pitchFamily="18" charset="0"/>
                <a:ea typeface="黑体" panose="02010609060101010101" pitchFamily="49" charset="-122"/>
                <a:cs typeface="+mj-cs"/>
              </a:rPr>
              <a:t>表单设计案例</a:t>
            </a:r>
            <a:br>
              <a:rPr lang="zh-CN" altLang="en-US" sz="3200" baseline="0" dirty="0">
                <a:solidFill>
                  <a:srgbClr val="000000"/>
                </a:solidFill>
                <a:latin typeface="Times New Roman" panose="02020603050405020304" pitchFamily="18" charset="0"/>
                <a:ea typeface="黑体" panose="02010609060101010101" pitchFamily="49" charset="-122"/>
                <a:cs typeface="+mj-cs"/>
              </a:rPr>
            </a:br>
            <a:r>
              <a:rPr lang="zh-CN" altLang="en-US" sz="3200" baseline="0" dirty="0">
                <a:solidFill>
                  <a:srgbClr val="000000"/>
                </a:solidFill>
                <a:latin typeface="Times New Roman" panose="02020603050405020304" pitchFamily="18" charset="0"/>
                <a:ea typeface="黑体" panose="02010609060101010101" pitchFamily="49" charset="-122"/>
                <a:cs typeface="+mj-cs"/>
              </a:rPr>
              <a:t>                       </a:t>
            </a:r>
            <a:r>
              <a:rPr lang="en-US" altLang="zh-CN" sz="3200" baseline="0" dirty="0">
                <a:solidFill>
                  <a:srgbClr val="000000"/>
                </a:solidFill>
                <a:latin typeface="Times New Roman" panose="02020603050405020304" pitchFamily="18" charset="0"/>
                <a:ea typeface="黑体" panose="02010609060101010101" pitchFamily="49" charset="-122"/>
                <a:cs typeface="+mj-cs"/>
              </a:rPr>
              <a:t>—</a:t>
            </a:r>
            <a:r>
              <a:rPr lang="zh-CN" altLang="en-US" sz="3200" baseline="0" dirty="0">
                <a:solidFill>
                  <a:srgbClr val="000000"/>
                </a:solidFill>
                <a:latin typeface="Times New Roman" panose="02020603050405020304" pitchFamily="18" charset="0"/>
                <a:ea typeface="黑体" panose="02010609060101010101" pitchFamily="49" charset="-122"/>
                <a:cs typeface="+mj-cs"/>
              </a:rPr>
              <a:t>学生入校注册页面设计</a:t>
            </a:r>
            <a:endParaRPr lang="zh-CN" altLang="en-US" baseline="0" dirty="0">
              <a:latin typeface="Times New Roman" panose="02020603050405020304" pitchFamily="18" charset="0"/>
              <a:ea typeface="黑体" panose="02010609060101010101" pitchFamily="49" charset="-122"/>
              <a:cs typeface="+mj-cs"/>
            </a:endParaRPr>
          </a:p>
        </p:txBody>
      </p:sp>
      <p:sp>
        <p:nvSpPr>
          <p:cNvPr id="5222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dirty="0">
                <a:solidFill>
                  <a:srgbClr val="000000"/>
                </a:solidFill>
              </a:rPr>
              <a:t>【</a:t>
            </a:r>
            <a:r>
              <a:rPr lang="zh-CN" altLang="en-US" dirty="0">
                <a:solidFill>
                  <a:srgbClr val="000000"/>
                </a:solidFill>
              </a:rPr>
              <a:t>分析</a:t>
            </a:r>
            <a:r>
              <a:rPr lang="en-US" altLang="zh-CN" dirty="0">
                <a:solidFill>
                  <a:srgbClr val="000000"/>
                </a:solidFill>
              </a:rPr>
              <a:t>】</a:t>
            </a:r>
            <a:endParaRPr lang="en-US" altLang="zh-CN" dirty="0">
              <a:solidFill>
                <a:srgbClr val="000000"/>
              </a:solidFill>
            </a:endParaRPr>
          </a:p>
          <a:p>
            <a:pPr marL="0" indent="0">
              <a:buNone/>
            </a:pPr>
            <a:r>
              <a:rPr lang="en-US" altLang="zh-CN" dirty="0">
                <a:solidFill>
                  <a:srgbClr val="000000"/>
                </a:solidFill>
              </a:rPr>
              <a:t>        </a:t>
            </a:r>
            <a:r>
              <a:rPr lang="zh-CN" altLang="en-US" sz="2800" dirty="0">
                <a:solidFill>
                  <a:srgbClr val="000000"/>
                </a:solidFill>
              </a:rPr>
              <a:t>该页面采用表单的方式设计，为了使页面各元素整齐，采用表格的方式控制元素的位置。该例中给出了表单常用的各种元素，请注意它们的使用特点。</a:t>
            </a:r>
            <a:endParaRPr lang="en-US" altLang="zh-CN" sz="2800" dirty="0">
              <a:solidFill>
                <a:srgbClr val="000000"/>
              </a:solidFill>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2.1.5  HTML</a:t>
            </a:r>
            <a:r>
              <a:rPr lang="zh-CN" altLang="en-US" baseline="0" dirty="0">
                <a:latin typeface="Times New Roman" panose="02020603050405020304" pitchFamily="18" charset="0"/>
                <a:ea typeface="黑体" panose="02010609060101010101" pitchFamily="49" charset="-122"/>
                <a:cs typeface="+mj-cs"/>
              </a:rPr>
              <a:t>框架标签与框架设计</a:t>
            </a:r>
            <a:endParaRPr lang="zh-CN" altLang="en-US" baseline="0" dirty="0">
              <a:latin typeface="Times New Roman" panose="02020603050405020304" pitchFamily="18" charset="0"/>
              <a:ea typeface="黑体" panose="02010609060101010101" pitchFamily="49" charset="-122"/>
              <a:cs typeface="+mj-cs"/>
            </a:endParaRPr>
          </a:p>
        </p:txBody>
      </p:sp>
      <p:sp>
        <p:nvSpPr>
          <p:cNvPr id="53250" name="内容占位符 2"/>
          <p:cNvSpPr>
            <a:spLocks noGrp="1"/>
          </p:cNvSpPr>
          <p:nvPr>
            <p:ph idx="1"/>
          </p:nvPr>
        </p:nvSpPr>
        <p:spPr>
          <a:xfrm>
            <a:off x="107950" y="1125538"/>
            <a:ext cx="8928100" cy="1295400"/>
          </a:xfrm>
        </p:spPr>
        <p:txBody>
          <a:bodyPr vert="horz" wrap="square" lIns="91440" tIns="45720" rIns="91440" bIns="45720" anchor="t" anchorCtr="0"/>
          <a:p>
            <a:pPr marL="0" indent="0">
              <a:buNone/>
            </a:pPr>
            <a:r>
              <a:rPr lang="zh-CN" altLang="en-US" dirty="0"/>
              <a:t>   框架将浏览器窗口分割为几个窗口，下图就是一个框架，该框架被分为</a:t>
            </a:r>
            <a:r>
              <a:rPr lang="en-US" altLang="zh-CN" dirty="0"/>
              <a:t>4</a:t>
            </a:r>
            <a:r>
              <a:rPr lang="zh-CN" altLang="en-US" dirty="0"/>
              <a:t>个窗口。</a:t>
            </a:r>
            <a:endParaRPr lang="zh-CN" altLang="en-US" dirty="0"/>
          </a:p>
        </p:txBody>
      </p:sp>
      <p:pic>
        <p:nvPicPr>
          <p:cNvPr id="53251" name="Picture 13" descr="图 3"/>
          <p:cNvPicPr>
            <a:picLocks noChangeAspect="1"/>
          </p:cNvPicPr>
          <p:nvPr/>
        </p:nvPicPr>
        <p:blipFill>
          <a:blip r:embed="rId1"/>
          <a:stretch>
            <a:fillRect/>
          </a:stretch>
        </p:blipFill>
        <p:spPr>
          <a:xfrm>
            <a:off x="1331913" y="2205038"/>
            <a:ext cx="6369050" cy="4554537"/>
          </a:xfrm>
          <a:prstGeom prst="rect">
            <a:avLst/>
          </a:prstGeom>
          <a:noFill/>
          <a:ln w="9525">
            <a:noFill/>
          </a:ln>
        </p:spPr>
      </p:pic>
      <p:sp>
        <p:nvSpPr>
          <p:cNvPr id="2" name="对话气泡: 圆角矩形 1"/>
          <p:cNvSpPr/>
          <p:nvPr/>
        </p:nvSpPr>
        <p:spPr>
          <a:xfrm>
            <a:off x="8027988" y="2565400"/>
            <a:ext cx="896938" cy="576263"/>
          </a:xfrm>
          <a:prstGeom prst="wedgeRoundRectCallout">
            <a:avLst>
              <a:gd name="adj1" fmla="val -81609"/>
              <a:gd name="adj2" fmla="val 7228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kern="1200" cap="none" spc="0" normalizeH="0" baseline="0" noProof="1" dirty="0">
                <a:solidFill>
                  <a:schemeClr val="tx1"/>
                </a:solidFill>
                <a:latin typeface="+mn-lt"/>
                <a:ea typeface="+mn-ea"/>
                <a:cs typeface="+mn-cs"/>
              </a:rPr>
              <a:t>顶部框架</a:t>
            </a:r>
            <a:endParaRPr kumimoji="0" lang="zh-CN" altLang="en-US" sz="1800" b="0" i="0" u="none" strike="noStrike" kern="1200" cap="none" spc="0" normalizeH="0" baseline="0" noProof="1" dirty="0">
              <a:solidFill>
                <a:schemeClr val="tx1"/>
              </a:solidFill>
              <a:latin typeface="+mn-lt"/>
              <a:ea typeface="+mn-ea"/>
              <a:cs typeface="+mn-cs"/>
            </a:endParaRPr>
          </a:p>
        </p:txBody>
      </p:sp>
      <p:sp>
        <p:nvSpPr>
          <p:cNvPr id="6" name="对话气泡: 圆角矩形 5"/>
          <p:cNvSpPr/>
          <p:nvPr/>
        </p:nvSpPr>
        <p:spPr>
          <a:xfrm>
            <a:off x="8027988" y="4497388"/>
            <a:ext cx="896938" cy="576263"/>
          </a:xfrm>
          <a:prstGeom prst="wedgeRoundRectCallout">
            <a:avLst>
              <a:gd name="adj1" fmla="val -136796"/>
              <a:gd name="adj2" fmla="val 1140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kern="1200" cap="none" spc="0" normalizeH="0" baseline="0" noProof="1" dirty="0">
                <a:solidFill>
                  <a:schemeClr val="tx1"/>
                </a:solidFill>
                <a:latin typeface="+mn-lt"/>
                <a:ea typeface="+mn-ea"/>
                <a:cs typeface="+mn-cs"/>
              </a:rPr>
              <a:t>商品介绍</a:t>
            </a:r>
            <a:endParaRPr kumimoji="0" lang="zh-CN" altLang="en-US" sz="1800" b="0" i="0" u="none" strike="noStrike" kern="1200" cap="none" spc="0" normalizeH="0" baseline="0" noProof="1" dirty="0">
              <a:solidFill>
                <a:schemeClr val="tx1"/>
              </a:solidFill>
              <a:latin typeface="+mn-lt"/>
              <a:ea typeface="+mn-ea"/>
              <a:cs typeface="+mn-cs"/>
            </a:endParaRPr>
          </a:p>
        </p:txBody>
      </p:sp>
      <p:sp>
        <p:nvSpPr>
          <p:cNvPr id="7" name="对话气泡: 圆角矩形 6"/>
          <p:cNvSpPr/>
          <p:nvPr/>
        </p:nvSpPr>
        <p:spPr>
          <a:xfrm>
            <a:off x="241300" y="4941888"/>
            <a:ext cx="896938" cy="574675"/>
          </a:xfrm>
          <a:prstGeom prst="wedgeRoundRectCallout">
            <a:avLst>
              <a:gd name="adj1" fmla="val 93035"/>
              <a:gd name="adj2" fmla="val 487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kern="1200" cap="none" spc="0" normalizeH="0" baseline="0" noProof="1" dirty="0">
                <a:solidFill>
                  <a:schemeClr val="tx1"/>
                </a:solidFill>
                <a:latin typeface="+mn-lt"/>
                <a:ea typeface="+mn-ea"/>
                <a:cs typeface="+mn-cs"/>
              </a:rPr>
              <a:t>商品导航</a:t>
            </a:r>
            <a:endParaRPr kumimoji="0" lang="zh-CN" altLang="en-US" sz="1800" b="0" i="0" u="none" strike="noStrike" kern="1200" cap="none" spc="0" normalizeH="0" baseline="0" noProof="1" dirty="0">
              <a:solidFill>
                <a:schemeClr val="tx1"/>
              </a:solidFill>
              <a:latin typeface="+mn-lt"/>
              <a:ea typeface="+mn-ea"/>
              <a:cs typeface="+mn-cs"/>
            </a:endParaRPr>
          </a:p>
        </p:txBody>
      </p:sp>
      <p:sp>
        <p:nvSpPr>
          <p:cNvPr id="8" name="对话气泡: 圆角矩形 7"/>
          <p:cNvSpPr/>
          <p:nvPr/>
        </p:nvSpPr>
        <p:spPr>
          <a:xfrm>
            <a:off x="133350" y="3303588"/>
            <a:ext cx="1004888" cy="755650"/>
          </a:xfrm>
          <a:prstGeom prst="wedgeRoundRectCallout">
            <a:avLst>
              <a:gd name="adj1" fmla="val 85351"/>
              <a:gd name="adj2" fmla="val -103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kern="1200" cap="none" spc="0" normalizeH="0" baseline="0" noProof="1" dirty="0">
                <a:solidFill>
                  <a:schemeClr val="tx1"/>
                </a:solidFill>
                <a:latin typeface="+mn-lt"/>
                <a:ea typeface="+mn-ea"/>
                <a:cs typeface="+mn-cs"/>
              </a:rPr>
              <a:t>标题栏框架</a:t>
            </a:r>
            <a:endParaRPr kumimoji="0" lang="zh-CN" altLang="en-US" sz="1800" b="0" i="0" u="none" strike="noStrike" kern="1200" cap="none" spc="0" normalizeH="0" baseline="0" noProof="1" dirty="0">
              <a:solidFill>
                <a:schemeClr val="tx1"/>
              </a:solidFill>
              <a:latin typeface="+mn-lt"/>
              <a:ea typeface="+mn-ea"/>
              <a:cs typeface="+mn-cs"/>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2.1.5  HTML</a:t>
            </a:r>
            <a:r>
              <a:rPr lang="zh-CN" altLang="en-US" baseline="0" dirty="0">
                <a:latin typeface="Times New Roman" panose="02020603050405020304" pitchFamily="18" charset="0"/>
                <a:ea typeface="黑体" panose="02010609060101010101" pitchFamily="49" charset="-122"/>
                <a:cs typeface="+mj-cs"/>
              </a:rPr>
              <a:t>框架标签与框架设计</a:t>
            </a:r>
            <a:endParaRPr lang="zh-CN" altLang="en-US" baseline="0" dirty="0">
              <a:latin typeface="Times New Roman" panose="02020603050405020304" pitchFamily="18" charset="0"/>
              <a:ea typeface="黑体" panose="02010609060101010101" pitchFamily="49" charset="-122"/>
              <a:cs typeface="+mj-cs"/>
            </a:endParaRPr>
          </a:p>
        </p:txBody>
      </p:sp>
      <p:sp>
        <p:nvSpPr>
          <p:cNvPr id="54274"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1. </a:t>
            </a:r>
            <a:r>
              <a:rPr lang="zh-CN" altLang="en-US" b="1" dirty="0">
                <a:solidFill>
                  <a:srgbClr val="000000"/>
                </a:solidFill>
              </a:rPr>
              <a:t>窗口的分割与设置</a:t>
            </a:r>
            <a:endParaRPr lang="en-US" altLang="zh-CN" b="1" dirty="0">
              <a:solidFill>
                <a:srgbClr val="000000"/>
              </a:solidFill>
            </a:endParaRPr>
          </a:p>
          <a:p>
            <a:pPr marL="0" indent="0">
              <a:buNone/>
            </a:pPr>
            <a:r>
              <a:rPr lang="zh-CN" altLang="en-US" sz="2400" dirty="0">
                <a:solidFill>
                  <a:srgbClr val="000000"/>
                </a:solidFill>
              </a:rPr>
              <a:t>分割框架的语法结构：</a:t>
            </a:r>
            <a:endParaRPr lang="en-US" altLang="zh-CN" sz="2400" dirty="0">
              <a:solidFill>
                <a:srgbClr val="000000"/>
              </a:solidFill>
            </a:endParaRPr>
          </a:p>
          <a:p>
            <a:pPr marL="0" indent="0">
              <a:buNone/>
            </a:pPr>
            <a:r>
              <a:rPr lang="en-US" altLang="zh-CN" sz="2400" dirty="0">
                <a:solidFill>
                  <a:srgbClr val="0000FF"/>
                </a:solidFill>
              </a:rPr>
              <a:t>&lt;frameset </a:t>
            </a:r>
            <a:r>
              <a:rPr lang="en-US" altLang="zh-CN" sz="2400" dirty="0">
                <a:solidFill>
                  <a:srgbClr val="000000"/>
                </a:solidFill>
              </a:rPr>
              <a:t>rows="</a:t>
            </a:r>
            <a:r>
              <a:rPr lang="zh-CN" altLang="en-US" sz="2400" dirty="0">
                <a:solidFill>
                  <a:srgbClr val="000000"/>
                </a:solidFill>
              </a:rPr>
              <a:t>高度</a:t>
            </a:r>
            <a:r>
              <a:rPr lang="en-US" altLang="zh-CN" sz="2400" dirty="0">
                <a:solidFill>
                  <a:srgbClr val="000000"/>
                </a:solidFill>
              </a:rPr>
              <a:t>1,</a:t>
            </a:r>
            <a:r>
              <a:rPr lang="zh-CN" altLang="en-US" sz="2400" dirty="0">
                <a:solidFill>
                  <a:srgbClr val="000000"/>
                </a:solidFill>
              </a:rPr>
              <a:t>高度</a:t>
            </a:r>
            <a:r>
              <a:rPr lang="en-US" altLang="zh-CN" sz="2400" dirty="0">
                <a:solidFill>
                  <a:srgbClr val="000000"/>
                </a:solidFill>
              </a:rPr>
              <a:t>2…"  </a:t>
            </a:r>
            <a:r>
              <a:rPr lang="zh-CN" altLang="en-US" sz="2400" dirty="0">
                <a:solidFill>
                  <a:srgbClr val="000000"/>
                </a:solidFill>
              </a:rPr>
              <a:t>或者  </a:t>
            </a:r>
            <a:r>
              <a:rPr lang="en-US" altLang="zh-CN" sz="2400" dirty="0">
                <a:solidFill>
                  <a:srgbClr val="000000"/>
                </a:solidFill>
              </a:rPr>
              <a:t>cols="</a:t>
            </a:r>
            <a:r>
              <a:rPr lang="zh-CN" altLang="en-US" sz="2400" dirty="0">
                <a:solidFill>
                  <a:srgbClr val="000000"/>
                </a:solidFill>
              </a:rPr>
              <a:t>宽度</a:t>
            </a:r>
            <a:r>
              <a:rPr lang="en-US" altLang="zh-CN" sz="2400" dirty="0">
                <a:solidFill>
                  <a:srgbClr val="000000"/>
                </a:solidFill>
              </a:rPr>
              <a:t>1,</a:t>
            </a:r>
            <a:r>
              <a:rPr lang="zh-CN" altLang="en-US" sz="2400" dirty="0">
                <a:solidFill>
                  <a:srgbClr val="000000"/>
                </a:solidFill>
              </a:rPr>
              <a:t>宽度</a:t>
            </a:r>
            <a:r>
              <a:rPr lang="en-US" altLang="zh-CN" sz="2400" dirty="0">
                <a:solidFill>
                  <a:srgbClr val="000000"/>
                </a:solidFill>
              </a:rPr>
              <a:t>2…"</a:t>
            </a:r>
            <a:r>
              <a:rPr lang="en-US" altLang="zh-CN" sz="2400" dirty="0">
                <a:solidFill>
                  <a:srgbClr val="0000FF"/>
                </a:solidFill>
              </a:rPr>
              <a:t>&gt;</a:t>
            </a:r>
            <a:endParaRPr lang="en-US" altLang="zh-CN" sz="2400" dirty="0">
              <a:solidFill>
                <a:srgbClr val="0000FF"/>
              </a:solidFill>
            </a:endParaRPr>
          </a:p>
          <a:p>
            <a:pPr marL="400050" lvl="1" indent="0">
              <a:buNone/>
            </a:pPr>
            <a:r>
              <a:rPr lang="en-US" altLang="zh-CN" sz="2400" dirty="0">
                <a:solidFill>
                  <a:srgbClr val="000000"/>
                </a:solidFill>
              </a:rPr>
              <a:t>    </a:t>
            </a:r>
            <a:r>
              <a:rPr lang="en-US" altLang="zh-CN" sz="2400" dirty="0">
                <a:solidFill>
                  <a:srgbClr val="0000FF"/>
                </a:solidFill>
              </a:rPr>
              <a:t>&lt;frame </a:t>
            </a:r>
            <a:r>
              <a:rPr lang="en-US" altLang="zh-CN" sz="2400" dirty="0">
                <a:solidFill>
                  <a:srgbClr val="000000"/>
                </a:solidFill>
              </a:rPr>
              <a:t>src="</a:t>
            </a:r>
            <a:r>
              <a:rPr lang="zh-CN" altLang="en-US" sz="2400" dirty="0">
                <a:solidFill>
                  <a:srgbClr val="000000"/>
                </a:solidFill>
              </a:rPr>
              <a:t>网页</a:t>
            </a:r>
            <a:r>
              <a:rPr lang="en-US" altLang="zh-CN" sz="2400" dirty="0">
                <a:solidFill>
                  <a:srgbClr val="000000"/>
                </a:solidFill>
              </a:rPr>
              <a:t>1"</a:t>
            </a:r>
            <a:r>
              <a:rPr lang="en-US" altLang="zh-CN" sz="2400" dirty="0">
                <a:solidFill>
                  <a:srgbClr val="0000FF"/>
                </a:solidFill>
              </a:rPr>
              <a:t>&gt;</a:t>
            </a:r>
            <a:endParaRPr lang="en-US" altLang="zh-CN" sz="2400" dirty="0">
              <a:solidFill>
                <a:srgbClr val="0000FF"/>
              </a:solidFill>
            </a:endParaRPr>
          </a:p>
          <a:p>
            <a:pPr marL="400050" lvl="1" indent="0">
              <a:buNone/>
            </a:pPr>
            <a:r>
              <a:rPr lang="en-US" altLang="zh-CN" sz="2400" dirty="0">
                <a:solidFill>
                  <a:srgbClr val="000000"/>
                </a:solidFill>
              </a:rPr>
              <a:t>    </a:t>
            </a:r>
            <a:r>
              <a:rPr lang="en-US" altLang="zh-CN" sz="2400" dirty="0">
                <a:solidFill>
                  <a:srgbClr val="0000FF"/>
                </a:solidFill>
              </a:rPr>
              <a:t>&lt;frame </a:t>
            </a:r>
            <a:r>
              <a:rPr lang="en-US" altLang="zh-CN" sz="2400" dirty="0">
                <a:solidFill>
                  <a:srgbClr val="000000"/>
                </a:solidFill>
              </a:rPr>
              <a:t>src="</a:t>
            </a:r>
            <a:r>
              <a:rPr lang="zh-CN" altLang="en-US" sz="2400" dirty="0">
                <a:solidFill>
                  <a:srgbClr val="000000"/>
                </a:solidFill>
              </a:rPr>
              <a:t>网页</a:t>
            </a:r>
            <a:r>
              <a:rPr lang="en-US" altLang="zh-CN" sz="2400" dirty="0">
                <a:solidFill>
                  <a:srgbClr val="000000"/>
                </a:solidFill>
              </a:rPr>
              <a:t>2"</a:t>
            </a:r>
            <a:r>
              <a:rPr lang="en-US" altLang="zh-CN" sz="2400" dirty="0">
                <a:solidFill>
                  <a:srgbClr val="0000FF"/>
                </a:solidFill>
              </a:rPr>
              <a:t>&gt;</a:t>
            </a:r>
            <a:endParaRPr lang="en-US" altLang="zh-CN" sz="2400" dirty="0">
              <a:solidFill>
                <a:srgbClr val="0000FF"/>
              </a:solidFill>
            </a:endParaRPr>
          </a:p>
          <a:p>
            <a:pPr marL="400050" lvl="1" indent="0">
              <a:buNone/>
            </a:pPr>
            <a:r>
              <a:rPr lang="en-US" altLang="zh-CN" sz="2400" dirty="0">
                <a:solidFill>
                  <a:srgbClr val="000000"/>
                </a:solidFill>
              </a:rPr>
              <a:t>    … …</a:t>
            </a:r>
            <a:endParaRPr lang="en-US" altLang="zh-CN" sz="2400" dirty="0">
              <a:solidFill>
                <a:srgbClr val="000000"/>
              </a:solidFill>
            </a:endParaRPr>
          </a:p>
          <a:p>
            <a:pPr marL="400050" lvl="1" indent="0">
              <a:buNone/>
            </a:pPr>
            <a:r>
              <a:rPr lang="en-US" altLang="zh-CN" sz="2400" dirty="0">
                <a:solidFill>
                  <a:srgbClr val="0000FF"/>
                </a:solidFill>
              </a:rPr>
              <a:t>&lt;/frameset&gt;</a:t>
            </a:r>
            <a:endParaRPr lang="en-US" altLang="zh-CN" sz="2400" dirty="0">
              <a:solidFill>
                <a:srgbClr val="0000FF"/>
              </a:solidFill>
            </a:endParaRPr>
          </a:p>
          <a:p>
            <a:pPr marL="400050" lvl="1" indent="0">
              <a:buNone/>
            </a:pPr>
            <a:r>
              <a:rPr lang="en-US" altLang="zh-CN" sz="3200" b="1" dirty="0">
                <a:solidFill>
                  <a:srgbClr val="000000"/>
                </a:solidFill>
              </a:rPr>
              <a:t>2. </a:t>
            </a:r>
            <a:r>
              <a:rPr lang="zh-CN" altLang="en-US" sz="3200" b="1" dirty="0">
                <a:solidFill>
                  <a:srgbClr val="000000"/>
                </a:solidFill>
              </a:rPr>
              <a:t>子窗口的设置</a:t>
            </a:r>
            <a:endParaRPr lang="zh-CN" altLang="en-US" sz="3200" b="1" dirty="0">
              <a:solidFill>
                <a:srgbClr val="000000"/>
              </a:solidFill>
            </a:endParaRPr>
          </a:p>
          <a:p>
            <a:pPr marL="400050" lvl="1" indent="0">
              <a:buNone/>
            </a:pPr>
            <a:r>
              <a:rPr lang="zh-CN" altLang="en-US" sz="2400" dirty="0"/>
              <a:t>基本语法：</a:t>
            </a:r>
            <a:endParaRPr lang="zh-CN" altLang="en-US" sz="2400" dirty="0"/>
          </a:p>
          <a:p>
            <a:pPr marL="400050" lvl="1" indent="0">
              <a:buNone/>
            </a:pPr>
            <a:r>
              <a:rPr lang="en-US" altLang="zh-CN" sz="2400" dirty="0">
                <a:solidFill>
                  <a:srgbClr val="0000FF"/>
                </a:solidFill>
              </a:rPr>
              <a:t>&lt;frame </a:t>
            </a:r>
            <a:r>
              <a:rPr lang="en-US" altLang="zh-CN" sz="2400" dirty="0"/>
              <a:t>src="html</a:t>
            </a:r>
            <a:r>
              <a:rPr lang="zh-CN" altLang="en-US" sz="2400" dirty="0"/>
              <a:t>文件的位置</a:t>
            </a:r>
            <a:r>
              <a:rPr lang="en-US" altLang="zh-CN" sz="2400" dirty="0"/>
              <a:t>" </a:t>
            </a:r>
            <a:endParaRPr lang="en-US" altLang="zh-CN" sz="2400" dirty="0"/>
          </a:p>
          <a:p>
            <a:pPr marL="400050" lvl="1" indent="0">
              <a:buNone/>
            </a:pPr>
            <a:r>
              <a:rPr lang="en-US" altLang="zh-CN" sz="2400" dirty="0"/>
              <a:t>             name="</a:t>
            </a:r>
            <a:r>
              <a:rPr lang="zh-CN" altLang="en-US" sz="2400" dirty="0"/>
              <a:t>子窗口名称</a:t>
            </a:r>
            <a:r>
              <a:rPr lang="en-US" altLang="zh-CN" sz="2400" dirty="0"/>
              <a:t>" scrolling="yes</a:t>
            </a:r>
            <a:r>
              <a:rPr lang="zh-CN" altLang="en-US" sz="2400" dirty="0"/>
              <a:t>或</a:t>
            </a:r>
            <a:r>
              <a:rPr lang="en-US" altLang="zh-CN" sz="2400" dirty="0"/>
              <a:t>no</a:t>
            </a:r>
            <a:r>
              <a:rPr lang="zh-CN" altLang="en-US" sz="2400" dirty="0"/>
              <a:t>或</a:t>
            </a:r>
            <a:r>
              <a:rPr lang="en-US" altLang="zh-CN" sz="2400" dirty="0"/>
              <a:t>auto"</a:t>
            </a:r>
            <a:r>
              <a:rPr lang="en-US" altLang="zh-CN" sz="2400" dirty="0">
                <a:solidFill>
                  <a:srgbClr val="0000FF"/>
                </a:solidFill>
              </a:rPr>
              <a:t>&gt;</a:t>
            </a:r>
            <a:endParaRPr lang="en-US" altLang="zh-CN" sz="2400" dirty="0">
              <a:solidFill>
                <a:srgbClr val="0000FF"/>
              </a:solidFill>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2.1.5  HTML</a:t>
            </a:r>
            <a:r>
              <a:rPr lang="zh-CN" altLang="en-US" baseline="0" dirty="0">
                <a:latin typeface="Times New Roman" panose="02020603050405020304" pitchFamily="18" charset="0"/>
                <a:ea typeface="黑体" panose="02010609060101010101" pitchFamily="49" charset="-122"/>
                <a:cs typeface="+mj-cs"/>
              </a:rPr>
              <a:t>框架标签与框架设计</a:t>
            </a:r>
            <a:endParaRPr lang="zh-CN" altLang="en-US" baseline="0" dirty="0">
              <a:latin typeface="Times New Roman" panose="02020603050405020304" pitchFamily="18" charset="0"/>
              <a:ea typeface="黑体" panose="02010609060101010101" pitchFamily="49" charset="-122"/>
              <a:cs typeface="+mj-cs"/>
            </a:endParaRPr>
          </a:p>
        </p:txBody>
      </p:sp>
      <p:sp>
        <p:nvSpPr>
          <p:cNvPr id="5529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3. target</a:t>
            </a:r>
            <a:r>
              <a:rPr lang="zh-CN" altLang="en-US" b="1" dirty="0">
                <a:solidFill>
                  <a:srgbClr val="000000"/>
                </a:solidFill>
              </a:rPr>
              <a:t>属性</a:t>
            </a:r>
            <a:endParaRPr lang="zh-CN" altLang="en-US" b="1" dirty="0">
              <a:solidFill>
                <a:srgbClr val="000000"/>
              </a:solidFill>
            </a:endParaRPr>
          </a:p>
          <a:p>
            <a:pPr marL="0" indent="0">
              <a:buNone/>
            </a:pPr>
            <a:r>
              <a:rPr lang="zh-CN" altLang="en-US" sz="2400" dirty="0">
                <a:solidFill>
                  <a:srgbClr val="000000"/>
                </a:solidFill>
              </a:rPr>
              <a:t>    在框架结构子窗口的</a:t>
            </a:r>
            <a:r>
              <a:rPr lang="en-US" altLang="zh-CN" sz="2400" dirty="0">
                <a:solidFill>
                  <a:srgbClr val="000000"/>
                </a:solidFill>
              </a:rPr>
              <a:t>HTML</a:t>
            </a:r>
            <a:r>
              <a:rPr lang="zh-CN" altLang="en-US" sz="2400" dirty="0">
                <a:solidFill>
                  <a:srgbClr val="000000"/>
                </a:solidFill>
              </a:rPr>
              <a:t>文档中如果含有超链接，当用户点击该链接时，目标网页显示的位置由</a:t>
            </a:r>
            <a:r>
              <a:rPr lang="en-US" altLang="zh-CN" sz="2400" dirty="0">
                <a:solidFill>
                  <a:srgbClr val="000000"/>
                </a:solidFill>
              </a:rPr>
              <a:t>target</a:t>
            </a:r>
            <a:r>
              <a:rPr lang="zh-CN" altLang="en-US" sz="2400" dirty="0">
                <a:solidFill>
                  <a:srgbClr val="000000"/>
                </a:solidFill>
              </a:rPr>
              <a:t>属性指定，若没有指定则在当前子窗口打开。</a:t>
            </a:r>
            <a:endParaRPr lang="en-US" altLang="zh-CN" sz="2400" dirty="0">
              <a:solidFill>
                <a:srgbClr val="000000"/>
              </a:solidFill>
            </a:endParaRPr>
          </a:p>
          <a:p>
            <a:pPr marL="0" indent="0">
              <a:buNone/>
            </a:pPr>
            <a:endParaRPr lang="zh-CN" altLang="en-US" sz="2400" dirty="0">
              <a:solidFill>
                <a:srgbClr val="000000"/>
              </a:solidFill>
            </a:endParaRPr>
          </a:p>
          <a:p>
            <a:pPr marL="0" indent="0">
              <a:buNone/>
            </a:pPr>
            <a:r>
              <a:rPr lang="en-US" altLang="zh-CN" sz="2400" dirty="0">
                <a:solidFill>
                  <a:srgbClr val="000000"/>
                </a:solidFill>
              </a:rPr>
              <a:t>target</a:t>
            </a:r>
            <a:r>
              <a:rPr lang="zh-CN" altLang="en-US" sz="2400" dirty="0">
                <a:solidFill>
                  <a:srgbClr val="000000"/>
                </a:solidFill>
              </a:rPr>
              <a:t>属性使用格式：</a:t>
            </a:r>
            <a:endParaRPr lang="zh-CN" altLang="en-US" sz="2400" dirty="0">
              <a:solidFill>
                <a:srgbClr val="000000"/>
              </a:solidFill>
            </a:endParaRPr>
          </a:p>
          <a:p>
            <a:pPr marL="0" indent="0">
              <a:buNone/>
            </a:pPr>
            <a:r>
              <a:rPr lang="en-US" altLang="zh-CN" sz="2400" dirty="0">
                <a:solidFill>
                  <a:srgbClr val="000000"/>
                </a:solidFill>
              </a:rPr>
              <a:t>    </a:t>
            </a:r>
            <a:r>
              <a:rPr lang="en-US" altLang="zh-CN" sz="2400" dirty="0">
                <a:solidFill>
                  <a:srgbClr val="0000FF"/>
                </a:solidFill>
              </a:rPr>
              <a:t>&lt;a</a:t>
            </a:r>
            <a:r>
              <a:rPr lang="en-US" altLang="zh-CN" sz="2400" dirty="0">
                <a:solidFill>
                  <a:srgbClr val="000000"/>
                </a:solidFill>
              </a:rPr>
              <a:t> href="</a:t>
            </a:r>
            <a:r>
              <a:rPr lang="zh-CN" altLang="en-US" sz="2400" dirty="0">
                <a:solidFill>
                  <a:srgbClr val="000000"/>
                </a:solidFill>
              </a:rPr>
              <a:t>目标网页地址</a:t>
            </a:r>
            <a:r>
              <a:rPr lang="en-US" altLang="zh-CN" sz="2400" dirty="0">
                <a:solidFill>
                  <a:srgbClr val="000000"/>
                </a:solidFill>
              </a:rPr>
              <a:t>“</a:t>
            </a:r>
            <a:endParaRPr lang="en-US" altLang="zh-CN" sz="2400" dirty="0">
              <a:solidFill>
                <a:srgbClr val="000000"/>
              </a:solidFill>
            </a:endParaRPr>
          </a:p>
          <a:p>
            <a:pPr marL="0" indent="0">
              <a:buNone/>
            </a:pPr>
            <a:r>
              <a:rPr lang="en-US" altLang="zh-CN" sz="2400" dirty="0">
                <a:solidFill>
                  <a:srgbClr val="000000"/>
                </a:solidFill>
              </a:rPr>
              <a:t>         target="</a:t>
            </a:r>
            <a:r>
              <a:rPr lang="zh-CN" altLang="en-US" sz="2400" dirty="0">
                <a:solidFill>
                  <a:srgbClr val="000000"/>
                </a:solidFill>
              </a:rPr>
              <a:t>显示目标网页的子窗口名字</a:t>
            </a:r>
            <a:r>
              <a:rPr lang="en-US" altLang="zh-CN" sz="2400" dirty="0">
                <a:solidFill>
                  <a:srgbClr val="000000"/>
                </a:solidFill>
              </a:rPr>
              <a:t>"</a:t>
            </a:r>
            <a:r>
              <a:rPr lang="en-US" altLang="zh-CN" sz="2400" dirty="0">
                <a:solidFill>
                  <a:srgbClr val="0000FF"/>
                </a:solidFill>
              </a:rPr>
              <a:t>&gt;</a:t>
            </a:r>
            <a:r>
              <a:rPr lang="zh-CN" altLang="en-US" sz="2400" dirty="0">
                <a:solidFill>
                  <a:srgbClr val="000000"/>
                </a:solidFill>
              </a:rPr>
              <a:t>超链接文字</a:t>
            </a:r>
            <a:r>
              <a:rPr lang="en-US" altLang="zh-CN" sz="2400" dirty="0">
                <a:solidFill>
                  <a:srgbClr val="0000FF"/>
                </a:solidFill>
              </a:rPr>
              <a:t>&lt;/a&gt;</a:t>
            </a:r>
            <a:endParaRPr lang="en-US" altLang="zh-CN" sz="2400" dirty="0">
              <a:solidFill>
                <a:srgbClr val="0000FF"/>
              </a:solidFill>
            </a:endParaRP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200" baseline="0" dirty="0">
                <a:latin typeface="Times New Roman" panose="02020603050405020304" pitchFamily="18" charset="0"/>
                <a:ea typeface="黑体" panose="02010609060101010101" pitchFamily="49" charset="-122"/>
                <a:cs typeface="+mj-cs"/>
              </a:rPr>
              <a:t>2.1.6  </a:t>
            </a:r>
            <a:r>
              <a:rPr lang="zh-CN" altLang="en-US" sz="3200" baseline="0" dirty="0">
                <a:latin typeface="Times New Roman" panose="02020603050405020304" pitchFamily="18" charset="0"/>
                <a:ea typeface="黑体" panose="02010609060101010101" pitchFamily="49" charset="-122"/>
                <a:cs typeface="+mj-cs"/>
              </a:rPr>
              <a:t>框架设计案例</a:t>
            </a:r>
            <a:br>
              <a:rPr lang="zh-CN" altLang="en-US" sz="3200" baseline="0" dirty="0">
                <a:latin typeface="Times New Roman" panose="02020603050405020304" pitchFamily="18" charset="0"/>
                <a:ea typeface="黑体" panose="02010609060101010101" pitchFamily="49" charset="-122"/>
                <a:cs typeface="+mj-cs"/>
              </a:rPr>
            </a:br>
            <a:r>
              <a:rPr lang="zh-CN" altLang="en-US" sz="3200" baseline="0" dirty="0">
                <a:latin typeface="Times New Roman" panose="02020603050405020304" pitchFamily="18" charset="0"/>
                <a:ea typeface="黑体" panose="02010609060101010101" pitchFamily="49" charset="-122"/>
                <a:cs typeface="+mj-cs"/>
              </a:rPr>
              <a:t>                   </a:t>
            </a:r>
            <a:r>
              <a:rPr lang="en-US" altLang="zh-CN" sz="3200" baseline="0" dirty="0">
                <a:latin typeface="Times New Roman" panose="02020603050405020304" pitchFamily="18" charset="0"/>
                <a:ea typeface="黑体" panose="02010609060101010101" pitchFamily="49" charset="-122"/>
                <a:cs typeface="+mj-cs"/>
              </a:rPr>
              <a:t>——</a:t>
            </a:r>
            <a:r>
              <a:rPr lang="zh-CN" altLang="en-US" sz="3200" baseline="0" dirty="0">
                <a:latin typeface="Times New Roman" panose="02020603050405020304" pitchFamily="18" charset="0"/>
                <a:ea typeface="黑体" panose="02010609060101010101" pitchFamily="49" charset="-122"/>
                <a:cs typeface="+mj-cs"/>
              </a:rPr>
              <a:t>多媒体播放系统设计</a:t>
            </a:r>
            <a:endParaRPr lang="zh-CN" altLang="en-US" sz="3200" baseline="0" dirty="0">
              <a:latin typeface="Times New Roman" panose="02020603050405020304" pitchFamily="18" charset="0"/>
              <a:ea typeface="黑体" panose="02010609060101010101" pitchFamily="49" charset="-122"/>
              <a:cs typeface="+mj-cs"/>
            </a:endParaRPr>
          </a:p>
        </p:txBody>
      </p:sp>
      <p:sp>
        <p:nvSpPr>
          <p:cNvPr id="56322" name="内容占位符 2"/>
          <p:cNvSpPr>
            <a:spLocks noGrp="1"/>
          </p:cNvSpPr>
          <p:nvPr>
            <p:ph idx="1"/>
          </p:nvPr>
        </p:nvSpPr>
        <p:spPr>
          <a:xfrm>
            <a:off x="107950" y="1125538"/>
            <a:ext cx="8928100" cy="1655762"/>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2-7】</a:t>
            </a:r>
            <a:r>
              <a:rPr lang="zh-CN" altLang="en-US" sz="2400" dirty="0">
                <a:solidFill>
                  <a:srgbClr val="000000"/>
                </a:solidFill>
              </a:rPr>
              <a:t>设计如图所示的页面，被划分为</a:t>
            </a:r>
            <a:r>
              <a:rPr lang="en-US" altLang="zh-CN" sz="2400" dirty="0">
                <a:solidFill>
                  <a:srgbClr val="000000"/>
                </a:solidFill>
              </a:rPr>
              <a:t>3</a:t>
            </a:r>
            <a:r>
              <a:rPr lang="zh-CN" altLang="en-US" sz="2400" dirty="0">
                <a:solidFill>
                  <a:srgbClr val="000000"/>
                </a:solidFill>
              </a:rPr>
              <a:t>个子窗口，上面的窗口为页面功能提示区，下左部分为不同类型播放的功能选项，下右部分为播放系统显示播放信息窗口。图示显示的是，当单击“图像显示”时，所显示的图像（小鸭）。</a:t>
            </a:r>
            <a:endParaRPr lang="zh-CN" altLang="en-US" sz="2400" dirty="0">
              <a:solidFill>
                <a:srgbClr val="000000"/>
              </a:solidFill>
            </a:endParaRPr>
          </a:p>
        </p:txBody>
      </p:sp>
      <p:pic>
        <p:nvPicPr>
          <p:cNvPr id="56323" name="图片 3"/>
          <p:cNvPicPr>
            <a:picLocks noChangeAspect="1"/>
          </p:cNvPicPr>
          <p:nvPr/>
        </p:nvPicPr>
        <p:blipFill>
          <a:blip r:embed="rId1"/>
          <a:stretch>
            <a:fillRect/>
          </a:stretch>
        </p:blipFill>
        <p:spPr>
          <a:xfrm>
            <a:off x="2197100" y="2781300"/>
            <a:ext cx="4749800" cy="3709988"/>
          </a:xfrm>
          <a:prstGeom prst="rect">
            <a:avLst/>
          </a:prstGeom>
          <a:noFill/>
          <a:ln w="9525">
            <a:noFill/>
          </a:ln>
        </p:spPr>
      </p:pic>
      <p:sp>
        <p:nvSpPr>
          <p:cNvPr id="56324" name="文本框 1"/>
          <p:cNvSpPr txBox="1"/>
          <p:nvPr/>
        </p:nvSpPr>
        <p:spPr>
          <a:xfrm>
            <a:off x="7145338" y="5084763"/>
            <a:ext cx="300037" cy="369887"/>
          </a:xfrm>
          <a:prstGeom prst="rect">
            <a:avLst/>
          </a:prstGeom>
          <a:noFill/>
          <a:ln w="9525">
            <a:noFill/>
          </a:ln>
        </p:spPr>
        <p:txBody>
          <a:bodyPr wrap="none" anchor="t" anchorCtr="0">
            <a:spAutoFit/>
          </a:bodyPr>
          <a:p>
            <a:pPr eaLnBrk="0" hangingPunct="0"/>
            <a:r>
              <a:rPr lang="en-US" altLang="zh-CN" dirty="0">
                <a:latin typeface="Calibri" panose="020F0502020204030204" pitchFamily="34" charset="0"/>
                <a:ea typeface="宋体" panose="02010600030101010101" pitchFamily="2" charset="-122"/>
              </a:rPr>
              <a:t>*</a:t>
            </a:r>
            <a:endParaRPr lang="zh-CN" altLang="en-US" dirty="0">
              <a:latin typeface="Calibri" panose="020F0502020204030204" pitchFamily="34" charset="0"/>
              <a:ea typeface="宋体" panose="02010600030101010101" pitchFamily="2" charset="-122"/>
            </a:endParaRPr>
          </a:p>
        </p:txBody>
      </p:sp>
      <p:sp>
        <p:nvSpPr>
          <p:cNvPr id="56325" name="文本框 5"/>
          <p:cNvSpPr txBox="1"/>
          <p:nvPr/>
        </p:nvSpPr>
        <p:spPr>
          <a:xfrm>
            <a:off x="7026275" y="3400425"/>
            <a:ext cx="419100" cy="369888"/>
          </a:xfrm>
          <a:prstGeom prst="rect">
            <a:avLst/>
          </a:prstGeom>
          <a:noFill/>
          <a:ln w="9525">
            <a:noFill/>
          </a:ln>
        </p:spPr>
        <p:txBody>
          <a:bodyPr wrap="none" anchor="t" anchorCtr="0">
            <a:spAutoFit/>
          </a:bodyPr>
          <a:p>
            <a:pPr eaLnBrk="0" hangingPunct="0"/>
            <a:r>
              <a:rPr lang="en-US" altLang="zh-CN" dirty="0">
                <a:latin typeface="Calibri" panose="020F0502020204030204" pitchFamily="34" charset="0"/>
                <a:ea typeface="宋体" panose="02010600030101010101" pitchFamily="2" charset="-122"/>
              </a:rPr>
              <a:t>80</a:t>
            </a:r>
            <a:endParaRPr lang="zh-CN" altLang="en-US" dirty="0">
              <a:latin typeface="Calibri" panose="020F0502020204030204" pitchFamily="34" charset="0"/>
              <a:ea typeface="宋体" panose="02010600030101010101" pitchFamily="2" charset="-122"/>
            </a:endParaRPr>
          </a:p>
        </p:txBody>
      </p:sp>
      <p:sp>
        <p:nvSpPr>
          <p:cNvPr id="56326" name="文本框 6"/>
          <p:cNvSpPr txBox="1"/>
          <p:nvPr/>
        </p:nvSpPr>
        <p:spPr>
          <a:xfrm>
            <a:off x="5364163" y="3933825"/>
            <a:ext cx="300037" cy="368300"/>
          </a:xfrm>
          <a:prstGeom prst="rect">
            <a:avLst/>
          </a:prstGeom>
          <a:noFill/>
          <a:ln w="9525">
            <a:noFill/>
          </a:ln>
        </p:spPr>
        <p:txBody>
          <a:bodyPr wrap="none" anchor="t" anchorCtr="0">
            <a:spAutoFit/>
          </a:bodyPr>
          <a:p>
            <a:pPr eaLnBrk="0" hangingPunct="0"/>
            <a:r>
              <a:rPr lang="en-US" altLang="zh-CN" dirty="0">
                <a:latin typeface="Calibri" panose="020F0502020204030204" pitchFamily="34" charset="0"/>
                <a:ea typeface="宋体" panose="02010600030101010101" pitchFamily="2" charset="-122"/>
              </a:rPr>
              <a:t>*</a:t>
            </a:r>
            <a:endParaRPr lang="zh-CN" altLang="en-US" dirty="0">
              <a:latin typeface="Calibri" panose="020F0502020204030204" pitchFamily="34" charset="0"/>
              <a:ea typeface="宋体" panose="02010600030101010101" pitchFamily="2" charset="-122"/>
            </a:endParaRPr>
          </a:p>
        </p:txBody>
      </p:sp>
      <p:sp>
        <p:nvSpPr>
          <p:cNvPr id="56327" name="文本框 7"/>
          <p:cNvSpPr txBox="1"/>
          <p:nvPr/>
        </p:nvSpPr>
        <p:spPr>
          <a:xfrm>
            <a:off x="2411413" y="3911600"/>
            <a:ext cx="536575" cy="369888"/>
          </a:xfrm>
          <a:prstGeom prst="rect">
            <a:avLst/>
          </a:prstGeom>
          <a:noFill/>
          <a:ln w="9525">
            <a:noFill/>
          </a:ln>
        </p:spPr>
        <p:txBody>
          <a:bodyPr wrap="none" anchor="t" anchorCtr="0">
            <a:spAutoFit/>
          </a:bodyPr>
          <a:p>
            <a:pPr eaLnBrk="0" hangingPunct="0"/>
            <a:r>
              <a:rPr lang="en-US" altLang="zh-CN" dirty="0">
                <a:latin typeface="Calibri" panose="020F0502020204030204" pitchFamily="34" charset="0"/>
                <a:ea typeface="宋体" panose="02010600030101010101" pitchFamily="2" charset="-122"/>
              </a:rPr>
              <a:t>140</a:t>
            </a:r>
            <a:endParaRPr lang="zh-CN" altLang="en-US" dirty="0">
              <a:latin typeface="Calibri" panose="020F0502020204030204" pitchFamily="34" charset="0"/>
              <a:ea typeface="宋体" panose="02010600030101010101" pitchFamily="2" charset="-122"/>
            </a:endParaRP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200" baseline="0" dirty="0">
                <a:latin typeface="Times New Roman" panose="02020603050405020304" pitchFamily="18" charset="0"/>
                <a:ea typeface="黑体" panose="02010609060101010101" pitchFamily="49" charset="-122"/>
                <a:cs typeface="+mj-cs"/>
              </a:rPr>
              <a:t>2.1.6  </a:t>
            </a:r>
            <a:r>
              <a:rPr lang="zh-CN" altLang="en-US" sz="3200" baseline="0" dirty="0">
                <a:latin typeface="Times New Roman" panose="02020603050405020304" pitchFamily="18" charset="0"/>
                <a:ea typeface="黑体" panose="02010609060101010101" pitchFamily="49" charset="-122"/>
                <a:cs typeface="+mj-cs"/>
              </a:rPr>
              <a:t>框架设计案例</a:t>
            </a:r>
            <a:br>
              <a:rPr lang="zh-CN" altLang="en-US" sz="3200" baseline="0" dirty="0">
                <a:latin typeface="Times New Roman" panose="02020603050405020304" pitchFamily="18" charset="0"/>
                <a:ea typeface="黑体" panose="02010609060101010101" pitchFamily="49" charset="-122"/>
                <a:cs typeface="+mj-cs"/>
              </a:rPr>
            </a:br>
            <a:r>
              <a:rPr lang="zh-CN" altLang="en-US" sz="3200" baseline="0" dirty="0">
                <a:latin typeface="Times New Roman" panose="02020603050405020304" pitchFamily="18" charset="0"/>
                <a:ea typeface="黑体" panose="02010609060101010101" pitchFamily="49" charset="-122"/>
                <a:cs typeface="+mj-cs"/>
              </a:rPr>
              <a:t>                   </a:t>
            </a:r>
            <a:r>
              <a:rPr lang="en-US" altLang="zh-CN" sz="3200" baseline="0" dirty="0">
                <a:latin typeface="Times New Roman" panose="02020603050405020304" pitchFamily="18" charset="0"/>
                <a:ea typeface="黑体" panose="02010609060101010101" pitchFamily="49" charset="-122"/>
                <a:cs typeface="+mj-cs"/>
              </a:rPr>
              <a:t>——</a:t>
            </a:r>
            <a:r>
              <a:rPr lang="zh-CN" altLang="en-US" sz="3200" baseline="0" dirty="0">
                <a:latin typeface="Times New Roman" panose="02020603050405020304" pitchFamily="18" charset="0"/>
                <a:ea typeface="黑体" panose="02010609060101010101" pitchFamily="49" charset="-122"/>
                <a:cs typeface="+mj-cs"/>
              </a:rPr>
              <a:t>多媒体播放系统设计</a:t>
            </a:r>
            <a:endParaRPr lang="zh-CN" altLang="en-US" sz="3200" baseline="0" dirty="0">
              <a:latin typeface="Times New Roman" panose="02020603050405020304" pitchFamily="18" charset="0"/>
              <a:ea typeface="黑体" panose="02010609060101010101" pitchFamily="49" charset="-122"/>
              <a:cs typeface="+mj-cs"/>
            </a:endParaRPr>
          </a:p>
        </p:txBody>
      </p:sp>
      <p:sp>
        <p:nvSpPr>
          <p:cNvPr id="5734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dirty="0">
                <a:solidFill>
                  <a:srgbClr val="000000"/>
                </a:solidFill>
              </a:rPr>
              <a:t>【</a:t>
            </a:r>
            <a:r>
              <a:rPr lang="zh-CN" altLang="en-US" dirty="0">
                <a:solidFill>
                  <a:srgbClr val="000000"/>
                </a:solidFill>
              </a:rPr>
              <a:t>分析</a:t>
            </a:r>
            <a:r>
              <a:rPr lang="en-US" altLang="zh-CN" dirty="0">
                <a:solidFill>
                  <a:srgbClr val="000000"/>
                </a:solidFill>
              </a:rPr>
              <a:t>】</a:t>
            </a:r>
            <a:endParaRPr lang="en-US" altLang="zh-CN"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该题目首先进行页面框架设计，采用的是“厂”型的结构，整个页面分上下两部分，而下部分又分为左右两部分。架构结构设计由程序</a:t>
            </a:r>
            <a:r>
              <a:rPr lang="en-US" altLang="zh-CN" sz="2400" dirty="0">
                <a:solidFill>
                  <a:srgbClr val="000000"/>
                </a:solidFill>
              </a:rPr>
              <a:t>ch02_7_main.html</a:t>
            </a:r>
            <a:r>
              <a:rPr lang="zh-CN" altLang="en-US" sz="2400" dirty="0">
                <a:solidFill>
                  <a:srgbClr val="000000"/>
                </a:solidFill>
              </a:rPr>
              <a:t>实现</a:t>
            </a:r>
            <a:endParaRPr lang="en-US" altLang="zh-CN" sz="2400" dirty="0">
              <a:solidFill>
                <a:srgbClr val="000000"/>
              </a:solidFill>
            </a:endParaRPr>
          </a:p>
          <a:p>
            <a:pPr marL="0" indent="0">
              <a:buNone/>
            </a:pPr>
            <a:r>
              <a:rPr lang="zh-CN" altLang="en-US" sz="2400" dirty="0">
                <a:solidFill>
                  <a:srgbClr val="000000"/>
                </a:solidFill>
              </a:rPr>
              <a:t>      上部分显示标题，由程序</a:t>
            </a:r>
            <a:r>
              <a:rPr lang="en-US" altLang="zh-CN" sz="2400" dirty="0">
                <a:solidFill>
                  <a:srgbClr val="000000"/>
                </a:solidFill>
              </a:rPr>
              <a:t>ch02_7_top.html</a:t>
            </a:r>
            <a:r>
              <a:rPr lang="zh-CN" altLang="en-US" sz="2400" dirty="0">
                <a:solidFill>
                  <a:srgbClr val="000000"/>
                </a:solidFill>
              </a:rPr>
              <a:t>实现，</a:t>
            </a:r>
            <a:endParaRPr lang="en-US" altLang="zh-CN"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下左部分显示操作菜单，由</a:t>
            </a:r>
            <a:r>
              <a:rPr lang="en-US" altLang="zh-CN" sz="2400" dirty="0">
                <a:solidFill>
                  <a:srgbClr val="000000"/>
                </a:solidFill>
              </a:rPr>
              <a:t>ch02_7_left.html</a:t>
            </a:r>
            <a:r>
              <a:rPr lang="zh-CN" altLang="en-US" sz="2400" dirty="0">
                <a:solidFill>
                  <a:srgbClr val="000000"/>
                </a:solidFill>
              </a:rPr>
              <a:t>实现，</a:t>
            </a:r>
            <a:endParaRPr lang="en-US" altLang="zh-CN"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右下部分显示运行界面，由</a:t>
            </a:r>
            <a:r>
              <a:rPr lang="en-US" altLang="zh-CN" sz="2400" dirty="0">
                <a:solidFill>
                  <a:srgbClr val="000000"/>
                </a:solidFill>
              </a:rPr>
              <a:t>ch02_7_right.htm</a:t>
            </a:r>
            <a:r>
              <a:rPr lang="zh-CN" altLang="en-US" sz="2400" dirty="0">
                <a:solidFill>
                  <a:srgbClr val="000000"/>
                </a:solidFill>
              </a:rPr>
              <a:t>实现，</a:t>
            </a:r>
            <a:endParaRPr lang="en-US" altLang="zh-CN"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由</a:t>
            </a:r>
            <a:r>
              <a:rPr lang="en-US" altLang="zh-CN" sz="2400" dirty="0">
                <a:solidFill>
                  <a:srgbClr val="000000"/>
                </a:solidFill>
              </a:rPr>
              <a:t>imgTag.html</a:t>
            </a:r>
            <a:r>
              <a:rPr lang="zh-CN" altLang="en-US" sz="2400" dirty="0">
                <a:solidFill>
                  <a:srgbClr val="000000"/>
                </a:solidFill>
              </a:rPr>
              <a:t>、</a:t>
            </a:r>
            <a:r>
              <a:rPr lang="en-US" altLang="zh-CN" sz="2400" dirty="0">
                <a:solidFill>
                  <a:srgbClr val="000000"/>
                </a:solidFill>
              </a:rPr>
              <a:t>imgTag.html</a:t>
            </a:r>
            <a:r>
              <a:rPr lang="zh-CN" altLang="en-US" sz="2400" dirty="0">
                <a:solidFill>
                  <a:srgbClr val="000000"/>
                </a:solidFill>
              </a:rPr>
              <a:t>和</a:t>
            </a:r>
            <a:r>
              <a:rPr lang="en-US" altLang="zh-CN" sz="2400" dirty="0">
                <a:solidFill>
                  <a:srgbClr val="000000"/>
                </a:solidFill>
              </a:rPr>
              <a:t>soundTg.html</a:t>
            </a:r>
            <a:r>
              <a:rPr lang="zh-CN" altLang="en-US" sz="2400" dirty="0">
                <a:solidFill>
                  <a:srgbClr val="000000"/>
                </a:solidFill>
              </a:rPr>
              <a:t>实现具体的功能，通过主页面左边的操作选项，超链接实现。</a:t>
            </a:r>
            <a:endParaRPr lang="en-US" altLang="zh-CN" sz="2400" dirty="0">
              <a:solidFill>
                <a:srgbClr val="000000"/>
              </a:solidFill>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latin typeface="Times New Roman" panose="02020603050405020304" pitchFamily="18" charset="0"/>
                <a:ea typeface="黑体" panose="02010609060101010101" pitchFamily="49" charset="-122"/>
                <a:cs typeface="+mj-cs"/>
              </a:rPr>
              <a:t>2.1.7 HTML5</a:t>
            </a:r>
            <a:r>
              <a:rPr lang="zh-CN" altLang="en-US" sz="3600" baseline="0" dirty="0">
                <a:latin typeface="Times New Roman" panose="02020603050405020304" pitchFamily="18" charset="0"/>
                <a:ea typeface="黑体" panose="02010609060101010101" pitchFamily="49" charset="-122"/>
                <a:cs typeface="+mj-cs"/>
              </a:rPr>
              <a:t>语法与</a:t>
            </a:r>
            <a:r>
              <a:rPr lang="en-US" altLang="zh-CN" sz="3600" baseline="0" dirty="0">
                <a:latin typeface="Times New Roman" panose="02020603050405020304" pitchFamily="18" charset="0"/>
                <a:ea typeface="黑体" panose="02010609060101010101" pitchFamily="49" charset="-122"/>
                <a:cs typeface="+mj-cs"/>
              </a:rPr>
              <a:t>HTML5</a:t>
            </a:r>
            <a:r>
              <a:rPr lang="zh-CN" altLang="en-US" sz="3600" baseline="0" dirty="0">
                <a:latin typeface="Times New Roman" panose="02020603050405020304" pitchFamily="18" charset="0"/>
                <a:ea typeface="黑体" panose="02010609060101010101" pitchFamily="49" charset="-122"/>
                <a:cs typeface="+mj-cs"/>
              </a:rPr>
              <a:t>表单新特性</a:t>
            </a:r>
            <a:endParaRPr lang="zh-CN" altLang="en-US" sz="3600" baseline="0" dirty="0">
              <a:latin typeface="Times New Roman" panose="02020603050405020304" pitchFamily="18" charset="0"/>
              <a:ea typeface="黑体" panose="02010609060101010101" pitchFamily="49" charset="-122"/>
              <a:cs typeface="+mj-cs"/>
            </a:endParaRPr>
          </a:p>
        </p:txBody>
      </p:sp>
      <p:sp>
        <p:nvSpPr>
          <p:cNvPr id="5837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    HTML</a:t>
            </a:r>
            <a:r>
              <a:rPr lang="zh-CN" altLang="en-US" sz="2800" dirty="0">
                <a:solidFill>
                  <a:srgbClr val="000000"/>
                </a:solidFill>
              </a:rPr>
              <a:t>的功能单薄，数据处理需要借助于</a:t>
            </a:r>
            <a:r>
              <a:rPr lang="en-US" altLang="zh-CN" sz="2800" dirty="0">
                <a:solidFill>
                  <a:srgbClr val="000000"/>
                </a:solidFill>
              </a:rPr>
              <a:t>JavaScript</a:t>
            </a:r>
            <a:r>
              <a:rPr lang="zh-CN" altLang="en-US" sz="2800" dirty="0">
                <a:solidFill>
                  <a:srgbClr val="000000"/>
                </a:solidFill>
              </a:rPr>
              <a:t>来完成。</a:t>
            </a:r>
            <a:r>
              <a:rPr lang="en-US" altLang="zh-CN" sz="2800" dirty="0">
                <a:solidFill>
                  <a:srgbClr val="000000"/>
                </a:solidFill>
              </a:rPr>
              <a:t>HTML5</a:t>
            </a:r>
            <a:r>
              <a:rPr lang="zh-CN" altLang="en-US" sz="2800" dirty="0">
                <a:solidFill>
                  <a:srgbClr val="000000"/>
                </a:solidFill>
              </a:rPr>
              <a:t>通过诸多</a:t>
            </a:r>
            <a:r>
              <a:rPr lang="en-US" altLang="zh-CN" sz="2800" dirty="0">
                <a:solidFill>
                  <a:srgbClr val="000000"/>
                </a:solidFill>
              </a:rPr>
              <a:t>API</a:t>
            </a:r>
            <a:r>
              <a:rPr lang="zh-CN" altLang="en-US" sz="2800" dirty="0">
                <a:solidFill>
                  <a:srgbClr val="000000"/>
                </a:solidFill>
              </a:rPr>
              <a:t>使</a:t>
            </a:r>
            <a:r>
              <a:rPr lang="en-US" altLang="zh-CN" sz="2800" dirty="0">
                <a:solidFill>
                  <a:srgbClr val="000000"/>
                </a:solidFill>
              </a:rPr>
              <a:t>web</a:t>
            </a:r>
            <a:r>
              <a:rPr lang="zh-CN" altLang="en-US" sz="2800" dirty="0">
                <a:solidFill>
                  <a:srgbClr val="000000"/>
                </a:solidFill>
              </a:rPr>
              <a:t>客户端具有处理数据的能力。</a:t>
            </a:r>
            <a:endParaRPr lang="en-US" altLang="zh-CN" sz="2800" dirty="0">
              <a:solidFill>
                <a:srgbClr val="000000"/>
              </a:solidFill>
            </a:endParaRPr>
          </a:p>
          <a:p>
            <a:pPr marL="0" indent="0">
              <a:buNone/>
            </a:pPr>
            <a:r>
              <a:rPr lang="en-US" altLang="zh-CN" sz="2800" dirty="0">
                <a:solidFill>
                  <a:srgbClr val="000000"/>
                </a:solidFill>
              </a:rPr>
              <a:t>HTML5</a:t>
            </a:r>
            <a:r>
              <a:rPr lang="zh-CN" altLang="en-US" sz="2800" dirty="0">
                <a:solidFill>
                  <a:srgbClr val="000000"/>
                </a:solidFill>
              </a:rPr>
              <a:t>在</a:t>
            </a:r>
            <a:r>
              <a:rPr lang="en-US" altLang="zh-CN" sz="2800" dirty="0">
                <a:solidFill>
                  <a:srgbClr val="000000"/>
                </a:solidFill>
              </a:rPr>
              <a:t>HTML4</a:t>
            </a:r>
            <a:r>
              <a:rPr lang="zh-CN" altLang="en-US" sz="2800" dirty="0">
                <a:solidFill>
                  <a:srgbClr val="000000"/>
                </a:solidFill>
              </a:rPr>
              <a:t>的基础上修改语法而形成的，添加了一些新的标签和属性，并废除了一些标签和属性。</a:t>
            </a:r>
            <a:endParaRPr lang="en-US" altLang="zh-CN" sz="2800" dirty="0">
              <a:solidFill>
                <a:srgbClr val="000000"/>
              </a:solidFill>
            </a:endParaRPr>
          </a:p>
          <a:p>
            <a:pPr marL="0" indent="0">
              <a:buNone/>
            </a:pPr>
            <a:r>
              <a:rPr lang="en-US" altLang="zh-CN" b="1" dirty="0">
                <a:solidFill>
                  <a:srgbClr val="000000"/>
                </a:solidFill>
              </a:rPr>
              <a:t>1. HTML5</a:t>
            </a:r>
            <a:r>
              <a:rPr lang="zh-CN" altLang="en-US" b="1" dirty="0">
                <a:solidFill>
                  <a:srgbClr val="000000"/>
                </a:solidFill>
              </a:rPr>
              <a:t>语法的改变</a:t>
            </a:r>
            <a:endParaRPr lang="en-US" altLang="zh-CN" b="1"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1</a:t>
            </a:r>
            <a:r>
              <a:rPr lang="zh-CN" altLang="en-US" sz="2800" dirty="0">
                <a:solidFill>
                  <a:srgbClr val="0000FF"/>
                </a:solidFill>
              </a:rPr>
              <a:t>）</a:t>
            </a:r>
            <a:r>
              <a:rPr lang="en-US" altLang="zh-CN" sz="2800" dirty="0">
                <a:solidFill>
                  <a:srgbClr val="0000FF"/>
                </a:solidFill>
              </a:rPr>
              <a:t>HTML5</a:t>
            </a:r>
            <a:r>
              <a:rPr lang="zh-CN" altLang="en-US" sz="2800" dirty="0">
                <a:solidFill>
                  <a:srgbClr val="0000FF"/>
                </a:solidFill>
              </a:rPr>
              <a:t>的</a:t>
            </a:r>
            <a:r>
              <a:rPr lang="en-US" altLang="zh-CN" sz="2800" dirty="0">
                <a:solidFill>
                  <a:srgbClr val="0000FF"/>
                </a:solidFill>
              </a:rPr>
              <a:t>DTD</a:t>
            </a:r>
            <a:r>
              <a:rPr lang="zh-CN" altLang="en-US" sz="2800" dirty="0">
                <a:solidFill>
                  <a:srgbClr val="0000FF"/>
                </a:solidFill>
              </a:rPr>
              <a:t>声明</a:t>
            </a:r>
            <a:endParaRPr lang="en-US" altLang="zh-CN" sz="2800" dirty="0">
              <a:solidFill>
                <a:srgbClr val="0000FF"/>
              </a:solidFill>
            </a:endParaRPr>
          </a:p>
          <a:p>
            <a:pPr marL="0" indent="0" algn="ctr">
              <a:buNone/>
            </a:pPr>
            <a:r>
              <a:rPr lang="en-US" altLang="zh-CN" sz="2400" dirty="0">
                <a:solidFill>
                  <a:srgbClr val="FF0000"/>
                </a:solidFill>
              </a:rPr>
              <a:t>&lt;!DOCTYPE html&gt;</a:t>
            </a:r>
            <a:endParaRPr lang="en-US" altLang="zh-CN" sz="2400" dirty="0">
              <a:solidFill>
                <a:srgbClr val="FF0000"/>
              </a:solidFill>
            </a:endParaRPr>
          </a:p>
          <a:p>
            <a:pPr marL="0" indent="0">
              <a:buNone/>
            </a:pPr>
            <a:r>
              <a:rPr lang="zh-CN" altLang="en-US" sz="2800" dirty="0">
                <a:solidFill>
                  <a:srgbClr val="0000FF"/>
                </a:solidFill>
              </a:rPr>
              <a:t>（</a:t>
            </a:r>
            <a:r>
              <a:rPr lang="en-US" altLang="zh-CN" sz="2800" dirty="0">
                <a:solidFill>
                  <a:srgbClr val="0000FF"/>
                </a:solidFill>
              </a:rPr>
              <a:t>2</a:t>
            </a:r>
            <a:r>
              <a:rPr lang="zh-CN" altLang="en-US" sz="2800" dirty="0">
                <a:solidFill>
                  <a:srgbClr val="0000FF"/>
                </a:solidFill>
              </a:rPr>
              <a:t>）设置页面字符编码</a:t>
            </a:r>
            <a:endParaRPr lang="en-US" altLang="zh-CN" sz="2800" dirty="0">
              <a:solidFill>
                <a:srgbClr val="0000FF"/>
              </a:solidFill>
            </a:endParaRPr>
          </a:p>
          <a:p>
            <a:pPr marL="0" indent="0" algn="ctr">
              <a:buNone/>
            </a:pPr>
            <a:r>
              <a:rPr lang="en-US" altLang="zh-CN" sz="2800" dirty="0">
                <a:solidFill>
                  <a:srgbClr val="FF0000"/>
                </a:solidFill>
              </a:rPr>
              <a:t>&lt;meta charset=“UTF-8”&gt;</a:t>
            </a:r>
            <a:endParaRPr lang="en-US" altLang="zh-CN" sz="2800" dirty="0">
              <a:solidFill>
                <a:srgbClr val="0000FF"/>
              </a:solidFill>
            </a:endParaRPr>
          </a:p>
          <a:p>
            <a:pPr marL="0" indent="0" algn="ctr">
              <a:buNone/>
            </a:pPr>
            <a:r>
              <a:rPr lang="zh-CN" altLang="en-US" sz="2800" dirty="0">
                <a:solidFill>
                  <a:srgbClr val="000000"/>
                </a:solidFill>
              </a:rPr>
              <a:t>从</a:t>
            </a:r>
            <a:r>
              <a:rPr lang="en-US" altLang="zh-CN" sz="2800" dirty="0">
                <a:solidFill>
                  <a:srgbClr val="000000"/>
                </a:solidFill>
              </a:rPr>
              <a:t>HTML5</a:t>
            </a:r>
            <a:r>
              <a:rPr lang="zh-CN" altLang="en-US" sz="2800" dirty="0">
                <a:solidFill>
                  <a:srgbClr val="000000"/>
                </a:solidFill>
              </a:rPr>
              <a:t>开始，对文件的字符编码推荐使用</a:t>
            </a:r>
            <a:r>
              <a:rPr lang="en-US" altLang="zh-CN" sz="2800" dirty="0">
                <a:solidFill>
                  <a:srgbClr val="000000"/>
                </a:solidFill>
              </a:rPr>
              <a:t>UTF-8</a:t>
            </a:r>
            <a:endParaRPr lang="en-US" altLang="zh-CN" sz="2800" dirty="0">
              <a:solidFill>
                <a:srgbClr val="000000"/>
              </a:solidFill>
            </a:endParaRPr>
          </a:p>
          <a:p>
            <a:pPr marL="0" indent="0">
              <a:buNone/>
            </a:pPr>
            <a:endParaRPr lang="zh-CN" altLang="en-US" sz="2800" dirty="0">
              <a:solidFill>
                <a:srgbClr val="000000"/>
              </a:solidFill>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latin typeface="Times New Roman" panose="02020603050405020304" pitchFamily="18" charset="0"/>
                <a:ea typeface="黑体" panose="02010609060101010101" pitchFamily="49" charset="-122"/>
                <a:cs typeface="+mj-cs"/>
              </a:rPr>
              <a:t>2.1.7 HTML5</a:t>
            </a:r>
            <a:r>
              <a:rPr lang="zh-CN" altLang="en-US" sz="3600" baseline="0" dirty="0">
                <a:latin typeface="Times New Roman" panose="02020603050405020304" pitchFamily="18" charset="0"/>
                <a:ea typeface="黑体" panose="02010609060101010101" pitchFamily="49" charset="-122"/>
                <a:cs typeface="+mj-cs"/>
              </a:rPr>
              <a:t>语法与</a:t>
            </a:r>
            <a:r>
              <a:rPr lang="en-US" altLang="zh-CN" sz="3600" baseline="0" dirty="0">
                <a:latin typeface="Times New Roman" panose="02020603050405020304" pitchFamily="18" charset="0"/>
                <a:ea typeface="黑体" panose="02010609060101010101" pitchFamily="49" charset="-122"/>
                <a:cs typeface="+mj-cs"/>
              </a:rPr>
              <a:t>HTML5</a:t>
            </a:r>
            <a:r>
              <a:rPr lang="zh-CN" altLang="en-US" sz="3600" baseline="0" dirty="0">
                <a:latin typeface="Times New Roman" panose="02020603050405020304" pitchFamily="18" charset="0"/>
                <a:ea typeface="黑体" panose="02010609060101010101" pitchFamily="49" charset="-122"/>
                <a:cs typeface="+mj-cs"/>
              </a:rPr>
              <a:t>表单新特性</a:t>
            </a:r>
            <a:endParaRPr lang="zh-CN" altLang="en-US" sz="3600" baseline="0" dirty="0">
              <a:latin typeface="Times New Roman" panose="02020603050405020304" pitchFamily="18" charset="0"/>
              <a:ea typeface="黑体" panose="02010609060101010101" pitchFamily="49" charset="-122"/>
              <a:cs typeface="+mj-cs"/>
            </a:endParaRPr>
          </a:p>
        </p:txBody>
      </p:sp>
      <p:sp>
        <p:nvSpPr>
          <p:cNvPr id="59394"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zh-CN" altLang="en-US" sz="2800" dirty="0">
                <a:solidFill>
                  <a:srgbClr val="0000FF"/>
                </a:solidFill>
              </a:rPr>
              <a:t>（</a:t>
            </a:r>
            <a:r>
              <a:rPr lang="en-US" altLang="zh-CN" sz="2800" dirty="0">
                <a:solidFill>
                  <a:srgbClr val="0000FF"/>
                </a:solidFill>
              </a:rPr>
              <a:t>3</a:t>
            </a:r>
            <a:r>
              <a:rPr lang="zh-CN" altLang="en-US" sz="2800" dirty="0">
                <a:solidFill>
                  <a:srgbClr val="0000FF"/>
                </a:solidFill>
              </a:rPr>
              <a:t>）可以省略标签的元素</a:t>
            </a:r>
            <a:endParaRPr lang="en-US" altLang="zh-CN" sz="2800" dirty="0">
              <a:solidFill>
                <a:srgbClr val="0000FF"/>
              </a:solidFill>
            </a:endParaRPr>
          </a:p>
          <a:p>
            <a:pPr marL="0" indent="0">
              <a:buFont typeface="Wingdings" panose="05000000000000000000" pitchFamily="2" charset="2"/>
              <a:buChar char="p"/>
            </a:pPr>
            <a:r>
              <a:rPr lang="zh-CN" altLang="en-US" sz="2400" dirty="0"/>
              <a:t>不允许写结束标签的元素</a:t>
            </a:r>
            <a:endParaRPr lang="en-US" altLang="zh-CN" sz="2400" dirty="0"/>
          </a:p>
          <a:p>
            <a:pPr marL="0" indent="0">
              <a:buFont typeface="Wingdings" panose="05000000000000000000" pitchFamily="2" charset="2"/>
              <a:buChar char="p"/>
            </a:pPr>
            <a:r>
              <a:rPr lang="zh-CN" altLang="en-US" sz="2400" dirty="0"/>
              <a:t>可以省略结束标签的元素</a:t>
            </a:r>
            <a:endParaRPr lang="en-US" altLang="zh-CN" sz="2400" dirty="0"/>
          </a:p>
          <a:p>
            <a:pPr marL="0" indent="0">
              <a:buFont typeface="Wingdings" panose="05000000000000000000" pitchFamily="2" charset="2"/>
              <a:buChar char="p"/>
            </a:pPr>
            <a:r>
              <a:rPr lang="zh-CN" altLang="en-US" sz="2400" dirty="0"/>
              <a:t>开始标签、结束标签都可以省略的元素</a:t>
            </a:r>
            <a:endParaRPr lang="en-US" altLang="zh-CN" sz="2400" dirty="0"/>
          </a:p>
          <a:p>
            <a:pPr marL="0" indent="0">
              <a:buNone/>
            </a:pPr>
            <a:r>
              <a:rPr lang="zh-CN" altLang="en-US" sz="2800" dirty="0">
                <a:solidFill>
                  <a:srgbClr val="0000FF"/>
                </a:solidFill>
              </a:rPr>
              <a:t>（</a:t>
            </a:r>
            <a:r>
              <a:rPr lang="en-US" altLang="zh-CN" sz="2800" dirty="0">
                <a:solidFill>
                  <a:srgbClr val="0000FF"/>
                </a:solidFill>
              </a:rPr>
              <a:t>4</a:t>
            </a:r>
            <a:r>
              <a:rPr lang="zh-CN" altLang="en-US" sz="2800" dirty="0">
                <a:solidFill>
                  <a:srgbClr val="0000FF"/>
                </a:solidFill>
              </a:rPr>
              <a:t>）引号的使用</a:t>
            </a:r>
            <a:endParaRPr lang="en-US" altLang="zh-CN" sz="2800" dirty="0">
              <a:solidFill>
                <a:srgbClr val="0000FF"/>
              </a:solidFill>
            </a:endParaRPr>
          </a:p>
          <a:p>
            <a:pPr marL="0" indent="0">
              <a:buNone/>
            </a:pPr>
            <a:r>
              <a:rPr lang="zh-CN" altLang="en-US" sz="2800" dirty="0">
                <a:solidFill>
                  <a:srgbClr val="000000"/>
                </a:solidFill>
              </a:rPr>
              <a:t>在</a:t>
            </a:r>
            <a:r>
              <a:rPr lang="en-US" altLang="zh-CN" sz="2800" dirty="0">
                <a:solidFill>
                  <a:srgbClr val="000000"/>
                </a:solidFill>
              </a:rPr>
              <a:t>HTML</a:t>
            </a:r>
            <a:r>
              <a:rPr lang="zh-CN" altLang="en-US" sz="2800" dirty="0">
                <a:solidFill>
                  <a:srgbClr val="000000"/>
                </a:solidFill>
              </a:rPr>
              <a:t>中使用属性时，属性值可以使用双引号、单引号括起来。</a:t>
            </a:r>
            <a:r>
              <a:rPr lang="en-US" altLang="zh-CN" sz="2800" dirty="0">
                <a:solidFill>
                  <a:srgbClr val="000000"/>
                </a:solidFill>
              </a:rPr>
              <a:t>HTML5</a:t>
            </a:r>
            <a:r>
              <a:rPr lang="zh-CN" altLang="en-US" sz="2800" dirty="0">
                <a:solidFill>
                  <a:srgbClr val="000000"/>
                </a:solidFill>
              </a:rPr>
              <a:t>中，当属性值不包含空字符串、“</a:t>
            </a:r>
            <a:r>
              <a:rPr lang="en-US" altLang="zh-CN" sz="2800" dirty="0">
                <a:solidFill>
                  <a:srgbClr val="000000"/>
                </a:solidFill>
              </a:rPr>
              <a:t>&lt;</a:t>
            </a:r>
            <a:r>
              <a:rPr lang="zh-CN" altLang="en-US" sz="2800" dirty="0">
                <a:solidFill>
                  <a:srgbClr val="000000"/>
                </a:solidFill>
              </a:rPr>
              <a:t>”、“</a:t>
            </a:r>
            <a:r>
              <a:rPr lang="en-US" altLang="zh-CN" sz="2800" dirty="0">
                <a:solidFill>
                  <a:srgbClr val="000000"/>
                </a:solidFill>
              </a:rPr>
              <a:t>&gt;</a:t>
            </a:r>
            <a:r>
              <a:rPr lang="zh-CN" altLang="en-US" sz="2800" dirty="0">
                <a:solidFill>
                  <a:srgbClr val="000000"/>
                </a:solidFill>
              </a:rPr>
              <a:t>”、“</a:t>
            </a:r>
            <a:r>
              <a:rPr lang="en-US" altLang="zh-CN" sz="2800" dirty="0">
                <a:solidFill>
                  <a:srgbClr val="000000"/>
                </a:solidFill>
              </a:rPr>
              <a:t>=</a:t>
            </a:r>
            <a:r>
              <a:rPr lang="zh-CN" altLang="en-US" sz="2800" dirty="0">
                <a:solidFill>
                  <a:srgbClr val="000000"/>
                </a:solidFill>
              </a:rPr>
              <a:t>”、单引号、双引号等字符时，属性值两边的引号可以省略。</a:t>
            </a:r>
            <a:endParaRPr lang="zh-CN" altLang="en-US" sz="2800" dirty="0">
              <a:solidFill>
                <a:srgbClr val="000000"/>
              </a:solidFill>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latin typeface="Times New Roman" panose="02020603050405020304" pitchFamily="18" charset="0"/>
                <a:ea typeface="黑体" panose="02010609060101010101" pitchFamily="49" charset="-122"/>
                <a:cs typeface="+mj-cs"/>
              </a:rPr>
              <a:t>2.1.7 HTML5</a:t>
            </a:r>
            <a:r>
              <a:rPr lang="zh-CN" altLang="en-US" sz="3600" baseline="0" dirty="0">
                <a:latin typeface="Times New Roman" panose="02020603050405020304" pitchFamily="18" charset="0"/>
                <a:ea typeface="黑体" panose="02010609060101010101" pitchFamily="49" charset="-122"/>
                <a:cs typeface="+mj-cs"/>
              </a:rPr>
              <a:t>语法与</a:t>
            </a:r>
            <a:r>
              <a:rPr lang="en-US" altLang="zh-CN" sz="3600" baseline="0" dirty="0">
                <a:latin typeface="Times New Roman" panose="02020603050405020304" pitchFamily="18" charset="0"/>
                <a:ea typeface="黑体" panose="02010609060101010101" pitchFamily="49" charset="-122"/>
                <a:cs typeface="+mj-cs"/>
              </a:rPr>
              <a:t>HTML5</a:t>
            </a:r>
            <a:r>
              <a:rPr lang="zh-CN" altLang="en-US" sz="3600" baseline="0" dirty="0">
                <a:latin typeface="Times New Roman" panose="02020603050405020304" pitchFamily="18" charset="0"/>
                <a:ea typeface="黑体" panose="02010609060101010101" pitchFamily="49" charset="-122"/>
                <a:cs typeface="+mj-cs"/>
              </a:rPr>
              <a:t>表单新特性</a:t>
            </a:r>
            <a:endParaRPr lang="zh-CN" altLang="en-US" sz="3600" baseline="0" dirty="0">
              <a:latin typeface="Times New Roman" panose="02020603050405020304" pitchFamily="18" charset="0"/>
              <a:ea typeface="黑体" panose="02010609060101010101" pitchFamily="49" charset="-122"/>
              <a:cs typeface="+mj-cs"/>
            </a:endParaRPr>
          </a:p>
        </p:txBody>
      </p:sp>
      <p:sp>
        <p:nvSpPr>
          <p:cNvPr id="6041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2.</a:t>
            </a:r>
            <a:r>
              <a:rPr lang="zh-CN" altLang="en-US" b="1" dirty="0">
                <a:solidFill>
                  <a:srgbClr val="000000"/>
                </a:solidFill>
              </a:rPr>
              <a:t> </a:t>
            </a:r>
            <a:r>
              <a:rPr lang="en-US" altLang="zh-CN" b="1" dirty="0">
                <a:solidFill>
                  <a:srgbClr val="000000"/>
                </a:solidFill>
              </a:rPr>
              <a:t>HTML5</a:t>
            </a:r>
            <a:r>
              <a:rPr lang="zh-CN" altLang="en-US" b="1" dirty="0">
                <a:solidFill>
                  <a:srgbClr val="000000"/>
                </a:solidFill>
              </a:rPr>
              <a:t>的文档结构元素</a:t>
            </a:r>
            <a:endParaRPr lang="en-US" altLang="zh-CN" b="1" dirty="0">
              <a:solidFill>
                <a:srgbClr val="000000"/>
              </a:solidFill>
            </a:endParaRPr>
          </a:p>
          <a:p>
            <a:pPr marL="0" indent="0">
              <a:buNone/>
            </a:pPr>
            <a:r>
              <a:rPr lang="en-US" altLang="zh-CN" sz="2800" dirty="0">
                <a:solidFill>
                  <a:srgbClr val="000000"/>
                </a:solidFill>
              </a:rPr>
              <a:t>header</a:t>
            </a:r>
            <a:r>
              <a:rPr lang="zh-CN" altLang="en-US" sz="2800" dirty="0">
                <a:solidFill>
                  <a:srgbClr val="000000"/>
                </a:solidFill>
              </a:rPr>
              <a:t>、</a:t>
            </a:r>
            <a:r>
              <a:rPr lang="en-US" altLang="zh-CN" sz="2800" dirty="0">
                <a:solidFill>
                  <a:srgbClr val="000000"/>
                </a:solidFill>
              </a:rPr>
              <a:t>nav</a:t>
            </a:r>
            <a:r>
              <a:rPr lang="zh-CN" altLang="en-US" sz="2800" dirty="0">
                <a:solidFill>
                  <a:srgbClr val="000000"/>
                </a:solidFill>
              </a:rPr>
              <a:t>、</a:t>
            </a:r>
            <a:r>
              <a:rPr lang="en-US" altLang="zh-CN" sz="2800" dirty="0">
                <a:solidFill>
                  <a:srgbClr val="000000"/>
                </a:solidFill>
              </a:rPr>
              <a:t>section</a:t>
            </a:r>
            <a:r>
              <a:rPr lang="zh-CN" altLang="en-US" sz="2800" dirty="0">
                <a:solidFill>
                  <a:srgbClr val="000000"/>
                </a:solidFill>
              </a:rPr>
              <a:t>、</a:t>
            </a:r>
            <a:r>
              <a:rPr lang="en-US" altLang="zh-CN" sz="2800" dirty="0">
                <a:solidFill>
                  <a:srgbClr val="000000"/>
                </a:solidFill>
              </a:rPr>
              <a:t>article</a:t>
            </a:r>
            <a:r>
              <a:rPr lang="zh-CN" altLang="en-US" sz="2800" dirty="0">
                <a:solidFill>
                  <a:srgbClr val="000000"/>
                </a:solidFill>
              </a:rPr>
              <a:t>、</a:t>
            </a:r>
            <a:r>
              <a:rPr lang="en-US" altLang="zh-CN" sz="2800" dirty="0">
                <a:solidFill>
                  <a:srgbClr val="000000"/>
                </a:solidFill>
              </a:rPr>
              <a:t>aside</a:t>
            </a:r>
            <a:r>
              <a:rPr lang="zh-CN" altLang="en-US" sz="2800" dirty="0">
                <a:solidFill>
                  <a:srgbClr val="000000"/>
                </a:solidFill>
              </a:rPr>
              <a:t>、</a:t>
            </a:r>
            <a:r>
              <a:rPr lang="en-US" altLang="zh-CN" sz="2800" dirty="0">
                <a:solidFill>
                  <a:srgbClr val="000000"/>
                </a:solidFill>
              </a:rPr>
              <a:t>footer</a:t>
            </a:r>
            <a:r>
              <a:rPr lang="zh-CN" altLang="en-US" sz="2800" dirty="0">
                <a:solidFill>
                  <a:srgbClr val="000000"/>
                </a:solidFill>
              </a:rPr>
              <a:t>、</a:t>
            </a:r>
            <a:r>
              <a:rPr lang="en-US" altLang="zh-CN" sz="2800" dirty="0">
                <a:solidFill>
                  <a:srgbClr val="000000"/>
                </a:solidFill>
              </a:rPr>
              <a:t>hgroup</a:t>
            </a:r>
            <a:r>
              <a:rPr lang="zh-CN" altLang="en-US" sz="2800" dirty="0">
                <a:solidFill>
                  <a:srgbClr val="000000"/>
                </a:solidFill>
              </a:rPr>
              <a:t>、</a:t>
            </a:r>
            <a:r>
              <a:rPr lang="en-US" altLang="zh-CN" sz="2800" dirty="0">
                <a:solidFill>
                  <a:srgbClr val="000000"/>
                </a:solidFill>
              </a:rPr>
              <a:t>figure</a:t>
            </a:r>
            <a:endParaRPr lang="en-US" altLang="zh-CN" sz="2800" dirty="0">
              <a:solidFill>
                <a:srgbClr val="000000"/>
              </a:solidFill>
            </a:endParaRPr>
          </a:p>
          <a:p>
            <a:pPr marL="0" indent="0">
              <a:buNone/>
            </a:pPr>
            <a:r>
              <a:rPr lang="en-US" altLang="zh-CN" b="1" dirty="0">
                <a:solidFill>
                  <a:srgbClr val="000000"/>
                </a:solidFill>
              </a:rPr>
              <a:t>3. HTML5</a:t>
            </a:r>
            <a:r>
              <a:rPr lang="zh-CN" altLang="en-US" b="1" dirty="0">
                <a:solidFill>
                  <a:srgbClr val="000000"/>
                </a:solidFill>
              </a:rPr>
              <a:t>表单增加的新特性</a:t>
            </a:r>
            <a:endParaRPr lang="en-US" altLang="zh-CN" b="1" dirty="0">
              <a:solidFill>
                <a:srgbClr val="000000"/>
              </a:solidFill>
            </a:endParaRPr>
          </a:p>
          <a:p>
            <a:pPr marL="0" indent="0">
              <a:buNone/>
            </a:pPr>
            <a:r>
              <a:rPr lang="en-US" altLang="zh-CN" b="1" dirty="0">
                <a:solidFill>
                  <a:srgbClr val="000000"/>
                </a:solidFill>
              </a:rPr>
              <a:t>4. HTML5</a:t>
            </a:r>
            <a:r>
              <a:rPr lang="zh-CN" altLang="en-US" b="1" dirty="0">
                <a:solidFill>
                  <a:srgbClr val="000000"/>
                </a:solidFill>
              </a:rPr>
              <a:t>中被废除的属性</a:t>
            </a:r>
            <a:endParaRPr lang="zh-CN" altLang="en-US" b="1" dirty="0">
              <a:solidFill>
                <a:srgbClr val="000000"/>
              </a:solidFill>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solidFill>
                  <a:srgbClr val="000000"/>
                </a:solidFill>
                <a:latin typeface="Times New Roman" panose="02020603050405020304" pitchFamily="18" charset="0"/>
                <a:ea typeface="黑体" panose="02010609060101010101" pitchFamily="49" charset="-122"/>
                <a:cs typeface="+mj-cs"/>
              </a:rPr>
              <a:t>2.1.7 HTML5</a:t>
            </a:r>
            <a:r>
              <a:rPr lang="zh-CN" altLang="en-US" sz="3600" baseline="0" dirty="0">
                <a:solidFill>
                  <a:srgbClr val="000000"/>
                </a:solidFill>
                <a:latin typeface="Times New Roman" panose="02020603050405020304" pitchFamily="18" charset="0"/>
                <a:ea typeface="黑体" panose="02010609060101010101" pitchFamily="49" charset="-122"/>
                <a:cs typeface="+mj-cs"/>
              </a:rPr>
              <a:t>语法与</a:t>
            </a:r>
            <a:r>
              <a:rPr lang="en-US" altLang="zh-CN" sz="3600" baseline="0" dirty="0">
                <a:solidFill>
                  <a:srgbClr val="000000"/>
                </a:solidFill>
                <a:latin typeface="Times New Roman" panose="02020603050405020304" pitchFamily="18" charset="0"/>
                <a:ea typeface="黑体" panose="02010609060101010101" pitchFamily="49" charset="-122"/>
                <a:cs typeface="+mj-cs"/>
              </a:rPr>
              <a:t>HTML5</a:t>
            </a:r>
            <a:r>
              <a:rPr lang="zh-CN" altLang="en-US" sz="3600" baseline="0" dirty="0">
                <a:solidFill>
                  <a:srgbClr val="000000"/>
                </a:solidFill>
                <a:latin typeface="Times New Roman" panose="02020603050405020304" pitchFamily="18" charset="0"/>
                <a:ea typeface="黑体" panose="02010609060101010101" pitchFamily="49" charset="-122"/>
                <a:cs typeface="+mj-cs"/>
              </a:rPr>
              <a:t>表单新特性</a:t>
            </a:r>
            <a:endParaRPr lang="zh-CN" altLang="en-US" baseline="0" dirty="0">
              <a:latin typeface="Times New Roman" panose="02020603050405020304" pitchFamily="18" charset="0"/>
              <a:ea typeface="黑体" panose="02010609060101010101" pitchFamily="49" charset="-122"/>
              <a:cs typeface="+mj-cs"/>
            </a:endParaRPr>
          </a:p>
        </p:txBody>
      </p:sp>
      <p:sp>
        <p:nvSpPr>
          <p:cNvPr id="6144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2-8】</a:t>
            </a:r>
            <a:r>
              <a:rPr lang="zh-CN" altLang="en-US" sz="2400" dirty="0">
                <a:solidFill>
                  <a:srgbClr val="000000"/>
                </a:solidFill>
              </a:rPr>
              <a:t>采用</a:t>
            </a:r>
            <a:r>
              <a:rPr lang="en-US" altLang="zh-CN" sz="2400" dirty="0">
                <a:solidFill>
                  <a:srgbClr val="000000"/>
                </a:solidFill>
              </a:rPr>
              <a:t>HTML5</a:t>
            </a:r>
            <a:r>
              <a:rPr lang="zh-CN" altLang="en-US" sz="2400" dirty="0">
                <a:solidFill>
                  <a:srgbClr val="000000"/>
                </a:solidFill>
              </a:rPr>
              <a:t>有关标签及其属性设计如下图所示的页面，并根据下图所示的页面所给出的不同信息的输入要求进行表单数据的有效验证，当不符合要求时，给出提示，并重新输入。</a:t>
            </a:r>
            <a:endParaRPr lang="zh-CN" altLang="en-US" dirty="0"/>
          </a:p>
        </p:txBody>
      </p:sp>
      <p:pic>
        <p:nvPicPr>
          <p:cNvPr id="5" name="图片 4"/>
          <p:cNvPicPr>
            <a:picLocks noChangeAspect="1"/>
          </p:cNvPicPr>
          <p:nvPr/>
        </p:nvPicPr>
        <p:blipFill>
          <a:blip r:embed="rId1"/>
          <a:stretch>
            <a:fillRect/>
          </a:stretch>
        </p:blipFill>
        <p:spPr>
          <a:xfrm>
            <a:off x="1547813" y="2565400"/>
            <a:ext cx="6281738" cy="3959225"/>
          </a:xfrm>
          <a:prstGeom prst="rect">
            <a:avLst/>
          </a:prstGeom>
          <a:effectLst>
            <a:outerShdw blurRad="63500" sx="102000" sy="102000" algn="ctr" rotWithShape="0">
              <a:prstClr val="black">
                <a:alpha val="40000"/>
              </a:prstClr>
            </a:outerShdw>
          </a:effec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 CSS</a:t>
            </a:r>
            <a:r>
              <a:rPr lang="zh-CN" altLang="en-US" baseline="0" dirty="0">
                <a:latin typeface="Times New Roman" panose="02020603050405020304" pitchFamily="18" charset="0"/>
                <a:ea typeface="黑体" panose="02010609060101010101" pitchFamily="49" charset="-122"/>
                <a:cs typeface="+mj-cs"/>
              </a:rPr>
              <a:t>样式表</a:t>
            </a:r>
            <a:endParaRPr lang="zh-CN" altLang="en-US" baseline="0" dirty="0">
              <a:latin typeface="Times New Roman" panose="02020603050405020304" pitchFamily="18" charset="0"/>
              <a:ea typeface="黑体" panose="02010609060101010101" pitchFamily="49" charset="-122"/>
              <a:cs typeface="+mj-cs"/>
            </a:endParaRPr>
          </a:p>
        </p:txBody>
      </p:sp>
      <p:sp>
        <p:nvSpPr>
          <p:cNvPr id="6246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    CSS</a:t>
            </a:r>
            <a:r>
              <a:rPr lang="zh-CN" altLang="en-US" sz="2800" dirty="0">
                <a:solidFill>
                  <a:srgbClr val="000000"/>
                </a:solidFill>
              </a:rPr>
              <a:t>是</a:t>
            </a:r>
            <a:r>
              <a:rPr lang="en-US" altLang="zh-CN" sz="2800" dirty="0">
                <a:solidFill>
                  <a:srgbClr val="000000"/>
                </a:solidFill>
              </a:rPr>
              <a:t>Cascading Style Sheets</a:t>
            </a:r>
            <a:r>
              <a:rPr lang="zh-CN" altLang="en-US" sz="2800" dirty="0">
                <a:solidFill>
                  <a:srgbClr val="000000"/>
                </a:solidFill>
              </a:rPr>
              <a:t>（层叠样式表），也就是通常说的样式表。</a:t>
            </a:r>
            <a:r>
              <a:rPr lang="en-US" altLang="zh-CN" sz="2800" dirty="0">
                <a:solidFill>
                  <a:srgbClr val="000000"/>
                </a:solidFill>
              </a:rPr>
              <a:t>CSS</a:t>
            </a:r>
            <a:r>
              <a:rPr lang="zh-CN" altLang="en-US" sz="2800" dirty="0">
                <a:solidFill>
                  <a:srgbClr val="000000"/>
                </a:solidFill>
              </a:rPr>
              <a:t>是一种美化网页的技术。</a:t>
            </a:r>
            <a:endParaRPr lang="en-US" altLang="zh-CN" sz="2800" dirty="0">
              <a:solidFill>
                <a:srgbClr val="000000"/>
              </a:solidFill>
            </a:endParaRPr>
          </a:p>
          <a:p>
            <a:pPr marL="0" indent="0">
              <a:buNone/>
            </a:pPr>
            <a:endParaRPr lang="en-US" altLang="zh-CN" sz="2800" dirty="0">
              <a:solidFill>
                <a:srgbClr val="000000"/>
              </a:solidFill>
            </a:endParaRPr>
          </a:p>
          <a:p>
            <a:pPr marL="0" indent="0">
              <a:buNone/>
            </a:pPr>
            <a:r>
              <a:rPr lang="zh-CN" altLang="en-US" sz="2800" dirty="0">
                <a:solidFill>
                  <a:srgbClr val="FF0000"/>
                </a:solidFill>
              </a:rPr>
              <a:t>本节内容：</a:t>
            </a:r>
            <a:r>
              <a:rPr lang="en-US" altLang="zh-CN" sz="2800" dirty="0">
                <a:solidFill>
                  <a:srgbClr val="000000"/>
                </a:solidFill>
              </a:rPr>
              <a:t>   </a:t>
            </a:r>
            <a:endParaRPr lang="en-US" altLang="zh-CN" sz="2800" dirty="0">
              <a:solidFill>
                <a:srgbClr val="000000"/>
              </a:solidFill>
            </a:endParaRPr>
          </a:p>
          <a:p>
            <a:pPr marL="0" indent="0">
              <a:buNone/>
            </a:pPr>
            <a:r>
              <a:rPr lang="en-US" altLang="zh-CN" sz="2800" dirty="0">
                <a:solidFill>
                  <a:srgbClr val="000000"/>
                </a:solidFill>
              </a:rPr>
              <a:t>       2.2.1  CSS</a:t>
            </a:r>
            <a:r>
              <a:rPr lang="zh-CN" altLang="en-US" sz="2800" dirty="0">
                <a:solidFill>
                  <a:srgbClr val="000000"/>
                </a:solidFill>
              </a:rPr>
              <a:t>样式表的定义与使用	</a:t>
            </a:r>
            <a:endParaRPr lang="zh-CN" altLang="en-US" sz="2800" dirty="0">
              <a:solidFill>
                <a:srgbClr val="000000"/>
              </a:solidFill>
            </a:endParaRPr>
          </a:p>
          <a:p>
            <a:pPr marL="0" indent="0">
              <a:buNone/>
            </a:pPr>
            <a:r>
              <a:rPr lang="zh-CN" altLang="en-US" sz="2800" dirty="0">
                <a:solidFill>
                  <a:srgbClr val="000000"/>
                </a:solidFill>
              </a:rPr>
              <a:t>       </a:t>
            </a:r>
            <a:r>
              <a:rPr lang="en-US" altLang="zh-CN" sz="2800" dirty="0">
                <a:solidFill>
                  <a:srgbClr val="000000"/>
                </a:solidFill>
              </a:rPr>
              <a:t>2.2.2  CSS</a:t>
            </a:r>
            <a:r>
              <a:rPr lang="zh-CN" altLang="en-US" sz="2800" dirty="0">
                <a:solidFill>
                  <a:srgbClr val="000000"/>
                </a:solidFill>
              </a:rPr>
              <a:t>常用属性	</a:t>
            </a:r>
            <a:endParaRPr lang="zh-CN" altLang="en-US" sz="2800" dirty="0">
              <a:solidFill>
                <a:srgbClr val="000000"/>
              </a:solidFill>
            </a:endParaRPr>
          </a:p>
          <a:p>
            <a:pPr marL="0" indent="0">
              <a:buNone/>
            </a:pPr>
            <a:r>
              <a:rPr lang="zh-CN" altLang="en-US" sz="2800" dirty="0">
                <a:solidFill>
                  <a:srgbClr val="000000"/>
                </a:solidFill>
              </a:rPr>
              <a:t>       </a:t>
            </a:r>
            <a:r>
              <a:rPr lang="en-US" altLang="zh-CN" sz="2800" dirty="0">
                <a:solidFill>
                  <a:srgbClr val="000000"/>
                </a:solidFill>
              </a:rPr>
              <a:t>2.2.3  </a:t>
            </a:r>
            <a:r>
              <a:rPr lang="zh-CN" altLang="en-US" sz="2800" dirty="0">
                <a:solidFill>
                  <a:srgbClr val="000000"/>
                </a:solidFill>
              </a:rPr>
              <a:t>案例</a:t>
            </a:r>
            <a:r>
              <a:rPr lang="en-US" altLang="zh-CN" sz="2800" dirty="0">
                <a:solidFill>
                  <a:srgbClr val="000000"/>
                </a:solidFill>
              </a:rPr>
              <a:t>——</a:t>
            </a:r>
            <a:r>
              <a:rPr lang="zh-CN" altLang="en-US" sz="2800" dirty="0">
                <a:solidFill>
                  <a:srgbClr val="000000"/>
                </a:solidFill>
              </a:rPr>
              <a:t>利用</a:t>
            </a:r>
            <a:r>
              <a:rPr lang="en-US" altLang="zh-CN" sz="2800" dirty="0">
                <a:solidFill>
                  <a:srgbClr val="000000"/>
                </a:solidFill>
              </a:rPr>
              <a:t>CSS</a:t>
            </a:r>
            <a:r>
              <a:rPr lang="zh-CN" altLang="en-US" sz="2800" dirty="0">
                <a:solidFill>
                  <a:srgbClr val="000000"/>
                </a:solidFill>
              </a:rPr>
              <a:t>对注册页面实现修饰</a:t>
            </a:r>
            <a:endParaRPr lang="zh-CN" altLang="en-US" sz="2800" dirty="0">
              <a:solidFill>
                <a:srgbClr val="000000"/>
              </a:solidFill>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6349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zh-CN" altLang="en-US" sz="2400" dirty="0">
                <a:solidFill>
                  <a:srgbClr val="000000"/>
                </a:solidFill>
              </a:rPr>
              <a:t>定义选择器的基本语法：</a:t>
            </a:r>
            <a:endParaRPr lang="zh-CN" altLang="en-US" sz="2400" dirty="0">
              <a:solidFill>
                <a:srgbClr val="000000"/>
              </a:solidFill>
            </a:endParaRPr>
          </a:p>
          <a:p>
            <a:pPr marL="0" indent="0">
              <a:buNone/>
            </a:pPr>
            <a:r>
              <a:rPr lang="zh-CN" altLang="en-US" sz="2400" dirty="0">
                <a:solidFill>
                  <a:srgbClr val="000000"/>
                </a:solidFill>
              </a:rPr>
              <a:t>       </a:t>
            </a:r>
            <a:r>
              <a:rPr lang="en-US" altLang="zh-CN" sz="2400" dirty="0">
                <a:solidFill>
                  <a:srgbClr val="000000"/>
                </a:solidFill>
              </a:rPr>
              <a:t>selector{</a:t>
            </a:r>
            <a:r>
              <a:rPr lang="zh-CN" altLang="en-US" sz="2400" dirty="0">
                <a:solidFill>
                  <a:srgbClr val="000000"/>
                </a:solidFill>
              </a:rPr>
              <a:t>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 </a:t>
            </a:r>
            <a:r>
              <a:rPr lang="zh-CN" altLang="en-US" sz="2400" dirty="0">
                <a:solidFill>
                  <a:srgbClr val="000000"/>
                </a:solidFill>
              </a:rPr>
              <a:t>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 …}</a:t>
            </a:r>
            <a:endParaRPr lang="en-US" altLang="zh-CN" sz="2400" dirty="0">
              <a:solidFill>
                <a:srgbClr val="000000"/>
              </a:solidFill>
            </a:endParaRPr>
          </a:p>
          <a:p>
            <a:pPr marL="0" indent="0">
              <a:buNone/>
            </a:pPr>
            <a:r>
              <a:rPr lang="zh-CN" altLang="en-US" sz="2400" dirty="0">
                <a:solidFill>
                  <a:srgbClr val="000000"/>
                </a:solidFill>
              </a:rPr>
              <a:t>说明：</a:t>
            </a:r>
            <a:endParaRPr lang="zh-CN" altLang="en-US" sz="2400" dirty="0">
              <a:solidFill>
                <a:srgbClr val="000000"/>
              </a:solidFill>
            </a:endParaRPr>
          </a:p>
          <a:p>
            <a:pPr marL="0" indent="0">
              <a:buNone/>
            </a:pPr>
            <a:r>
              <a:rPr lang="zh-CN" altLang="en-US" sz="2400" dirty="0">
                <a:solidFill>
                  <a:srgbClr val="0000FF"/>
                </a:solidFill>
              </a:rPr>
              <a:t>（</a:t>
            </a:r>
            <a:r>
              <a:rPr lang="en-US" altLang="zh-CN" sz="2400" dirty="0">
                <a:solidFill>
                  <a:srgbClr val="0000FF"/>
                </a:solidFill>
              </a:rPr>
              <a:t>1</a:t>
            </a:r>
            <a:r>
              <a:rPr lang="zh-CN" altLang="en-US" sz="2400" dirty="0">
                <a:solidFill>
                  <a:srgbClr val="0000FF"/>
                </a:solidFill>
              </a:rPr>
              <a:t>）</a:t>
            </a:r>
            <a:r>
              <a:rPr lang="en-US" altLang="zh-CN" sz="2400" dirty="0">
                <a:solidFill>
                  <a:srgbClr val="0000FF"/>
                </a:solidFill>
              </a:rPr>
              <a:t>CSS</a:t>
            </a:r>
            <a:r>
              <a:rPr lang="zh-CN" altLang="en-US" sz="2400" dirty="0">
                <a:solidFill>
                  <a:srgbClr val="0000FF"/>
                </a:solidFill>
              </a:rPr>
              <a:t>选择器分为</a:t>
            </a:r>
            <a:r>
              <a:rPr lang="en-US" altLang="zh-CN" sz="2400" dirty="0">
                <a:solidFill>
                  <a:srgbClr val="0000FF"/>
                </a:solidFill>
              </a:rPr>
              <a:t>3</a:t>
            </a:r>
            <a:r>
              <a:rPr lang="zh-CN" altLang="en-US" sz="2400" dirty="0">
                <a:solidFill>
                  <a:srgbClr val="0000FF"/>
                </a:solidFill>
              </a:rPr>
              <a:t>种类型：</a:t>
            </a:r>
            <a:endParaRPr lang="zh-CN" altLang="en-US" sz="2400" dirty="0">
              <a:solidFill>
                <a:srgbClr val="0000FF"/>
              </a:solidFill>
            </a:endParaRPr>
          </a:p>
          <a:p>
            <a:pPr marL="0" indent="0">
              <a:buNone/>
            </a:pPr>
            <a:r>
              <a:rPr lang="en-US" altLang="zh-CN" sz="2400" dirty="0">
                <a:solidFill>
                  <a:srgbClr val="000000"/>
                </a:solidFill>
              </a:rPr>
              <a:t>• </a:t>
            </a:r>
            <a:r>
              <a:rPr lang="zh-CN" altLang="en-US" sz="2400" dirty="0">
                <a:solidFill>
                  <a:srgbClr val="000000"/>
                </a:solidFill>
              </a:rPr>
              <a:t>标签选择器，通过</a:t>
            </a:r>
            <a:r>
              <a:rPr lang="en-US" altLang="zh-CN" sz="2400" dirty="0">
                <a:solidFill>
                  <a:srgbClr val="000000"/>
                </a:solidFill>
              </a:rPr>
              <a:t>HTML</a:t>
            </a:r>
            <a:r>
              <a:rPr lang="zh-CN" altLang="en-US" sz="2400" dirty="0">
                <a:solidFill>
                  <a:srgbClr val="000000"/>
                </a:solidFill>
              </a:rPr>
              <a:t>标签定义选择器。</a:t>
            </a:r>
            <a:endParaRPr lang="zh-CN" altLang="en-US"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类别选择器，使用</a:t>
            </a:r>
            <a:r>
              <a:rPr lang="en-US" altLang="zh-CN" sz="2400" dirty="0">
                <a:solidFill>
                  <a:srgbClr val="000000"/>
                </a:solidFill>
              </a:rPr>
              <a:t>class</a:t>
            </a:r>
            <a:r>
              <a:rPr lang="zh-CN" altLang="en-US" sz="2400" dirty="0">
                <a:solidFill>
                  <a:srgbClr val="000000"/>
                </a:solidFill>
              </a:rPr>
              <a:t>定义选择器。</a:t>
            </a:r>
            <a:endParaRPr lang="zh-CN" altLang="en-US" sz="2400" dirty="0">
              <a:solidFill>
                <a:srgbClr val="000000"/>
              </a:solidFill>
            </a:endParaRPr>
          </a:p>
          <a:p>
            <a:pPr marL="0" indent="0">
              <a:buNone/>
            </a:pPr>
            <a:r>
              <a:rPr lang="en-US" altLang="zh-CN" sz="2400" dirty="0">
                <a:solidFill>
                  <a:srgbClr val="000000"/>
                </a:solidFill>
              </a:rPr>
              <a:t>• ID</a:t>
            </a:r>
            <a:r>
              <a:rPr lang="zh-CN" altLang="en-US" sz="2400" dirty="0">
                <a:solidFill>
                  <a:srgbClr val="000000"/>
                </a:solidFill>
              </a:rPr>
              <a:t>选择器，使用</a:t>
            </a:r>
            <a:r>
              <a:rPr lang="en-US" altLang="zh-CN" sz="2400" dirty="0">
                <a:solidFill>
                  <a:srgbClr val="000000"/>
                </a:solidFill>
              </a:rPr>
              <a:t>id</a:t>
            </a:r>
            <a:r>
              <a:rPr lang="zh-CN" altLang="en-US" sz="2400" dirty="0">
                <a:solidFill>
                  <a:srgbClr val="000000"/>
                </a:solidFill>
              </a:rPr>
              <a:t>定义选择器。</a:t>
            </a:r>
            <a:endParaRPr lang="zh-CN" altLang="en-US" sz="2400" dirty="0">
              <a:solidFill>
                <a:srgbClr val="000000"/>
              </a:solidFill>
            </a:endParaRPr>
          </a:p>
          <a:p>
            <a:pPr marL="0" indent="0">
              <a:buNone/>
            </a:pPr>
            <a:r>
              <a:rPr lang="zh-CN" altLang="en-US" sz="2400" dirty="0">
                <a:solidFill>
                  <a:srgbClr val="0000FF"/>
                </a:solidFill>
              </a:rPr>
              <a:t>（</a:t>
            </a:r>
            <a:r>
              <a:rPr lang="en-US" altLang="zh-CN" sz="2400" dirty="0">
                <a:solidFill>
                  <a:srgbClr val="0000FF"/>
                </a:solidFill>
              </a:rPr>
              <a:t>2</a:t>
            </a:r>
            <a:r>
              <a:rPr lang="zh-CN" altLang="en-US" sz="2400" dirty="0">
                <a:solidFill>
                  <a:srgbClr val="0000FF"/>
                </a:solidFill>
              </a:rPr>
              <a:t>）属性和值被冒号分开，属性之间用分号间隔，并由花括号包围。例如：</a:t>
            </a:r>
            <a:endParaRPr lang="zh-CN" altLang="en-US" sz="2400" dirty="0">
              <a:solidFill>
                <a:srgbClr val="0000FF"/>
              </a:solidFill>
            </a:endParaRPr>
          </a:p>
          <a:p>
            <a:pPr marL="0" indent="0">
              <a:buNone/>
            </a:pPr>
            <a:r>
              <a:rPr lang="zh-CN" altLang="en-US" sz="2400" dirty="0">
                <a:solidFill>
                  <a:srgbClr val="000000"/>
                </a:solidFill>
              </a:rPr>
              <a:t>   </a:t>
            </a:r>
            <a:r>
              <a:rPr lang="en-US" altLang="zh-CN" sz="2400" dirty="0">
                <a:solidFill>
                  <a:srgbClr val="000000"/>
                </a:solidFill>
              </a:rPr>
              <a:t>p {background-color:blue; color:red}         //</a:t>
            </a:r>
            <a:r>
              <a:rPr lang="zh-CN" altLang="en-US" sz="2400" dirty="0">
                <a:solidFill>
                  <a:srgbClr val="000000"/>
                </a:solidFill>
              </a:rPr>
              <a:t>定义标签</a:t>
            </a:r>
            <a:r>
              <a:rPr lang="en-US" altLang="zh-CN" sz="2400" dirty="0">
                <a:solidFill>
                  <a:srgbClr val="000000"/>
                </a:solidFill>
              </a:rPr>
              <a:t>p</a:t>
            </a:r>
            <a:r>
              <a:rPr lang="zh-CN" altLang="en-US" sz="2400" dirty="0">
                <a:solidFill>
                  <a:srgbClr val="000000"/>
                </a:solidFill>
              </a:rPr>
              <a:t>选择器</a:t>
            </a:r>
            <a:endParaRPr lang="zh-CN" altLang="en-US" sz="2400" dirty="0">
              <a:solidFill>
                <a:srgbClr val="000000"/>
              </a:solidFill>
            </a:endParaRPr>
          </a:p>
          <a:p>
            <a:pPr marL="0" indent="0">
              <a:buNone/>
            </a:pPr>
            <a:r>
              <a:rPr lang="zh-CN" altLang="en-US" sz="2400" dirty="0">
                <a:solidFill>
                  <a:srgbClr val="000000"/>
                </a:solidFill>
              </a:rPr>
              <a:t>  </a:t>
            </a:r>
            <a:r>
              <a:rPr lang="en-US" altLang="zh-CN" sz="2400" dirty="0">
                <a:solidFill>
                  <a:srgbClr val="000000"/>
                </a:solidFill>
              </a:rPr>
              <a:t>.cs1{font-family:</a:t>
            </a:r>
            <a:r>
              <a:rPr lang="zh-CN" altLang="en-US" sz="2400" dirty="0">
                <a:solidFill>
                  <a:srgbClr val="000000"/>
                </a:solidFill>
              </a:rPr>
              <a:t>华文行楷</a:t>
            </a:r>
            <a:r>
              <a:rPr lang="en-US" altLang="zh-CN" sz="2400" dirty="0">
                <a:solidFill>
                  <a:srgbClr val="000000"/>
                </a:solidFill>
              </a:rPr>
              <a:t>; font-size:15px}  //</a:t>
            </a:r>
            <a:r>
              <a:rPr lang="zh-CN" altLang="en-US" sz="2400" dirty="0">
                <a:solidFill>
                  <a:srgbClr val="000000"/>
                </a:solidFill>
              </a:rPr>
              <a:t>定义类别选择器</a:t>
            </a:r>
            <a:r>
              <a:rPr lang="en-US" altLang="zh-CN" sz="2400" dirty="0">
                <a:solidFill>
                  <a:srgbClr val="000000"/>
                </a:solidFill>
              </a:rPr>
              <a:t>.csl</a:t>
            </a:r>
            <a:endParaRPr lang="en-US" altLang="zh-CN" sz="2400" dirty="0">
              <a:solidFill>
                <a:srgbClr val="000000"/>
              </a:solidFill>
            </a:endParaRPr>
          </a:p>
          <a:p>
            <a:pPr marL="0" indent="0">
              <a:buNone/>
            </a:pPr>
            <a:r>
              <a:rPr lang="en-US" altLang="zh-CN" sz="2400" dirty="0">
                <a:solidFill>
                  <a:srgbClr val="000000"/>
                </a:solidFill>
              </a:rPr>
              <a:t>   #cs2{color:yellow}                                      //</a:t>
            </a:r>
            <a:r>
              <a:rPr lang="zh-CN" altLang="en-US" sz="2400" dirty="0">
                <a:solidFill>
                  <a:srgbClr val="000000"/>
                </a:solidFill>
              </a:rPr>
              <a:t>定义</a:t>
            </a:r>
            <a:r>
              <a:rPr lang="en-US" altLang="zh-CN" sz="2400" dirty="0">
                <a:solidFill>
                  <a:srgbClr val="000000"/>
                </a:solidFill>
              </a:rPr>
              <a:t>ID</a:t>
            </a:r>
            <a:r>
              <a:rPr lang="zh-CN" altLang="en-US" sz="2400" dirty="0">
                <a:solidFill>
                  <a:srgbClr val="000000"/>
                </a:solidFill>
              </a:rPr>
              <a:t>选择器</a:t>
            </a:r>
            <a:r>
              <a:rPr lang="en-US" altLang="zh-CN" sz="2400" dirty="0">
                <a:solidFill>
                  <a:srgbClr val="000000"/>
                </a:solidFill>
              </a:rPr>
              <a:t>#cs2</a:t>
            </a:r>
            <a:endParaRPr lang="zh-CN" altLang="en-US" sz="2400" dirty="0">
              <a:solidFill>
                <a:srgbClr val="000000"/>
              </a:solidFill>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64514"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1.</a:t>
            </a:r>
            <a:r>
              <a:rPr lang="zh-CN" altLang="en-US" b="1" dirty="0">
                <a:solidFill>
                  <a:srgbClr val="000000"/>
                </a:solidFill>
              </a:rPr>
              <a:t> </a:t>
            </a:r>
            <a:r>
              <a:rPr lang="en-US" altLang="zh-CN" b="1" dirty="0">
                <a:solidFill>
                  <a:srgbClr val="000000"/>
                </a:solidFill>
              </a:rPr>
              <a:t>CCS</a:t>
            </a:r>
            <a:r>
              <a:rPr lang="zh-CN" altLang="en-US" b="1" dirty="0">
                <a:solidFill>
                  <a:srgbClr val="000000"/>
                </a:solidFill>
              </a:rPr>
              <a:t>样式表的定义</a:t>
            </a:r>
            <a:endParaRPr lang="zh-CN" altLang="en-US" b="1" dirty="0">
              <a:solidFill>
                <a:srgbClr val="000000"/>
              </a:solidFill>
            </a:endParaRPr>
          </a:p>
          <a:p>
            <a:pPr marL="0" indent="0">
              <a:buNone/>
            </a:pPr>
            <a:r>
              <a:rPr lang="en-US" altLang="zh-CN" sz="2400" dirty="0">
                <a:solidFill>
                  <a:srgbClr val="000000"/>
                </a:solidFill>
              </a:rPr>
              <a:t>CCS</a:t>
            </a:r>
            <a:r>
              <a:rPr lang="zh-CN" altLang="en-US" sz="2400" dirty="0">
                <a:solidFill>
                  <a:srgbClr val="000000"/>
                </a:solidFill>
              </a:rPr>
              <a:t>样式表的定义实际就是定义</a:t>
            </a:r>
            <a:r>
              <a:rPr lang="en-US" altLang="zh-CN" sz="2400" dirty="0">
                <a:solidFill>
                  <a:srgbClr val="000000"/>
                </a:solidFill>
              </a:rPr>
              <a:t>CCS</a:t>
            </a:r>
            <a:r>
              <a:rPr lang="zh-CN" altLang="en-US" sz="2400" dirty="0">
                <a:solidFill>
                  <a:srgbClr val="000000"/>
                </a:solidFill>
              </a:rPr>
              <a:t>选择器。</a:t>
            </a:r>
            <a:endParaRPr lang="zh-CN" altLang="en-US" sz="2400" dirty="0">
              <a:solidFill>
                <a:srgbClr val="000000"/>
              </a:solidFill>
            </a:endParaRPr>
          </a:p>
          <a:p>
            <a:pPr marL="0" indent="0">
              <a:buNone/>
            </a:pPr>
            <a:r>
              <a:rPr lang="zh-CN" altLang="en-US" sz="2400" dirty="0">
                <a:solidFill>
                  <a:srgbClr val="0000FF"/>
                </a:solidFill>
              </a:rPr>
              <a:t>（</a:t>
            </a:r>
            <a:r>
              <a:rPr lang="en-US" altLang="zh-CN" sz="2400" dirty="0">
                <a:solidFill>
                  <a:srgbClr val="0000FF"/>
                </a:solidFill>
              </a:rPr>
              <a:t>1</a:t>
            </a:r>
            <a:r>
              <a:rPr lang="zh-CN" altLang="en-US" sz="2400" dirty="0">
                <a:solidFill>
                  <a:srgbClr val="0000FF"/>
                </a:solidFill>
              </a:rPr>
              <a:t>）标签选择器</a:t>
            </a:r>
            <a:r>
              <a:rPr lang="en-US" altLang="zh-CN" sz="2400" dirty="0">
                <a:solidFill>
                  <a:srgbClr val="000000"/>
                </a:solidFill>
              </a:rPr>
              <a:t>——</a:t>
            </a:r>
            <a:r>
              <a:rPr lang="zh-CN" altLang="en-US" sz="2400" dirty="0">
                <a:solidFill>
                  <a:srgbClr val="000000"/>
                </a:solidFill>
              </a:rPr>
              <a:t>通过</a:t>
            </a:r>
            <a:r>
              <a:rPr lang="en-US" altLang="zh-CN" sz="2400" dirty="0">
                <a:solidFill>
                  <a:srgbClr val="000000"/>
                </a:solidFill>
              </a:rPr>
              <a:t>HTML</a:t>
            </a:r>
            <a:r>
              <a:rPr lang="zh-CN" altLang="en-US" sz="2400" dirty="0">
                <a:solidFill>
                  <a:srgbClr val="000000"/>
                </a:solidFill>
              </a:rPr>
              <a:t>标签定义样式表</a:t>
            </a:r>
            <a:endParaRPr lang="zh-CN" altLang="en-US" sz="2400" dirty="0">
              <a:solidFill>
                <a:srgbClr val="000000"/>
              </a:solidFill>
            </a:endParaRPr>
          </a:p>
          <a:p>
            <a:pPr marL="0" indent="0">
              <a:buNone/>
            </a:pPr>
            <a:r>
              <a:rPr lang="zh-CN" altLang="en-US" sz="2400" dirty="0">
                <a:solidFill>
                  <a:srgbClr val="000000"/>
                </a:solidFill>
              </a:rPr>
              <a:t>基本语法格式：</a:t>
            </a:r>
            <a:endParaRPr lang="zh-CN" altLang="en-US" sz="2400" dirty="0">
              <a:solidFill>
                <a:srgbClr val="000000"/>
              </a:solidFill>
            </a:endParaRPr>
          </a:p>
          <a:p>
            <a:pPr marL="0" indent="0">
              <a:buNone/>
            </a:pPr>
            <a:r>
              <a:rPr lang="zh-CN" altLang="en-US" sz="2400" dirty="0">
                <a:solidFill>
                  <a:srgbClr val="000000"/>
                </a:solidFill>
              </a:rPr>
              <a:t>     引用样式的对象</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endParaRPr lang="en-US" altLang="zh-CN" sz="2400" dirty="0">
              <a:solidFill>
                <a:srgbClr val="000000"/>
              </a:solidFill>
            </a:endParaRPr>
          </a:p>
          <a:p>
            <a:pPr marL="0" indent="0">
              <a:buNone/>
            </a:pPr>
            <a:r>
              <a:rPr lang="en-US" altLang="zh-CN" sz="2400" dirty="0">
                <a:solidFill>
                  <a:srgbClr val="000000"/>
                </a:solidFill>
              </a:rPr>
              <a:t>h1, h2{text-align:center; color:blue;}</a:t>
            </a:r>
            <a:endParaRPr lang="en-US" altLang="zh-CN" sz="2400" dirty="0">
              <a:solidFill>
                <a:srgbClr val="000000"/>
              </a:solidFill>
            </a:endParaRPr>
          </a:p>
          <a:p>
            <a:pPr marL="0" indent="0">
              <a:buNone/>
            </a:pPr>
            <a:r>
              <a:rPr lang="en-US" altLang="zh-CN" sz="2400" dirty="0">
                <a:solidFill>
                  <a:srgbClr val="000000"/>
                </a:solidFill>
              </a:rPr>
              <a:t>&lt;h1&gt;</a:t>
            </a:r>
            <a:r>
              <a:rPr lang="zh-CN" altLang="en-US" sz="2400" dirty="0">
                <a:solidFill>
                  <a:srgbClr val="000000"/>
                </a:solidFill>
              </a:rPr>
              <a:t>中国</a:t>
            </a:r>
            <a:r>
              <a:rPr lang="en-US" altLang="zh-CN" sz="2400" dirty="0">
                <a:solidFill>
                  <a:srgbClr val="000000"/>
                </a:solidFill>
              </a:rPr>
              <a:t>&lt;/h1&gt;</a:t>
            </a:r>
            <a:endParaRPr lang="en-US" altLang="zh-CN" sz="2400" dirty="0">
              <a:solidFill>
                <a:srgbClr val="000000"/>
              </a:solidFill>
            </a:endParaRPr>
          </a:p>
          <a:p>
            <a:pPr marL="0" indent="0">
              <a:buNone/>
            </a:pPr>
            <a:r>
              <a:rPr lang="en-US" altLang="zh-CN" sz="2400" dirty="0">
                <a:solidFill>
                  <a:srgbClr val="000000"/>
                </a:solidFill>
              </a:rPr>
              <a:t>&lt;h2&gt;</a:t>
            </a:r>
            <a:r>
              <a:rPr lang="zh-CN" altLang="en-US" sz="2400" dirty="0">
                <a:solidFill>
                  <a:srgbClr val="000000"/>
                </a:solidFill>
              </a:rPr>
              <a:t>北京天安门</a:t>
            </a:r>
            <a:r>
              <a:rPr lang="en-US" altLang="zh-CN" sz="2400" dirty="0">
                <a:solidFill>
                  <a:srgbClr val="000000"/>
                </a:solidFill>
              </a:rPr>
              <a:t>&lt;/h2&gt;</a:t>
            </a:r>
            <a:endParaRPr lang="en-US" altLang="zh-CN" sz="2400" dirty="0">
              <a:solidFill>
                <a:srgbClr val="000000"/>
              </a:solidFill>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6553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1.</a:t>
            </a:r>
            <a:r>
              <a:rPr lang="zh-CN" altLang="en-US" b="1" dirty="0">
                <a:solidFill>
                  <a:srgbClr val="000000"/>
                </a:solidFill>
              </a:rPr>
              <a:t> </a:t>
            </a:r>
            <a:r>
              <a:rPr lang="en-US" altLang="zh-CN" b="1" dirty="0">
                <a:solidFill>
                  <a:srgbClr val="000000"/>
                </a:solidFill>
              </a:rPr>
              <a:t>CCS</a:t>
            </a:r>
            <a:r>
              <a:rPr lang="zh-CN" altLang="en-US" b="1" dirty="0">
                <a:solidFill>
                  <a:srgbClr val="000000"/>
                </a:solidFill>
              </a:rPr>
              <a:t>样式表的定义</a:t>
            </a:r>
            <a:endParaRPr lang="zh-CN" altLang="en-US" b="1" dirty="0">
              <a:solidFill>
                <a:srgbClr val="000000"/>
              </a:solidFill>
            </a:endParaRPr>
          </a:p>
          <a:p>
            <a:pPr marL="0" indent="0">
              <a:buNone/>
            </a:pPr>
            <a:r>
              <a:rPr lang="en-US" altLang="zh-CN" sz="2400" dirty="0">
                <a:solidFill>
                  <a:srgbClr val="000000"/>
                </a:solidFill>
              </a:rPr>
              <a:t>CCS</a:t>
            </a:r>
            <a:r>
              <a:rPr lang="zh-CN" altLang="en-US" sz="2400" dirty="0">
                <a:solidFill>
                  <a:srgbClr val="000000"/>
                </a:solidFill>
              </a:rPr>
              <a:t>样式表的定义实际就是定义</a:t>
            </a:r>
            <a:r>
              <a:rPr lang="en-US" altLang="zh-CN" sz="2400" dirty="0">
                <a:solidFill>
                  <a:srgbClr val="000000"/>
                </a:solidFill>
              </a:rPr>
              <a:t>CCS</a:t>
            </a:r>
            <a:r>
              <a:rPr lang="zh-CN" altLang="en-US" sz="2400" dirty="0">
                <a:solidFill>
                  <a:srgbClr val="000000"/>
                </a:solidFill>
              </a:rPr>
              <a:t>选择器。</a:t>
            </a:r>
            <a:endParaRPr lang="zh-CN" altLang="en-US" sz="2400" dirty="0">
              <a:solidFill>
                <a:srgbClr val="000000"/>
              </a:solidFill>
            </a:endParaRPr>
          </a:p>
          <a:p>
            <a:pPr marL="0" indent="0">
              <a:buNone/>
            </a:pPr>
            <a:r>
              <a:rPr lang="zh-CN" altLang="en-US" sz="2400" dirty="0">
                <a:solidFill>
                  <a:srgbClr val="0000FF"/>
                </a:solidFill>
              </a:rPr>
              <a:t>（</a:t>
            </a:r>
            <a:r>
              <a:rPr lang="en-US" altLang="zh-CN" sz="2400" dirty="0">
                <a:solidFill>
                  <a:srgbClr val="0000FF"/>
                </a:solidFill>
              </a:rPr>
              <a:t>2</a:t>
            </a:r>
            <a:r>
              <a:rPr lang="zh-CN" altLang="en-US" sz="2400" dirty="0">
                <a:solidFill>
                  <a:srgbClr val="0000FF"/>
                </a:solidFill>
              </a:rPr>
              <a:t>）类别选择器</a:t>
            </a:r>
            <a:r>
              <a:rPr lang="en-US" altLang="zh-CN" sz="2400" dirty="0">
                <a:solidFill>
                  <a:srgbClr val="000000"/>
                </a:solidFill>
              </a:rPr>
              <a:t>——</a:t>
            </a:r>
            <a:r>
              <a:rPr lang="zh-CN" altLang="en-US" sz="2400" dirty="0">
                <a:solidFill>
                  <a:srgbClr val="000000"/>
                </a:solidFill>
              </a:rPr>
              <a:t>使用</a:t>
            </a:r>
            <a:r>
              <a:rPr lang="en-US" altLang="zh-CN" sz="2400" dirty="0">
                <a:solidFill>
                  <a:srgbClr val="000000"/>
                </a:solidFill>
              </a:rPr>
              <a:t>class</a:t>
            </a:r>
            <a:r>
              <a:rPr lang="zh-CN" altLang="en-US" sz="2400" dirty="0">
                <a:solidFill>
                  <a:srgbClr val="000000"/>
                </a:solidFill>
              </a:rPr>
              <a:t>定义样式表</a:t>
            </a:r>
            <a:endParaRPr lang="en-US" altLang="zh-CN" sz="2400" dirty="0">
              <a:solidFill>
                <a:srgbClr val="000000"/>
              </a:solidFill>
            </a:endParaRPr>
          </a:p>
          <a:p>
            <a:pPr marL="0" indent="0">
              <a:buNone/>
            </a:pPr>
            <a:r>
              <a:rPr lang="zh-CN" altLang="en-US" sz="2400" dirty="0">
                <a:solidFill>
                  <a:srgbClr val="000000"/>
                </a:solidFill>
              </a:rPr>
              <a:t>格式</a:t>
            </a:r>
            <a:r>
              <a:rPr lang="en-US" altLang="zh-CN" sz="2400" dirty="0">
                <a:solidFill>
                  <a:srgbClr val="000000"/>
                </a:solidFill>
              </a:rPr>
              <a:t>1</a:t>
            </a:r>
            <a:r>
              <a:rPr lang="zh-CN" altLang="en-US" sz="2400" dirty="0">
                <a:solidFill>
                  <a:srgbClr val="000000"/>
                </a:solidFill>
              </a:rPr>
              <a:t>：  标签名</a:t>
            </a:r>
            <a:r>
              <a:rPr lang="en-US" altLang="zh-CN" sz="2400" dirty="0">
                <a:solidFill>
                  <a:srgbClr val="000000"/>
                </a:solidFill>
              </a:rPr>
              <a:t>.</a:t>
            </a:r>
            <a:r>
              <a:rPr lang="zh-CN" altLang="en-US" sz="2400" dirty="0">
                <a:solidFill>
                  <a:srgbClr val="000000"/>
                </a:solidFill>
              </a:rPr>
              <a:t>类名</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r>
              <a:rPr lang="zh-CN" altLang="en-US" sz="2400" dirty="0">
                <a:solidFill>
                  <a:srgbClr val="000000"/>
                </a:solidFill>
              </a:rPr>
              <a:t> </a:t>
            </a:r>
            <a:r>
              <a:rPr lang="en-US" altLang="zh-CN" sz="2400" dirty="0">
                <a:solidFill>
                  <a:srgbClr val="000000"/>
                </a:solidFill>
              </a:rPr>
              <a:t>……}</a:t>
            </a:r>
            <a:endParaRPr lang="en-US" altLang="zh-CN" sz="2400" dirty="0">
              <a:solidFill>
                <a:srgbClr val="000000"/>
              </a:solidFill>
            </a:endParaRPr>
          </a:p>
          <a:p>
            <a:pPr marL="0" indent="0">
              <a:buNone/>
            </a:pPr>
            <a:r>
              <a:rPr lang="en-US" altLang="zh-CN" sz="2000" dirty="0">
                <a:solidFill>
                  <a:srgbClr val="000000"/>
                </a:solidFill>
              </a:rPr>
              <a:t>p.center{text-align:center;}</a:t>
            </a:r>
            <a:endParaRPr lang="en-US" altLang="zh-CN" sz="2000" dirty="0">
              <a:solidFill>
                <a:srgbClr val="000000"/>
              </a:solidFill>
            </a:endParaRPr>
          </a:p>
          <a:p>
            <a:pPr marL="0" indent="0">
              <a:buNone/>
            </a:pPr>
            <a:r>
              <a:rPr lang="en-US" altLang="zh-CN" sz="2000" dirty="0">
                <a:solidFill>
                  <a:srgbClr val="000000"/>
                </a:solidFill>
              </a:rPr>
              <a:t>p.right{text-align:right;}</a:t>
            </a:r>
            <a:endParaRPr lang="en-US" altLang="zh-CN" sz="2000" dirty="0">
              <a:solidFill>
                <a:srgbClr val="000000"/>
              </a:solidFill>
            </a:endParaRPr>
          </a:p>
          <a:p>
            <a:pPr marL="0" indent="0">
              <a:buNone/>
            </a:pPr>
            <a:r>
              <a:rPr lang="en-US" altLang="zh-CN" sz="2000" dirty="0">
                <a:solidFill>
                  <a:srgbClr val="000000"/>
                </a:solidFill>
              </a:rPr>
              <a:t>&lt;p class=“right”}</a:t>
            </a:r>
            <a:r>
              <a:rPr lang="zh-CN" altLang="en-US" sz="2000" dirty="0">
                <a:solidFill>
                  <a:srgbClr val="000000"/>
                </a:solidFill>
              </a:rPr>
              <a:t>这个段落向右看齐</a:t>
            </a:r>
            <a:r>
              <a:rPr lang="en-US" altLang="zh-CN" sz="2000" dirty="0">
                <a:solidFill>
                  <a:srgbClr val="000000"/>
                </a:solidFill>
              </a:rPr>
              <a:t>&lt;/p&gt;</a:t>
            </a:r>
            <a:endParaRPr lang="en-US" altLang="zh-CN" sz="2000" dirty="0">
              <a:solidFill>
                <a:srgbClr val="000000"/>
              </a:solidFill>
            </a:endParaRPr>
          </a:p>
          <a:p>
            <a:pPr marL="0" indent="0">
              <a:buNone/>
            </a:pPr>
            <a:r>
              <a:rPr lang="en-US" altLang="zh-CN" sz="2000" dirty="0">
                <a:solidFill>
                  <a:srgbClr val="000000"/>
                </a:solidFill>
              </a:rPr>
              <a:t>&lt;p class=“center”}</a:t>
            </a:r>
            <a:r>
              <a:rPr lang="zh-CN" altLang="en-US" sz="2000" dirty="0">
                <a:solidFill>
                  <a:srgbClr val="000000"/>
                </a:solidFill>
              </a:rPr>
              <a:t>这个段落居中对齐</a:t>
            </a:r>
            <a:r>
              <a:rPr lang="en-US" altLang="zh-CN" sz="2000" dirty="0">
                <a:solidFill>
                  <a:srgbClr val="000000"/>
                </a:solidFill>
              </a:rPr>
              <a:t>&lt;/p&gt;</a:t>
            </a:r>
            <a:endParaRPr lang="en-US" altLang="zh-CN" sz="2000" dirty="0">
              <a:solidFill>
                <a:srgbClr val="000000"/>
              </a:solidFill>
            </a:endParaRPr>
          </a:p>
          <a:p>
            <a:pPr marL="0" indent="0">
              <a:buNone/>
            </a:pPr>
            <a:r>
              <a:rPr lang="zh-CN" altLang="en-US" sz="2400" dirty="0">
                <a:solidFill>
                  <a:srgbClr val="000000"/>
                </a:solidFill>
              </a:rPr>
              <a:t>格式</a:t>
            </a:r>
            <a:r>
              <a:rPr lang="en-US" altLang="zh-CN" sz="2400" dirty="0">
                <a:solidFill>
                  <a:srgbClr val="000000"/>
                </a:solidFill>
              </a:rPr>
              <a:t>2</a:t>
            </a:r>
            <a:r>
              <a:rPr lang="zh-CN" altLang="en-US" sz="2400" dirty="0">
                <a:solidFill>
                  <a:srgbClr val="000000"/>
                </a:solidFill>
              </a:rPr>
              <a:t>：  </a:t>
            </a:r>
            <a:r>
              <a:rPr lang="en-US" altLang="zh-CN" sz="2400" dirty="0">
                <a:solidFill>
                  <a:srgbClr val="000000"/>
                </a:solidFill>
              </a:rPr>
              <a:t>.</a:t>
            </a:r>
            <a:r>
              <a:rPr lang="zh-CN" altLang="en-US" sz="2400" dirty="0">
                <a:solidFill>
                  <a:srgbClr val="000000"/>
                </a:solidFill>
              </a:rPr>
              <a:t>类名</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r>
              <a:rPr lang="zh-CN" altLang="en-US" sz="2400" dirty="0">
                <a:solidFill>
                  <a:srgbClr val="000000"/>
                </a:solidFill>
              </a:rPr>
              <a:t> </a:t>
            </a:r>
            <a:r>
              <a:rPr lang="en-US" altLang="zh-CN" sz="2400" dirty="0">
                <a:solidFill>
                  <a:srgbClr val="000000"/>
                </a:solidFill>
              </a:rPr>
              <a:t>……}</a:t>
            </a:r>
            <a:endParaRPr lang="en-US" altLang="zh-CN" sz="2400" dirty="0">
              <a:solidFill>
                <a:srgbClr val="000000"/>
              </a:solidFill>
            </a:endParaRPr>
          </a:p>
          <a:p>
            <a:pPr marL="0" indent="0">
              <a:buNone/>
            </a:pPr>
            <a:r>
              <a:rPr lang="en-US" altLang="zh-CN" sz="2000" dirty="0">
                <a:solidFill>
                  <a:srgbClr val="000000"/>
                </a:solidFill>
              </a:rPr>
              <a:t>.text{font-family:</a:t>
            </a:r>
            <a:r>
              <a:rPr lang="zh-CN" altLang="en-US" sz="2000" dirty="0">
                <a:solidFill>
                  <a:srgbClr val="000000"/>
                </a:solidFill>
              </a:rPr>
              <a:t>宋体</a:t>
            </a:r>
            <a:r>
              <a:rPr lang="en-US" altLang="zh-CN" sz="2000" dirty="0">
                <a:solidFill>
                  <a:srgbClr val="000000"/>
                </a:solidFill>
              </a:rPr>
              <a:t>; color:red;} //</a:t>
            </a:r>
            <a:r>
              <a:rPr lang="zh-CN" altLang="en-US" sz="2000" dirty="0">
                <a:solidFill>
                  <a:srgbClr val="000000"/>
                </a:solidFill>
              </a:rPr>
              <a:t>定义类别选择器</a:t>
            </a:r>
            <a:r>
              <a:rPr lang="en-US" altLang="zh-CN" sz="2000" dirty="0">
                <a:solidFill>
                  <a:srgbClr val="000000"/>
                </a:solidFill>
              </a:rPr>
              <a:t>text</a:t>
            </a:r>
            <a:endParaRPr lang="en-US" altLang="zh-CN" sz="2000" dirty="0">
              <a:solidFill>
                <a:srgbClr val="000000"/>
              </a:solidFill>
            </a:endParaRPr>
          </a:p>
          <a:p>
            <a:pPr marL="0" indent="0">
              <a:buNone/>
            </a:pPr>
            <a:r>
              <a:rPr lang="en-US" altLang="zh-CN" sz="2000" dirty="0">
                <a:solidFill>
                  <a:srgbClr val="000000"/>
                </a:solidFill>
              </a:rPr>
              <a:t>&lt;p class=“text”&gt;</a:t>
            </a:r>
            <a:r>
              <a:rPr lang="zh-CN" altLang="en-US" sz="2000" dirty="0">
                <a:solidFill>
                  <a:srgbClr val="000000"/>
                </a:solidFill>
              </a:rPr>
              <a:t>段落文本</a:t>
            </a:r>
            <a:r>
              <a:rPr lang="en-US" altLang="zh-CN" sz="2000" dirty="0">
                <a:solidFill>
                  <a:srgbClr val="000000"/>
                </a:solidFill>
              </a:rPr>
              <a:t>&lt;/p&gt;     //</a:t>
            </a:r>
            <a:r>
              <a:rPr lang="zh-CN" altLang="en-US" sz="2000" dirty="0">
                <a:solidFill>
                  <a:srgbClr val="000000"/>
                </a:solidFill>
              </a:rPr>
              <a:t> </a:t>
            </a:r>
            <a:r>
              <a:rPr lang="en-US" altLang="zh-CN" sz="2000" dirty="0">
                <a:solidFill>
                  <a:srgbClr val="000000"/>
                </a:solidFill>
              </a:rPr>
              <a:t>p</a:t>
            </a:r>
            <a:r>
              <a:rPr lang="zh-CN" altLang="en-US" sz="2000" dirty="0">
                <a:solidFill>
                  <a:srgbClr val="000000"/>
                </a:solidFill>
              </a:rPr>
              <a:t>标签引用类别选择器</a:t>
            </a:r>
            <a:r>
              <a:rPr lang="en-US" altLang="zh-CN" sz="2000" dirty="0">
                <a:solidFill>
                  <a:srgbClr val="000000"/>
                </a:solidFill>
              </a:rPr>
              <a:t>text</a:t>
            </a:r>
            <a:endParaRPr lang="en-US" altLang="zh-CN" sz="2000" dirty="0">
              <a:solidFill>
                <a:srgbClr val="000000"/>
              </a:solidFill>
            </a:endParaRPr>
          </a:p>
          <a:p>
            <a:pPr marL="0" indent="0">
              <a:buNone/>
            </a:pPr>
            <a:r>
              <a:rPr lang="en-US" altLang="zh-CN" sz="2000" dirty="0">
                <a:solidFill>
                  <a:srgbClr val="000000"/>
                </a:solidFill>
              </a:rPr>
              <a:t>&lt;h1 class=“text”&gt;</a:t>
            </a:r>
            <a:r>
              <a:rPr lang="zh-CN" altLang="en-US" sz="2000" dirty="0">
                <a:solidFill>
                  <a:srgbClr val="000000"/>
                </a:solidFill>
              </a:rPr>
              <a:t>标题文本</a:t>
            </a:r>
            <a:r>
              <a:rPr lang="en-US" altLang="zh-CN" sz="2000" dirty="0">
                <a:solidFill>
                  <a:srgbClr val="000000"/>
                </a:solidFill>
              </a:rPr>
              <a:t>&lt;/h1&gt; // h1</a:t>
            </a:r>
            <a:r>
              <a:rPr lang="zh-CN" altLang="en-US" sz="2000" dirty="0">
                <a:solidFill>
                  <a:srgbClr val="000000"/>
                </a:solidFill>
              </a:rPr>
              <a:t>标签引用类别选择器</a:t>
            </a:r>
            <a:r>
              <a:rPr lang="en-US" altLang="zh-CN" sz="2000" dirty="0">
                <a:solidFill>
                  <a:srgbClr val="000000"/>
                </a:solidFill>
              </a:rPr>
              <a:t>text</a:t>
            </a:r>
            <a:endParaRPr lang="en-US" altLang="zh-CN" sz="2000" dirty="0">
              <a:solidFill>
                <a:srgbClr val="000000"/>
              </a:solidFill>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6656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1.</a:t>
            </a:r>
            <a:r>
              <a:rPr lang="zh-CN" altLang="en-US" b="1" dirty="0">
                <a:solidFill>
                  <a:srgbClr val="000000"/>
                </a:solidFill>
              </a:rPr>
              <a:t> </a:t>
            </a:r>
            <a:r>
              <a:rPr lang="en-US" altLang="zh-CN" b="1" dirty="0">
                <a:solidFill>
                  <a:srgbClr val="000000"/>
                </a:solidFill>
              </a:rPr>
              <a:t>CCS</a:t>
            </a:r>
            <a:r>
              <a:rPr lang="zh-CN" altLang="en-US" b="1" dirty="0">
                <a:solidFill>
                  <a:srgbClr val="000000"/>
                </a:solidFill>
              </a:rPr>
              <a:t>样式表的定义</a:t>
            </a:r>
            <a:endParaRPr lang="zh-CN" altLang="en-US" b="1" dirty="0">
              <a:solidFill>
                <a:srgbClr val="000000"/>
              </a:solidFill>
            </a:endParaRPr>
          </a:p>
          <a:p>
            <a:pPr marL="0" indent="0">
              <a:buNone/>
            </a:pPr>
            <a:r>
              <a:rPr lang="en-US" altLang="zh-CN" sz="2400" dirty="0">
                <a:solidFill>
                  <a:srgbClr val="000000"/>
                </a:solidFill>
              </a:rPr>
              <a:t>CCS</a:t>
            </a:r>
            <a:r>
              <a:rPr lang="zh-CN" altLang="en-US" sz="2400" dirty="0">
                <a:solidFill>
                  <a:srgbClr val="000000"/>
                </a:solidFill>
              </a:rPr>
              <a:t>样式表的定义实际就是定义</a:t>
            </a:r>
            <a:r>
              <a:rPr lang="en-US" altLang="zh-CN" sz="2400" dirty="0">
                <a:solidFill>
                  <a:srgbClr val="000000"/>
                </a:solidFill>
              </a:rPr>
              <a:t>CCS</a:t>
            </a:r>
            <a:r>
              <a:rPr lang="zh-CN" altLang="en-US" sz="2400" dirty="0">
                <a:solidFill>
                  <a:srgbClr val="000000"/>
                </a:solidFill>
              </a:rPr>
              <a:t>选择器。</a:t>
            </a:r>
            <a:endParaRPr lang="en-US" altLang="zh-CN" sz="2400" dirty="0">
              <a:solidFill>
                <a:srgbClr val="0000FF"/>
              </a:solidFill>
            </a:endParaRPr>
          </a:p>
          <a:p>
            <a:pPr marL="0" indent="0">
              <a:buNone/>
            </a:pPr>
            <a:r>
              <a:rPr lang="zh-CN" altLang="en-US" sz="2400" dirty="0">
                <a:solidFill>
                  <a:srgbClr val="0000FF"/>
                </a:solidFill>
              </a:rPr>
              <a:t>（</a:t>
            </a:r>
            <a:r>
              <a:rPr lang="en-US" altLang="zh-CN" sz="2400" dirty="0">
                <a:solidFill>
                  <a:srgbClr val="0000FF"/>
                </a:solidFill>
              </a:rPr>
              <a:t>3</a:t>
            </a:r>
            <a:r>
              <a:rPr lang="zh-CN" altLang="en-US" sz="2400" dirty="0">
                <a:solidFill>
                  <a:srgbClr val="0000FF"/>
                </a:solidFill>
              </a:rPr>
              <a:t>）</a:t>
            </a:r>
            <a:r>
              <a:rPr lang="en-US" altLang="zh-CN" sz="2400" dirty="0">
                <a:solidFill>
                  <a:srgbClr val="0000FF"/>
                </a:solidFill>
              </a:rPr>
              <a:t>ID</a:t>
            </a:r>
            <a:r>
              <a:rPr lang="zh-CN" altLang="en-US" sz="2400" dirty="0">
                <a:solidFill>
                  <a:srgbClr val="0000FF"/>
                </a:solidFill>
              </a:rPr>
              <a:t>选择器</a:t>
            </a:r>
            <a:r>
              <a:rPr lang="en-US" altLang="zh-CN" sz="2400" dirty="0">
                <a:solidFill>
                  <a:srgbClr val="000000"/>
                </a:solidFill>
              </a:rPr>
              <a:t>——</a:t>
            </a:r>
            <a:r>
              <a:rPr lang="zh-CN" altLang="en-US" sz="2400" dirty="0">
                <a:solidFill>
                  <a:srgbClr val="000000"/>
                </a:solidFill>
              </a:rPr>
              <a:t>使用</a:t>
            </a:r>
            <a:r>
              <a:rPr lang="en-US" altLang="zh-CN" sz="2400" dirty="0">
                <a:solidFill>
                  <a:srgbClr val="000000"/>
                </a:solidFill>
              </a:rPr>
              <a:t>id</a:t>
            </a:r>
            <a:r>
              <a:rPr lang="zh-CN" altLang="en-US" sz="2400" dirty="0">
                <a:solidFill>
                  <a:srgbClr val="000000"/>
                </a:solidFill>
              </a:rPr>
              <a:t>定义样式表</a:t>
            </a:r>
            <a:endParaRPr lang="en-US" altLang="zh-CN" sz="2400" dirty="0">
              <a:solidFill>
                <a:srgbClr val="000000"/>
              </a:solidFill>
            </a:endParaRPr>
          </a:p>
          <a:p>
            <a:pPr marL="0" indent="0">
              <a:buNone/>
            </a:pPr>
            <a:r>
              <a:rPr lang="zh-CN" altLang="en-US" sz="2400" dirty="0">
                <a:solidFill>
                  <a:srgbClr val="000000"/>
                </a:solidFill>
              </a:rPr>
              <a:t>基本语法：</a:t>
            </a:r>
            <a:endParaRPr lang="zh-CN" altLang="en-US" sz="2400" dirty="0">
              <a:solidFill>
                <a:srgbClr val="000000"/>
              </a:solidFill>
            </a:endParaRPr>
          </a:p>
          <a:p>
            <a:pPr marL="0" indent="0">
              <a:buNone/>
            </a:pPr>
            <a:r>
              <a:rPr lang="en-US" altLang="zh-CN" sz="2400" dirty="0">
                <a:solidFill>
                  <a:srgbClr val="000000"/>
                </a:solidFill>
              </a:rPr>
              <a:t>     #id</a:t>
            </a:r>
            <a:r>
              <a:rPr lang="zh-CN" altLang="en-US" sz="2400" dirty="0">
                <a:solidFill>
                  <a:srgbClr val="000000"/>
                </a:solidFill>
              </a:rPr>
              <a:t>名称</a:t>
            </a:r>
            <a:r>
              <a:rPr lang="en-US" altLang="zh-CN" sz="2400" dirty="0">
                <a:solidFill>
                  <a:srgbClr val="000000"/>
                </a:solidFill>
              </a:rPr>
              <a:t>{</a:t>
            </a:r>
            <a:r>
              <a:rPr lang="zh-CN" altLang="en-US" sz="2400" dirty="0">
                <a:solidFill>
                  <a:srgbClr val="000000"/>
                </a:solidFill>
              </a:rPr>
              <a:t>标签属性</a:t>
            </a:r>
            <a:r>
              <a:rPr lang="en-US" altLang="zh-CN" sz="2400" dirty="0">
                <a:solidFill>
                  <a:srgbClr val="000000"/>
                </a:solidFill>
              </a:rPr>
              <a:t>:</a:t>
            </a:r>
            <a:r>
              <a:rPr lang="zh-CN" altLang="en-US" sz="2400" dirty="0">
                <a:solidFill>
                  <a:srgbClr val="000000"/>
                </a:solidFill>
              </a:rPr>
              <a:t>属性值标签属性</a:t>
            </a:r>
            <a:r>
              <a:rPr lang="en-US" altLang="zh-CN" sz="2400" dirty="0">
                <a:solidFill>
                  <a:srgbClr val="000000"/>
                </a:solidFill>
              </a:rPr>
              <a:t>:</a:t>
            </a:r>
            <a:r>
              <a:rPr lang="zh-CN" altLang="en-US" sz="2400" dirty="0">
                <a:solidFill>
                  <a:srgbClr val="000000"/>
                </a:solidFill>
              </a:rPr>
              <a:t>属性值</a:t>
            </a:r>
            <a:r>
              <a:rPr lang="en-US" altLang="zh-CN" sz="2400" dirty="0">
                <a:solidFill>
                  <a:srgbClr val="000000"/>
                </a:solidFill>
              </a:rPr>
              <a:t>;</a:t>
            </a:r>
            <a:r>
              <a:rPr lang="zh-CN" altLang="en-US" sz="2400" dirty="0">
                <a:solidFill>
                  <a:srgbClr val="000000"/>
                </a:solidFill>
              </a:rPr>
              <a:t> </a:t>
            </a:r>
            <a:r>
              <a:rPr lang="en-US" altLang="zh-CN" sz="2400" dirty="0">
                <a:solidFill>
                  <a:srgbClr val="000000"/>
                </a:solidFill>
              </a:rPr>
              <a:t>……}</a:t>
            </a:r>
            <a:endParaRPr lang="en-US" altLang="zh-CN" sz="2400" dirty="0">
              <a:solidFill>
                <a:srgbClr val="000000"/>
              </a:solidFill>
            </a:endParaRPr>
          </a:p>
          <a:p>
            <a:pPr marL="0" indent="0">
              <a:buNone/>
            </a:pPr>
            <a:endParaRPr lang="en-US" altLang="zh-CN" sz="2000" dirty="0">
              <a:solidFill>
                <a:srgbClr val="000000"/>
              </a:solidFill>
            </a:endParaRPr>
          </a:p>
          <a:p>
            <a:pPr marL="0" indent="0">
              <a:buNone/>
            </a:pPr>
            <a:r>
              <a:rPr lang="en-US" altLang="zh-CN" sz="2000" dirty="0">
                <a:solidFill>
                  <a:srgbClr val="000000"/>
                </a:solidFill>
              </a:rPr>
              <a:t>#sample{font-family:</a:t>
            </a:r>
            <a:r>
              <a:rPr lang="zh-CN" altLang="en-US" sz="2000" dirty="0">
                <a:solidFill>
                  <a:srgbClr val="000000"/>
                </a:solidFill>
              </a:rPr>
              <a:t>宋体</a:t>
            </a:r>
            <a:r>
              <a:rPr lang="en-US" altLang="zh-CN" sz="2000" dirty="0">
                <a:solidFill>
                  <a:srgbClr val="000000"/>
                </a:solidFill>
              </a:rPr>
              <a:t>; font-size: 60pt}  //</a:t>
            </a:r>
            <a:r>
              <a:rPr lang="zh-CN" altLang="en-US" sz="2000" dirty="0">
                <a:solidFill>
                  <a:srgbClr val="000000"/>
                </a:solidFill>
              </a:rPr>
              <a:t>定义</a:t>
            </a:r>
            <a:r>
              <a:rPr lang="en-US" altLang="zh-CN" sz="2000" dirty="0">
                <a:solidFill>
                  <a:srgbClr val="000000"/>
                </a:solidFill>
              </a:rPr>
              <a:t>id</a:t>
            </a:r>
            <a:r>
              <a:rPr lang="zh-CN" altLang="en-US" sz="2000" dirty="0">
                <a:solidFill>
                  <a:srgbClr val="000000"/>
                </a:solidFill>
              </a:rPr>
              <a:t>选择器</a:t>
            </a:r>
            <a:endParaRPr lang="en-US" altLang="zh-CN" sz="2000" dirty="0">
              <a:solidFill>
                <a:srgbClr val="000000"/>
              </a:solidFill>
            </a:endParaRPr>
          </a:p>
          <a:p>
            <a:pPr marL="0" indent="0">
              <a:buNone/>
            </a:pPr>
            <a:r>
              <a:rPr lang="en-US" altLang="zh-CN" sz="2000" dirty="0">
                <a:solidFill>
                  <a:srgbClr val="000000"/>
                </a:solidFill>
              </a:rPr>
              <a:t>&lt;p id=sample&gt;</a:t>
            </a:r>
            <a:r>
              <a:rPr lang="zh-CN" altLang="en-US" sz="2000" dirty="0">
                <a:solidFill>
                  <a:srgbClr val="000000"/>
                </a:solidFill>
              </a:rPr>
              <a:t>段落文本</a:t>
            </a:r>
            <a:r>
              <a:rPr lang="en-US" altLang="zh-CN" sz="2000" dirty="0">
                <a:solidFill>
                  <a:srgbClr val="000000"/>
                </a:solidFill>
              </a:rPr>
              <a:t>&lt;/p&gt;</a:t>
            </a:r>
            <a:endParaRPr lang="en-US" altLang="zh-CN" sz="2000" dirty="0">
              <a:solidFill>
                <a:srgbClr val="000000"/>
              </a:solidFill>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6758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2.</a:t>
            </a:r>
            <a:r>
              <a:rPr lang="zh-CN" altLang="en-US" b="1" dirty="0">
                <a:solidFill>
                  <a:srgbClr val="000000"/>
                </a:solidFill>
              </a:rPr>
              <a:t> 样式表的使用</a:t>
            </a:r>
            <a:endParaRPr lang="zh-CN" altLang="en-US" b="1" dirty="0">
              <a:solidFill>
                <a:srgbClr val="000000"/>
              </a:solidFill>
            </a:endParaRPr>
          </a:p>
          <a:p>
            <a:pPr marL="0" indent="0">
              <a:buNone/>
            </a:pPr>
            <a:r>
              <a:rPr lang="zh-CN" altLang="en-US" sz="2400" dirty="0">
                <a:solidFill>
                  <a:srgbClr val="000000"/>
                </a:solidFill>
              </a:rPr>
              <a:t>在</a:t>
            </a:r>
            <a:r>
              <a:rPr lang="en-US" altLang="zh-CN" sz="2400" dirty="0">
                <a:solidFill>
                  <a:srgbClr val="000000"/>
                </a:solidFill>
              </a:rPr>
              <a:t>HTML</a:t>
            </a:r>
            <a:r>
              <a:rPr lang="zh-CN" altLang="en-US" sz="2400" dirty="0">
                <a:solidFill>
                  <a:srgbClr val="000000"/>
                </a:solidFill>
              </a:rPr>
              <a:t>中使用</a:t>
            </a:r>
            <a:r>
              <a:rPr lang="en-US" altLang="zh-CN" sz="2400" dirty="0">
                <a:solidFill>
                  <a:srgbClr val="000000"/>
                </a:solidFill>
              </a:rPr>
              <a:t>CSS</a:t>
            </a:r>
            <a:r>
              <a:rPr lang="zh-CN" altLang="en-US" sz="2400" dirty="0">
                <a:solidFill>
                  <a:srgbClr val="000000"/>
                </a:solidFill>
              </a:rPr>
              <a:t>的方法有</a:t>
            </a:r>
            <a:r>
              <a:rPr lang="en-US" altLang="zh-CN" sz="2400" dirty="0">
                <a:solidFill>
                  <a:srgbClr val="000000"/>
                </a:solidFill>
              </a:rPr>
              <a:t>4</a:t>
            </a:r>
            <a:r>
              <a:rPr lang="zh-CN" altLang="en-US" sz="2400" dirty="0">
                <a:solidFill>
                  <a:srgbClr val="000000"/>
                </a:solidFill>
              </a:rPr>
              <a:t>种方式：</a:t>
            </a:r>
            <a:r>
              <a:rPr lang="zh-CN" altLang="en-US" sz="2400" dirty="0">
                <a:solidFill>
                  <a:srgbClr val="0000FF"/>
                </a:solidFill>
              </a:rPr>
              <a:t>行内式</a:t>
            </a:r>
            <a:r>
              <a:rPr lang="zh-CN" altLang="en-US" sz="2400" dirty="0">
                <a:solidFill>
                  <a:srgbClr val="000000"/>
                </a:solidFill>
              </a:rPr>
              <a:t>、</a:t>
            </a:r>
            <a:r>
              <a:rPr lang="zh-CN" altLang="en-US" sz="2400" dirty="0">
                <a:solidFill>
                  <a:srgbClr val="0000FF"/>
                </a:solidFill>
              </a:rPr>
              <a:t>内嵌式</a:t>
            </a:r>
            <a:r>
              <a:rPr lang="zh-CN" altLang="en-US" sz="2400" dirty="0">
                <a:solidFill>
                  <a:srgbClr val="000000"/>
                </a:solidFill>
              </a:rPr>
              <a:t>、</a:t>
            </a:r>
            <a:r>
              <a:rPr lang="zh-CN" altLang="en-US" sz="2400" dirty="0">
                <a:solidFill>
                  <a:srgbClr val="0000FF"/>
                </a:solidFill>
              </a:rPr>
              <a:t>链接式</a:t>
            </a:r>
            <a:r>
              <a:rPr lang="zh-CN" altLang="en-US" sz="2400" dirty="0">
                <a:solidFill>
                  <a:srgbClr val="000000"/>
                </a:solidFill>
              </a:rPr>
              <a:t>、</a:t>
            </a:r>
            <a:r>
              <a:rPr lang="zh-CN" altLang="en-US" sz="2400" dirty="0">
                <a:solidFill>
                  <a:srgbClr val="0000FF"/>
                </a:solidFill>
              </a:rPr>
              <a:t>导入式</a:t>
            </a:r>
            <a:r>
              <a:rPr lang="zh-CN" altLang="en-US" sz="2400" dirty="0">
                <a:solidFill>
                  <a:srgbClr val="000000"/>
                </a:solidFill>
              </a:rPr>
              <a:t>。</a:t>
            </a:r>
            <a:endParaRPr lang="en-US" altLang="zh-CN" sz="2400"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1</a:t>
            </a:r>
            <a:r>
              <a:rPr lang="zh-CN" altLang="en-US" sz="2800" dirty="0">
                <a:solidFill>
                  <a:srgbClr val="0000FF"/>
                </a:solidFill>
              </a:rPr>
              <a:t>）行内式（不需要定义选择器）</a:t>
            </a:r>
            <a:endParaRPr lang="en-US" altLang="zh-CN" sz="2800" dirty="0">
              <a:solidFill>
                <a:srgbClr val="0000FF"/>
              </a:solidFill>
            </a:endParaRPr>
          </a:p>
          <a:p>
            <a:pPr marL="0" indent="0">
              <a:buNone/>
            </a:pPr>
            <a:r>
              <a:rPr lang="zh-CN" altLang="en-US" sz="2400" dirty="0">
                <a:solidFill>
                  <a:srgbClr val="000000"/>
                </a:solidFill>
              </a:rPr>
              <a:t>利用</a:t>
            </a:r>
            <a:r>
              <a:rPr lang="en-US" altLang="zh-CN" sz="2400" dirty="0">
                <a:solidFill>
                  <a:srgbClr val="000000"/>
                </a:solidFill>
              </a:rPr>
              <a:t>style</a:t>
            </a:r>
            <a:r>
              <a:rPr lang="zh-CN" altLang="en-US" sz="2400" dirty="0">
                <a:solidFill>
                  <a:srgbClr val="000000"/>
                </a:solidFill>
              </a:rPr>
              <a:t>属性直接为元素设置样式。</a:t>
            </a:r>
            <a:endParaRPr lang="en-US" altLang="zh-CN" sz="2400" dirty="0">
              <a:solidFill>
                <a:srgbClr val="000000"/>
              </a:solidFill>
            </a:endParaRPr>
          </a:p>
          <a:p>
            <a:pPr marL="0" indent="0">
              <a:buNone/>
            </a:pPr>
            <a:r>
              <a:rPr lang="zh-CN" altLang="en-US" sz="2400" dirty="0">
                <a:solidFill>
                  <a:srgbClr val="000000"/>
                </a:solidFill>
              </a:rPr>
              <a:t>例：</a:t>
            </a:r>
            <a:endParaRPr lang="en-US" altLang="zh-CN" sz="2400" dirty="0">
              <a:solidFill>
                <a:srgbClr val="000000"/>
              </a:solidFill>
            </a:endParaRPr>
          </a:p>
          <a:p>
            <a:pPr marL="0" indent="0">
              <a:buNone/>
            </a:pPr>
            <a:r>
              <a:rPr lang="en-US" altLang="zh-CN" sz="2400" dirty="0">
                <a:solidFill>
                  <a:srgbClr val="000000"/>
                </a:solidFill>
              </a:rPr>
              <a:t>     &lt;p style="color:#FF0000; font-size:20px;</a:t>
            </a:r>
            <a:endParaRPr lang="en-US" altLang="zh-CN" sz="2400" dirty="0">
              <a:solidFill>
                <a:srgbClr val="000000"/>
              </a:solidFill>
            </a:endParaRPr>
          </a:p>
          <a:p>
            <a:pPr marL="0" indent="0">
              <a:buNone/>
            </a:pPr>
            <a:r>
              <a:rPr lang="en-US" altLang="zh-CN" sz="2400" dirty="0">
                <a:solidFill>
                  <a:srgbClr val="000000"/>
                </a:solidFill>
              </a:rPr>
              <a:t>          text-decoration:underline;"&gt;</a:t>
            </a:r>
            <a:r>
              <a:rPr lang="zh-CN" altLang="en-US" sz="2400" dirty="0">
                <a:solidFill>
                  <a:srgbClr val="000000"/>
                </a:solidFill>
              </a:rPr>
              <a:t>正文内容</a:t>
            </a:r>
            <a:r>
              <a:rPr lang="en-US" altLang="zh-CN" sz="2400" dirty="0">
                <a:solidFill>
                  <a:srgbClr val="000000"/>
                </a:solidFill>
              </a:rPr>
              <a:t>1&lt;/p&gt;</a:t>
            </a:r>
            <a:endParaRPr lang="en-US" altLang="zh-CN" sz="2400" dirty="0">
              <a:solidFill>
                <a:srgbClr val="000000"/>
              </a:solidFill>
            </a:endParaRPr>
          </a:p>
          <a:p>
            <a:pPr marL="0" indent="0">
              <a:buNone/>
            </a:pPr>
            <a:endParaRPr lang="en-US" altLang="zh-CN" sz="2400" dirty="0">
              <a:solidFill>
                <a:srgbClr val="000000"/>
              </a:solidFill>
            </a:endParaRPr>
          </a:p>
          <a:p>
            <a:pPr marL="0" indent="0">
              <a:buNone/>
            </a:pPr>
            <a:r>
              <a:rPr lang="en-US" altLang="zh-CN" sz="2400" dirty="0">
                <a:solidFill>
                  <a:srgbClr val="000000"/>
                </a:solidFill>
              </a:rPr>
              <a:t>     &lt;p style="color:#000000; </a:t>
            </a:r>
            <a:endParaRPr lang="en-US" altLang="zh-CN" sz="2400" dirty="0">
              <a:solidFill>
                <a:srgbClr val="000000"/>
              </a:solidFill>
            </a:endParaRPr>
          </a:p>
          <a:p>
            <a:pPr marL="0" indent="0">
              <a:buNone/>
            </a:pPr>
            <a:r>
              <a:rPr lang="en-US" altLang="zh-CN" sz="2400" dirty="0">
                <a:solidFill>
                  <a:srgbClr val="000000"/>
                </a:solidFill>
              </a:rPr>
              <a:t>          font-style:italic;"&gt;</a:t>
            </a:r>
            <a:r>
              <a:rPr lang="zh-CN" altLang="en-US" sz="2400" dirty="0">
                <a:solidFill>
                  <a:srgbClr val="000000"/>
                </a:solidFill>
              </a:rPr>
              <a:t>正文内容</a:t>
            </a:r>
            <a:r>
              <a:rPr lang="en-US" altLang="zh-CN" sz="2400" dirty="0">
                <a:solidFill>
                  <a:srgbClr val="000000"/>
                </a:solidFill>
              </a:rPr>
              <a:t>2&lt;/p&gt; </a:t>
            </a:r>
            <a:endParaRPr lang="zh-CN" altLang="en-US" sz="2400" dirty="0">
              <a:solidFill>
                <a:srgbClr val="000000"/>
              </a:solidFill>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6861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2.</a:t>
            </a:r>
            <a:r>
              <a:rPr lang="zh-CN" altLang="en-US" b="1" dirty="0">
                <a:solidFill>
                  <a:srgbClr val="000000"/>
                </a:solidFill>
              </a:rPr>
              <a:t> 样式表的使用</a:t>
            </a:r>
            <a:endParaRPr lang="en-US" altLang="zh-CN" b="1"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2</a:t>
            </a:r>
            <a:r>
              <a:rPr lang="zh-CN" altLang="en-US" sz="2800" dirty="0">
                <a:solidFill>
                  <a:srgbClr val="0000FF"/>
                </a:solidFill>
              </a:rPr>
              <a:t>）内嵌式：</a:t>
            </a:r>
            <a:endParaRPr lang="en-US" altLang="zh-CN" sz="2800" dirty="0">
              <a:solidFill>
                <a:srgbClr val="0000FF"/>
              </a:solidFill>
            </a:endParaRPr>
          </a:p>
          <a:p>
            <a:pPr marL="0" indent="0">
              <a:spcBef>
                <a:spcPct val="0"/>
              </a:spcBef>
              <a:buNone/>
            </a:pPr>
            <a:r>
              <a:rPr lang="zh-CN" altLang="en-US" dirty="0">
                <a:solidFill>
                  <a:srgbClr val="000000"/>
                </a:solidFill>
              </a:rPr>
              <a:t>      </a:t>
            </a:r>
            <a:r>
              <a:rPr lang="zh-CN" altLang="en-US" sz="2400" dirty="0">
                <a:solidFill>
                  <a:srgbClr val="000000"/>
                </a:solidFill>
              </a:rPr>
              <a:t>需要先定义有关的选择器，然后再使用。利用</a:t>
            </a:r>
            <a:r>
              <a:rPr lang="en-US" altLang="zh-CN" sz="2400" dirty="0">
                <a:solidFill>
                  <a:srgbClr val="000000"/>
                </a:solidFill>
              </a:rPr>
              <a:t>&lt;style&gt;&lt;/style&gt;</a:t>
            </a:r>
            <a:r>
              <a:rPr lang="zh-CN" altLang="en-US" sz="2400" dirty="0">
                <a:solidFill>
                  <a:srgbClr val="000000"/>
                </a:solidFill>
              </a:rPr>
              <a:t>标签对，将样式表（选择器）定义在</a:t>
            </a:r>
            <a:endParaRPr lang="zh-CN" altLang="en-US" sz="2400" dirty="0">
              <a:solidFill>
                <a:srgbClr val="000000"/>
              </a:solidFill>
            </a:endParaRPr>
          </a:p>
          <a:p>
            <a:pPr marL="0" indent="0">
              <a:spcBef>
                <a:spcPct val="0"/>
              </a:spcBef>
              <a:buNone/>
            </a:pPr>
            <a:endParaRPr lang="zh-CN" altLang="en-US" sz="2400" dirty="0">
              <a:solidFill>
                <a:srgbClr val="000000"/>
              </a:solidFill>
            </a:endParaRPr>
          </a:p>
          <a:p>
            <a:pPr marL="0" indent="0">
              <a:spcBef>
                <a:spcPct val="0"/>
              </a:spcBef>
              <a:buNone/>
            </a:pPr>
            <a:r>
              <a:rPr lang="en-US" altLang="zh-CN" sz="2400" dirty="0">
                <a:solidFill>
                  <a:srgbClr val="000000"/>
                </a:solidFill>
              </a:rPr>
              <a:t>&lt;head&gt;</a:t>
            </a:r>
            <a:endParaRPr lang="en-US" altLang="zh-CN" sz="2400" dirty="0">
              <a:solidFill>
                <a:srgbClr val="000000"/>
              </a:solidFill>
            </a:endParaRPr>
          </a:p>
          <a:p>
            <a:pPr marL="0" indent="0">
              <a:spcBef>
                <a:spcPct val="0"/>
              </a:spcBef>
              <a:buNone/>
            </a:pPr>
            <a:endParaRPr lang="en-US" altLang="zh-CN" sz="2400" dirty="0">
              <a:solidFill>
                <a:srgbClr val="000000"/>
              </a:solidFill>
            </a:endParaRPr>
          </a:p>
          <a:p>
            <a:pPr marL="0" indent="0">
              <a:spcBef>
                <a:spcPct val="0"/>
              </a:spcBef>
              <a:buNone/>
            </a:pPr>
            <a:r>
              <a:rPr lang="en-US" altLang="zh-CN" sz="2400" dirty="0">
                <a:solidFill>
                  <a:srgbClr val="000000"/>
                </a:solidFill>
                <a:sym typeface="+mn-ea"/>
              </a:rPr>
              <a:t>&lt;style&gt;</a:t>
            </a:r>
            <a:endParaRPr lang="en-US" altLang="zh-CN" sz="2400" dirty="0">
              <a:solidFill>
                <a:srgbClr val="000000"/>
              </a:solidFill>
              <a:sym typeface="+mn-ea"/>
            </a:endParaRPr>
          </a:p>
          <a:p>
            <a:pPr marL="0" indent="0">
              <a:spcBef>
                <a:spcPct val="0"/>
              </a:spcBef>
              <a:buNone/>
            </a:pPr>
            <a:endParaRPr lang="en-US" altLang="zh-CN" sz="2400" dirty="0">
              <a:solidFill>
                <a:srgbClr val="000000"/>
              </a:solidFill>
              <a:sym typeface="+mn-ea"/>
            </a:endParaRPr>
          </a:p>
          <a:p>
            <a:pPr marL="0" indent="0">
              <a:spcBef>
                <a:spcPct val="0"/>
              </a:spcBef>
              <a:buNone/>
            </a:pPr>
            <a:r>
              <a:rPr lang="en-US" altLang="zh-CN" sz="2400" dirty="0">
                <a:solidFill>
                  <a:srgbClr val="000000"/>
                </a:solidFill>
                <a:sym typeface="+mn-ea"/>
              </a:rPr>
              <a:t>&lt;/style&gt;</a:t>
            </a:r>
            <a:endParaRPr lang="en-US" altLang="zh-CN" sz="2400" dirty="0">
              <a:solidFill>
                <a:srgbClr val="000000"/>
              </a:solidFill>
            </a:endParaRPr>
          </a:p>
          <a:p>
            <a:pPr marL="0" indent="0">
              <a:spcBef>
                <a:spcPct val="0"/>
              </a:spcBef>
              <a:buNone/>
            </a:pPr>
            <a:endParaRPr lang="en-US" altLang="zh-CN" sz="2400" dirty="0">
              <a:solidFill>
                <a:srgbClr val="000000"/>
              </a:solidFill>
            </a:endParaRPr>
          </a:p>
          <a:p>
            <a:pPr marL="0" indent="0">
              <a:spcBef>
                <a:spcPct val="0"/>
              </a:spcBef>
              <a:buNone/>
            </a:pPr>
            <a:r>
              <a:rPr lang="en-US" altLang="zh-CN" sz="2400" dirty="0">
                <a:solidFill>
                  <a:srgbClr val="000000"/>
                </a:solidFill>
              </a:rPr>
              <a:t>&lt;/head&gt;</a:t>
            </a:r>
            <a:r>
              <a:rPr lang="zh-CN" altLang="en-US" sz="2400" dirty="0">
                <a:solidFill>
                  <a:srgbClr val="000000"/>
                </a:solidFill>
              </a:rPr>
              <a:t>标签对之间。</a:t>
            </a:r>
            <a:endParaRPr lang="en-US" altLang="zh-CN" sz="2400" dirty="0">
              <a:solidFill>
                <a:srgbClr val="000000"/>
              </a:solidFill>
            </a:endParaRPr>
          </a:p>
          <a:p>
            <a:pPr marL="0" indent="0">
              <a:buNone/>
            </a:pPr>
            <a:endParaRPr lang="zh-CN" altLang="en-US" b="1" dirty="0">
              <a:solidFill>
                <a:srgbClr val="000000"/>
              </a:solidFill>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69634"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2.</a:t>
            </a:r>
            <a:r>
              <a:rPr lang="zh-CN" altLang="en-US" b="1" dirty="0">
                <a:solidFill>
                  <a:srgbClr val="000000"/>
                </a:solidFill>
              </a:rPr>
              <a:t> 样式表的使用</a:t>
            </a:r>
            <a:endParaRPr lang="en-US" altLang="zh-CN" b="1"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2</a:t>
            </a:r>
            <a:r>
              <a:rPr lang="zh-CN" altLang="en-US" sz="2800" dirty="0">
                <a:solidFill>
                  <a:srgbClr val="0000FF"/>
                </a:solidFill>
              </a:rPr>
              <a:t>）内嵌式：</a:t>
            </a:r>
            <a:endParaRPr lang="en-US" altLang="zh-CN" sz="2800" dirty="0">
              <a:solidFill>
                <a:srgbClr val="0000FF"/>
              </a:solidFill>
            </a:endParaRPr>
          </a:p>
          <a:p>
            <a:pPr marL="0" indent="0">
              <a:spcBef>
                <a:spcPct val="0"/>
              </a:spcBef>
              <a:buNone/>
            </a:pPr>
            <a:r>
              <a:rPr lang="zh-CN" altLang="en-US" sz="2400" dirty="0">
                <a:solidFill>
                  <a:srgbClr val="000000"/>
                </a:solidFill>
              </a:rPr>
              <a:t>例：</a:t>
            </a:r>
            <a:endParaRPr lang="en-US" altLang="zh-CN" sz="2400" dirty="0">
              <a:solidFill>
                <a:srgbClr val="000000"/>
              </a:solidFill>
            </a:endParaRPr>
          </a:p>
          <a:p>
            <a:pPr marL="0" indent="0">
              <a:spcBef>
                <a:spcPct val="0"/>
              </a:spcBef>
              <a:buNone/>
            </a:pPr>
            <a:r>
              <a:rPr lang="en-US" altLang="zh-CN" sz="2000" dirty="0">
                <a:solidFill>
                  <a:srgbClr val="000000"/>
                </a:solidFill>
              </a:rPr>
              <a:t>&lt;html&gt;</a:t>
            </a:r>
            <a:endParaRPr lang="en-US" altLang="zh-CN" sz="2000" dirty="0">
              <a:solidFill>
                <a:srgbClr val="000000"/>
              </a:solidFill>
            </a:endParaRPr>
          </a:p>
          <a:p>
            <a:pPr marL="0" indent="0">
              <a:spcBef>
                <a:spcPct val="0"/>
              </a:spcBef>
              <a:buNone/>
            </a:pPr>
            <a:r>
              <a:rPr lang="en-US" altLang="zh-CN" sz="2000" dirty="0">
                <a:solidFill>
                  <a:srgbClr val="000000"/>
                </a:solidFill>
              </a:rPr>
              <a:t>      &lt;head&gt; &lt;title&gt;</a:t>
            </a:r>
            <a:r>
              <a:rPr lang="zh-CN" altLang="en-US" sz="2000" dirty="0">
                <a:solidFill>
                  <a:srgbClr val="000000"/>
                </a:solidFill>
              </a:rPr>
              <a:t>页面标题</a:t>
            </a:r>
            <a:r>
              <a:rPr lang="en-US" altLang="zh-CN" sz="2000" dirty="0">
                <a:solidFill>
                  <a:srgbClr val="000000"/>
                </a:solidFill>
              </a:rPr>
              <a:t>&lt;/title&gt;</a:t>
            </a:r>
            <a:endParaRPr lang="en-US" altLang="zh-CN" sz="2000" dirty="0">
              <a:solidFill>
                <a:srgbClr val="000000"/>
              </a:solidFill>
            </a:endParaRPr>
          </a:p>
          <a:p>
            <a:pPr marL="0" indent="0">
              <a:spcBef>
                <a:spcPct val="0"/>
              </a:spcBef>
              <a:buNone/>
            </a:pPr>
            <a:r>
              <a:rPr lang="en-US" altLang="zh-CN" sz="2000" dirty="0">
                <a:solidFill>
                  <a:srgbClr val="000000"/>
                </a:solidFill>
              </a:rPr>
              <a:t>        &lt;style type="text/css"&gt;</a:t>
            </a:r>
            <a:endParaRPr lang="en-US" altLang="zh-CN" sz="2000" dirty="0">
              <a:solidFill>
                <a:srgbClr val="000000"/>
              </a:solidFill>
            </a:endParaRPr>
          </a:p>
          <a:p>
            <a:pPr marL="0" indent="0">
              <a:spcBef>
                <a:spcPct val="0"/>
              </a:spcBef>
              <a:buNone/>
            </a:pPr>
            <a:r>
              <a:rPr lang="en-US" altLang="zh-CN" sz="2000" dirty="0">
                <a:solidFill>
                  <a:srgbClr val="000000"/>
                </a:solidFill>
              </a:rPr>
              <a:t>           </a:t>
            </a:r>
            <a:r>
              <a:rPr lang="en-US" altLang="zh-CN" sz="2000" dirty="0">
                <a:solidFill>
                  <a:srgbClr val="FF0000"/>
                </a:solidFill>
              </a:rPr>
              <a:t>p{color:#0000FF;text-decoration:underline;font-weight:bold; </a:t>
            </a:r>
            <a:endParaRPr lang="en-US" altLang="zh-CN" sz="2000" dirty="0">
              <a:solidFill>
                <a:srgbClr val="FF0000"/>
              </a:solidFill>
            </a:endParaRPr>
          </a:p>
          <a:p>
            <a:pPr marL="0" indent="0">
              <a:spcBef>
                <a:spcPct val="0"/>
              </a:spcBef>
              <a:buNone/>
            </a:pPr>
            <a:r>
              <a:rPr lang="en-US" altLang="zh-CN" sz="2000" dirty="0">
                <a:solidFill>
                  <a:srgbClr val="FF0000"/>
                </a:solidFill>
              </a:rPr>
              <a:t>               font-size:25px;}</a:t>
            </a:r>
            <a:endParaRPr lang="en-US" altLang="zh-CN" sz="2000" dirty="0">
              <a:solidFill>
                <a:srgbClr val="FF0000"/>
              </a:solidFill>
            </a:endParaRPr>
          </a:p>
          <a:p>
            <a:pPr marL="0" indent="0">
              <a:spcBef>
                <a:spcPct val="0"/>
              </a:spcBef>
              <a:buNone/>
            </a:pPr>
            <a:r>
              <a:rPr lang="en-US" altLang="zh-CN" sz="2000" dirty="0">
                <a:solidFill>
                  <a:srgbClr val="FF0000"/>
                </a:solidFill>
              </a:rPr>
              <a:t>           .info{font-size:12px;color:red;}</a:t>
            </a:r>
            <a:endParaRPr lang="en-US" altLang="zh-CN" sz="2000" dirty="0">
              <a:solidFill>
                <a:srgbClr val="FF0000"/>
              </a:solidFill>
            </a:endParaRPr>
          </a:p>
          <a:p>
            <a:pPr marL="0" indent="0">
              <a:spcBef>
                <a:spcPct val="0"/>
              </a:spcBef>
              <a:buNone/>
            </a:pPr>
            <a:r>
              <a:rPr lang="en-US" altLang="zh-CN" sz="2000" dirty="0">
                <a:solidFill>
                  <a:srgbClr val="000000"/>
                </a:solidFill>
              </a:rPr>
              <a:t>        &lt;/style&gt;</a:t>
            </a:r>
            <a:endParaRPr lang="en-US" altLang="zh-CN" sz="2000" dirty="0">
              <a:solidFill>
                <a:srgbClr val="000000"/>
              </a:solidFill>
            </a:endParaRPr>
          </a:p>
          <a:p>
            <a:pPr marL="0" indent="0">
              <a:spcBef>
                <a:spcPct val="0"/>
              </a:spcBef>
              <a:buNone/>
            </a:pPr>
            <a:r>
              <a:rPr lang="en-US" altLang="zh-CN" sz="2000" dirty="0">
                <a:solidFill>
                  <a:srgbClr val="000000"/>
                </a:solidFill>
              </a:rPr>
              <a:t>      &lt;/head&gt;</a:t>
            </a:r>
            <a:endParaRPr lang="en-US" altLang="zh-CN" sz="2000" dirty="0">
              <a:solidFill>
                <a:srgbClr val="000000"/>
              </a:solidFill>
            </a:endParaRPr>
          </a:p>
          <a:p>
            <a:pPr marL="0" indent="0">
              <a:spcBef>
                <a:spcPct val="0"/>
              </a:spcBef>
              <a:buNone/>
            </a:pPr>
            <a:r>
              <a:rPr lang="en-US" altLang="zh-CN" sz="2000" dirty="0">
                <a:solidFill>
                  <a:srgbClr val="000000"/>
                </a:solidFill>
              </a:rPr>
              <a:t>      &lt;body&gt;</a:t>
            </a:r>
            <a:endParaRPr lang="en-US" altLang="zh-CN" sz="2000" dirty="0">
              <a:solidFill>
                <a:srgbClr val="000000"/>
              </a:solidFill>
            </a:endParaRPr>
          </a:p>
          <a:p>
            <a:pPr marL="0" indent="0">
              <a:spcBef>
                <a:spcPct val="0"/>
              </a:spcBef>
              <a:buNone/>
            </a:pPr>
            <a:r>
              <a:rPr lang="en-US" altLang="zh-CN" sz="2000" dirty="0">
                <a:solidFill>
                  <a:srgbClr val="000000"/>
                </a:solidFill>
              </a:rPr>
              <a:t>          &lt;p&gt;</a:t>
            </a:r>
            <a:r>
              <a:rPr lang="zh-CN" altLang="en-US" sz="2000" dirty="0">
                <a:solidFill>
                  <a:srgbClr val="000000"/>
                </a:solidFill>
              </a:rPr>
              <a:t>这是第</a:t>
            </a:r>
            <a:r>
              <a:rPr lang="en-US" altLang="zh-CN" sz="2000" dirty="0">
                <a:solidFill>
                  <a:srgbClr val="000000"/>
                </a:solidFill>
              </a:rPr>
              <a:t>1</a:t>
            </a:r>
            <a:r>
              <a:rPr lang="zh-CN" altLang="en-US" sz="2000" dirty="0">
                <a:solidFill>
                  <a:srgbClr val="000000"/>
                </a:solidFill>
              </a:rPr>
              <a:t>行正文内容</a:t>
            </a:r>
            <a:r>
              <a:rPr lang="en-US" altLang="zh-CN" sz="2000" dirty="0">
                <a:solidFill>
                  <a:srgbClr val="000000"/>
                </a:solidFill>
              </a:rPr>
              <a:t>……&lt;/p&gt;</a:t>
            </a:r>
            <a:endParaRPr lang="en-US" altLang="zh-CN" sz="2000" dirty="0">
              <a:solidFill>
                <a:srgbClr val="000000"/>
              </a:solidFill>
            </a:endParaRPr>
          </a:p>
          <a:p>
            <a:pPr marL="0" indent="0">
              <a:spcBef>
                <a:spcPct val="0"/>
              </a:spcBef>
              <a:buNone/>
            </a:pPr>
            <a:r>
              <a:rPr lang="en-US" altLang="zh-CN" sz="2000" dirty="0">
                <a:solidFill>
                  <a:srgbClr val="000000"/>
                </a:solidFill>
              </a:rPr>
              <a:t>          &lt;p class="info"&gt;</a:t>
            </a:r>
            <a:r>
              <a:rPr lang="zh-CN" altLang="en-US" sz="2000" dirty="0">
                <a:solidFill>
                  <a:srgbClr val="000000"/>
                </a:solidFill>
              </a:rPr>
              <a:t>这是第</a:t>
            </a:r>
            <a:r>
              <a:rPr lang="en-US" altLang="zh-CN" sz="2000" dirty="0">
                <a:solidFill>
                  <a:srgbClr val="000000"/>
                </a:solidFill>
              </a:rPr>
              <a:t>2</a:t>
            </a:r>
            <a:r>
              <a:rPr lang="zh-CN" altLang="en-US" sz="2000" dirty="0">
                <a:solidFill>
                  <a:srgbClr val="000000"/>
                </a:solidFill>
              </a:rPr>
              <a:t>行正文内容</a:t>
            </a:r>
            <a:r>
              <a:rPr lang="en-US" altLang="zh-CN" sz="2000" dirty="0">
                <a:solidFill>
                  <a:srgbClr val="000000"/>
                </a:solidFill>
              </a:rPr>
              <a:t>……&lt;/p&gt;</a:t>
            </a:r>
            <a:endParaRPr lang="en-US" altLang="zh-CN" sz="2000" dirty="0">
              <a:solidFill>
                <a:srgbClr val="000000"/>
              </a:solidFill>
            </a:endParaRPr>
          </a:p>
          <a:p>
            <a:pPr marL="0" indent="0">
              <a:spcBef>
                <a:spcPct val="0"/>
              </a:spcBef>
              <a:buNone/>
            </a:pPr>
            <a:r>
              <a:rPr lang="en-US" altLang="zh-CN" sz="2000" dirty="0">
                <a:solidFill>
                  <a:srgbClr val="000000"/>
                </a:solidFill>
              </a:rPr>
              <a:t>      &lt;/body&gt;</a:t>
            </a:r>
            <a:endParaRPr lang="en-US" altLang="zh-CN" sz="2000" dirty="0">
              <a:solidFill>
                <a:srgbClr val="000000"/>
              </a:solidFill>
            </a:endParaRPr>
          </a:p>
          <a:p>
            <a:pPr marL="0" indent="0">
              <a:spcBef>
                <a:spcPct val="0"/>
              </a:spcBef>
              <a:buNone/>
            </a:pPr>
            <a:r>
              <a:rPr lang="en-US" altLang="zh-CN" sz="2000" dirty="0">
                <a:solidFill>
                  <a:srgbClr val="000000"/>
                </a:solidFill>
              </a:rPr>
              <a:t>  &lt;/html&gt;</a:t>
            </a:r>
            <a:endParaRPr lang="en-US" altLang="zh-CN" sz="2000" dirty="0">
              <a:solidFill>
                <a:srgbClr val="000000"/>
              </a:solidFill>
            </a:endParaRPr>
          </a:p>
          <a:p>
            <a:pPr marL="0" indent="0">
              <a:buNone/>
            </a:pPr>
            <a:endParaRPr lang="zh-CN" altLang="en-US" b="1" dirty="0">
              <a:solidFill>
                <a:srgbClr val="000000"/>
              </a:solidFill>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7065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2.</a:t>
            </a:r>
            <a:r>
              <a:rPr lang="zh-CN" altLang="en-US" b="1" dirty="0">
                <a:solidFill>
                  <a:srgbClr val="000000"/>
                </a:solidFill>
              </a:rPr>
              <a:t> 样式表的使用</a:t>
            </a:r>
            <a:endParaRPr lang="en-US" altLang="zh-CN" b="1"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3</a:t>
            </a:r>
            <a:r>
              <a:rPr lang="zh-CN" altLang="en-US" sz="2800" dirty="0">
                <a:solidFill>
                  <a:srgbClr val="0000FF"/>
                </a:solidFill>
              </a:rPr>
              <a:t>）链接式：</a:t>
            </a:r>
            <a:endParaRPr lang="en-US" altLang="zh-CN" sz="2800" dirty="0">
              <a:solidFill>
                <a:srgbClr val="0000FF"/>
              </a:solidFill>
            </a:endParaRPr>
          </a:p>
          <a:p>
            <a:pPr marL="0" indent="0">
              <a:buNone/>
            </a:pPr>
            <a:r>
              <a:rPr lang="zh-CN" altLang="en-US" sz="2800" dirty="0">
                <a:solidFill>
                  <a:srgbClr val="000000"/>
                </a:solidFill>
              </a:rPr>
              <a:t>将定义好的</a:t>
            </a:r>
            <a:r>
              <a:rPr lang="en-US" altLang="zh-CN" sz="2800" dirty="0">
                <a:solidFill>
                  <a:srgbClr val="000000"/>
                </a:solidFill>
              </a:rPr>
              <a:t>CSS</a:t>
            </a:r>
            <a:r>
              <a:rPr lang="zh-CN" altLang="en-US" sz="2800" dirty="0">
                <a:solidFill>
                  <a:srgbClr val="000000"/>
                </a:solidFill>
              </a:rPr>
              <a:t>单独放到一个以</a:t>
            </a:r>
            <a:r>
              <a:rPr lang="en-US" altLang="zh-CN" sz="2800" dirty="0">
                <a:solidFill>
                  <a:srgbClr val="000000"/>
                </a:solidFill>
              </a:rPr>
              <a:t>.css</a:t>
            </a:r>
            <a:r>
              <a:rPr lang="zh-CN" altLang="en-US" sz="2800" dirty="0">
                <a:solidFill>
                  <a:srgbClr val="000000"/>
                </a:solidFill>
              </a:rPr>
              <a:t>为扩展名的文件中，再使用</a:t>
            </a:r>
            <a:r>
              <a:rPr lang="en-US" altLang="zh-CN" sz="2800" dirty="0">
                <a:solidFill>
                  <a:srgbClr val="000000"/>
                </a:solidFill>
              </a:rPr>
              <a:t>&lt;link&gt;</a:t>
            </a:r>
            <a:r>
              <a:rPr lang="zh-CN" altLang="en-US" sz="2800" dirty="0">
                <a:solidFill>
                  <a:srgbClr val="000000"/>
                </a:solidFill>
              </a:rPr>
              <a:t>标签链接到所需要使用的网页中，在</a:t>
            </a:r>
            <a:r>
              <a:rPr lang="en-US" altLang="zh-CN" sz="2800" dirty="0">
                <a:solidFill>
                  <a:srgbClr val="000000"/>
                </a:solidFill>
              </a:rPr>
              <a:t>&lt;head&gt;</a:t>
            </a:r>
            <a:r>
              <a:rPr lang="zh-CN" altLang="en-US" sz="2800" dirty="0">
                <a:solidFill>
                  <a:srgbClr val="000000"/>
                </a:solidFill>
              </a:rPr>
              <a:t>与</a:t>
            </a:r>
            <a:r>
              <a:rPr lang="en-US" altLang="zh-CN" sz="2800" dirty="0">
                <a:solidFill>
                  <a:srgbClr val="000000"/>
                </a:solidFill>
              </a:rPr>
              <a:t>&lt;/head&gt;</a:t>
            </a:r>
            <a:r>
              <a:rPr lang="zh-CN" altLang="en-US" sz="2800" dirty="0">
                <a:solidFill>
                  <a:srgbClr val="000000"/>
                </a:solidFill>
              </a:rPr>
              <a:t>之间。</a:t>
            </a:r>
            <a:endParaRPr lang="en-US" altLang="zh-CN" sz="2800" dirty="0">
              <a:solidFill>
                <a:srgbClr val="000000"/>
              </a:solidFill>
            </a:endParaRPr>
          </a:p>
          <a:p>
            <a:pPr marL="0" indent="0">
              <a:buNone/>
            </a:pPr>
            <a:endParaRPr lang="zh-CN" altLang="en-US" sz="2800" dirty="0">
              <a:solidFill>
                <a:srgbClr val="000000"/>
              </a:solidFill>
            </a:endParaRPr>
          </a:p>
          <a:p>
            <a:pPr marL="0" indent="0">
              <a:buNone/>
            </a:pPr>
            <a:r>
              <a:rPr lang="en-US" altLang="zh-CN" sz="2800" dirty="0">
                <a:solidFill>
                  <a:srgbClr val="000000"/>
                </a:solidFill>
              </a:rPr>
              <a:t>&lt;link&gt;</a:t>
            </a:r>
            <a:r>
              <a:rPr lang="zh-CN" altLang="en-US" sz="2800" dirty="0">
                <a:solidFill>
                  <a:srgbClr val="000000"/>
                </a:solidFill>
              </a:rPr>
              <a:t>标签链接到网页的格式：</a:t>
            </a:r>
            <a:endParaRPr lang="zh-CN" altLang="en-US" sz="2800" dirty="0">
              <a:solidFill>
                <a:srgbClr val="000000"/>
              </a:solidFill>
            </a:endParaRPr>
          </a:p>
          <a:p>
            <a:pPr marL="0" indent="0">
              <a:buNone/>
            </a:pPr>
            <a:r>
              <a:rPr lang="zh-CN" altLang="en-US" sz="2800" dirty="0">
                <a:solidFill>
                  <a:srgbClr val="000000"/>
                </a:solidFill>
              </a:rPr>
              <a:t>   </a:t>
            </a:r>
            <a:r>
              <a:rPr lang="en-US" altLang="zh-CN" sz="2800" dirty="0">
                <a:solidFill>
                  <a:srgbClr val="000000"/>
                </a:solidFill>
              </a:rPr>
              <a:t>&lt;link href="*.css</a:t>
            </a:r>
            <a:r>
              <a:rPr lang="zh-CN" altLang="en-US" sz="2800" dirty="0">
                <a:solidFill>
                  <a:srgbClr val="000000"/>
                </a:solidFill>
              </a:rPr>
              <a:t>文件路径</a:t>
            </a:r>
            <a:r>
              <a:rPr lang="en-US" altLang="zh-CN" sz="2800" dirty="0">
                <a:solidFill>
                  <a:srgbClr val="000000"/>
                </a:solidFill>
              </a:rPr>
              <a:t>"  type="text/css" </a:t>
            </a:r>
            <a:endParaRPr lang="en-US" altLang="zh-CN" sz="2800" dirty="0">
              <a:solidFill>
                <a:srgbClr val="000000"/>
              </a:solidFill>
            </a:endParaRPr>
          </a:p>
          <a:p>
            <a:pPr marL="0" indent="0">
              <a:buNone/>
            </a:pPr>
            <a:r>
              <a:rPr lang="en-US" altLang="zh-CN" sz="2800" dirty="0">
                <a:solidFill>
                  <a:srgbClr val="000000"/>
                </a:solidFill>
              </a:rPr>
              <a:t>           rel="stylesheet"&gt;</a:t>
            </a:r>
            <a:endParaRPr lang="en-US" altLang="zh-CN" sz="2800" dirty="0">
              <a:solidFill>
                <a:srgbClr val="000000"/>
              </a:solidFill>
            </a:endParaRPr>
          </a:p>
          <a:p>
            <a:pPr marL="0" indent="0">
              <a:buNone/>
            </a:pPr>
            <a:endParaRPr lang="zh-CN" altLang="en-US" b="1" dirty="0">
              <a:solidFill>
                <a:srgbClr val="000000"/>
              </a:solidFill>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7168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2.</a:t>
            </a:r>
            <a:r>
              <a:rPr lang="zh-CN" altLang="en-US" b="1" dirty="0">
                <a:solidFill>
                  <a:srgbClr val="000000"/>
                </a:solidFill>
              </a:rPr>
              <a:t> 样式表的使用</a:t>
            </a:r>
            <a:endParaRPr lang="en-US" altLang="zh-CN" b="1" dirty="0">
              <a:solidFill>
                <a:srgbClr val="000000"/>
              </a:solidFill>
            </a:endParaRPr>
          </a:p>
          <a:p>
            <a:pPr marL="0" indent="0">
              <a:buNone/>
            </a:pPr>
            <a:r>
              <a:rPr lang="zh-CN" altLang="en-US" sz="2800" dirty="0">
                <a:solidFill>
                  <a:srgbClr val="0000FF"/>
                </a:solidFill>
              </a:rPr>
              <a:t>（</a:t>
            </a:r>
            <a:r>
              <a:rPr lang="en-US" altLang="zh-CN" sz="2800" dirty="0">
                <a:solidFill>
                  <a:srgbClr val="0000FF"/>
                </a:solidFill>
              </a:rPr>
              <a:t>4</a:t>
            </a:r>
            <a:r>
              <a:rPr lang="zh-CN" altLang="en-US" sz="2800" dirty="0">
                <a:solidFill>
                  <a:srgbClr val="0000FF"/>
                </a:solidFill>
              </a:rPr>
              <a:t>）导入式：</a:t>
            </a:r>
            <a:endParaRPr lang="en-US" altLang="zh-CN" sz="2800" dirty="0">
              <a:solidFill>
                <a:srgbClr val="0000FF"/>
              </a:solidFill>
            </a:endParaRPr>
          </a:p>
          <a:p>
            <a:pPr marL="0" indent="0">
              <a:buNone/>
            </a:pPr>
            <a:r>
              <a:rPr lang="zh-CN" altLang="en-US" sz="2800" dirty="0">
                <a:solidFill>
                  <a:srgbClr val="000000"/>
                </a:solidFill>
              </a:rPr>
              <a:t>该方式与链接式方法类似，只是通过</a:t>
            </a:r>
            <a:r>
              <a:rPr lang="en-US" altLang="zh-CN" sz="2800" dirty="0">
                <a:solidFill>
                  <a:srgbClr val="000000"/>
                </a:solidFill>
              </a:rPr>
              <a:t>import</a:t>
            </a:r>
            <a:r>
              <a:rPr lang="zh-CN" altLang="en-US" sz="2800" dirty="0">
                <a:solidFill>
                  <a:srgbClr val="000000"/>
                </a:solidFill>
              </a:rPr>
              <a:t>导入到页面中。</a:t>
            </a:r>
            <a:endParaRPr lang="en-US" altLang="zh-CN" sz="2800" dirty="0">
              <a:solidFill>
                <a:srgbClr val="000000"/>
              </a:solidFill>
            </a:endParaRPr>
          </a:p>
          <a:p>
            <a:pPr marL="0" indent="0">
              <a:buNone/>
            </a:pPr>
            <a:endParaRPr lang="zh-CN" altLang="en-US" sz="2800" dirty="0">
              <a:solidFill>
                <a:srgbClr val="000000"/>
              </a:solidFill>
            </a:endParaRPr>
          </a:p>
          <a:p>
            <a:pPr marL="0" indent="0">
              <a:buNone/>
            </a:pPr>
            <a:r>
              <a:rPr lang="en-US" altLang="zh-CN" sz="2800" dirty="0">
                <a:solidFill>
                  <a:srgbClr val="000000"/>
                </a:solidFill>
              </a:rPr>
              <a:t>import</a:t>
            </a:r>
            <a:r>
              <a:rPr lang="zh-CN" altLang="en-US" sz="2800" dirty="0">
                <a:solidFill>
                  <a:srgbClr val="000000"/>
                </a:solidFill>
              </a:rPr>
              <a:t>导入格式为：</a:t>
            </a:r>
            <a:endParaRPr lang="zh-CN" altLang="en-US" sz="2800" dirty="0">
              <a:solidFill>
                <a:srgbClr val="000000"/>
              </a:solidFill>
            </a:endParaRPr>
          </a:p>
          <a:p>
            <a:pPr marL="0" indent="0">
              <a:buNone/>
            </a:pPr>
            <a:r>
              <a:rPr lang="zh-CN" altLang="en-US" sz="2800" dirty="0">
                <a:solidFill>
                  <a:srgbClr val="000000"/>
                </a:solidFill>
              </a:rPr>
              <a:t>     </a:t>
            </a:r>
            <a:r>
              <a:rPr lang="en-US" altLang="zh-CN" sz="2800" dirty="0">
                <a:solidFill>
                  <a:srgbClr val="000000"/>
                </a:solidFill>
              </a:rPr>
              <a:t>&lt;style type="text/css"&gt;</a:t>
            </a:r>
            <a:endParaRPr lang="en-US" altLang="zh-CN" sz="2800" dirty="0">
              <a:solidFill>
                <a:srgbClr val="000000"/>
              </a:solidFill>
            </a:endParaRPr>
          </a:p>
          <a:p>
            <a:pPr marL="0" indent="0">
              <a:buNone/>
            </a:pPr>
            <a:r>
              <a:rPr lang="en-US" altLang="zh-CN" sz="2800" dirty="0">
                <a:solidFill>
                  <a:srgbClr val="000000"/>
                </a:solidFill>
              </a:rPr>
              <a:t>               @import url(*.css</a:t>
            </a:r>
            <a:r>
              <a:rPr lang="zh-CN" altLang="en-US" sz="2800" dirty="0">
                <a:solidFill>
                  <a:srgbClr val="000000"/>
                </a:solidFill>
              </a:rPr>
              <a:t>文件路径</a:t>
            </a:r>
            <a:r>
              <a:rPr lang="en-US" altLang="zh-CN" sz="2800" dirty="0">
                <a:solidFill>
                  <a:srgbClr val="000000"/>
                </a:solidFill>
              </a:rPr>
              <a:t>); </a:t>
            </a:r>
            <a:endParaRPr lang="en-US" altLang="zh-CN" sz="2800" dirty="0">
              <a:solidFill>
                <a:srgbClr val="000000"/>
              </a:solidFill>
            </a:endParaRPr>
          </a:p>
          <a:p>
            <a:pPr marL="0" indent="0">
              <a:buNone/>
            </a:pPr>
            <a:r>
              <a:rPr lang="en-US" altLang="zh-CN" sz="2800" dirty="0">
                <a:solidFill>
                  <a:srgbClr val="000000"/>
                </a:solidFill>
              </a:rPr>
              <a:t>    &lt;/style&gt;</a:t>
            </a:r>
            <a:endParaRPr lang="en-US" altLang="zh-CN" sz="2800" dirty="0">
              <a:solidFill>
                <a:srgbClr val="000000"/>
              </a:solidFill>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2.2.1  CCS</a:t>
            </a:r>
            <a:r>
              <a:rPr lang="zh-CN" altLang="en-US" baseline="0" dirty="0">
                <a:latin typeface="Times New Roman" panose="02020603050405020304" pitchFamily="18" charset="0"/>
                <a:ea typeface="黑体" panose="02010609060101010101" pitchFamily="49" charset="-122"/>
                <a:cs typeface="+mj-cs"/>
              </a:rPr>
              <a:t>样式表的定义与使用</a:t>
            </a:r>
            <a:endParaRPr lang="zh-CN" altLang="en-US" baseline="0" dirty="0">
              <a:latin typeface="Times New Roman" panose="02020603050405020304" pitchFamily="18" charset="0"/>
              <a:ea typeface="黑体" panose="02010609060101010101" pitchFamily="49" charset="-122"/>
              <a:cs typeface="+mj-cs"/>
            </a:endParaRPr>
          </a:p>
        </p:txBody>
      </p:sp>
      <p:sp>
        <p:nvSpPr>
          <p:cNvPr id="7270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b="1" dirty="0">
                <a:solidFill>
                  <a:srgbClr val="000000"/>
                </a:solidFill>
              </a:rPr>
              <a:t>3.</a:t>
            </a:r>
            <a:r>
              <a:rPr lang="zh-CN" altLang="en-US" b="1" dirty="0">
                <a:solidFill>
                  <a:srgbClr val="000000"/>
                </a:solidFill>
              </a:rPr>
              <a:t> </a:t>
            </a:r>
            <a:r>
              <a:rPr lang="en-US" altLang="zh-CN" b="1" dirty="0">
                <a:solidFill>
                  <a:srgbClr val="000000"/>
                </a:solidFill>
              </a:rPr>
              <a:t>CSS</a:t>
            </a:r>
            <a:r>
              <a:rPr lang="zh-CN" altLang="en-US" b="1" dirty="0">
                <a:solidFill>
                  <a:srgbClr val="000000"/>
                </a:solidFill>
              </a:rPr>
              <a:t>样式表的继承性</a:t>
            </a:r>
            <a:endParaRPr lang="en-US" altLang="zh-CN" sz="2800" dirty="0">
              <a:solidFill>
                <a:srgbClr val="0000FF"/>
              </a:solidFill>
            </a:endParaRPr>
          </a:p>
          <a:p>
            <a:pPr marL="0" indent="0">
              <a:buNone/>
            </a:pPr>
            <a:r>
              <a:rPr lang="en-US" altLang="zh-CN" sz="2800" dirty="0">
                <a:solidFill>
                  <a:srgbClr val="000000"/>
                </a:solidFill>
              </a:rPr>
              <a:t>CSS</a:t>
            </a:r>
            <a:r>
              <a:rPr lang="zh-CN" altLang="en-US" sz="2800" dirty="0">
                <a:solidFill>
                  <a:srgbClr val="000000"/>
                </a:solidFill>
              </a:rPr>
              <a:t>是级联样式表，级联是指继承性，即在标签中嵌套的标签继承外层标签的样式。</a:t>
            </a:r>
            <a:endParaRPr lang="en-US" altLang="zh-CN" sz="2800" dirty="0">
              <a:solidFill>
                <a:srgbClr val="000000"/>
              </a:solidFill>
            </a:endParaRPr>
          </a:p>
          <a:p>
            <a:pPr marL="0" indent="0">
              <a:buNone/>
            </a:pPr>
            <a:r>
              <a:rPr lang="zh-CN" altLang="en-US" sz="2800" dirty="0">
                <a:solidFill>
                  <a:srgbClr val="0000FF"/>
                </a:solidFill>
              </a:rPr>
              <a:t>导入式样式表</a:t>
            </a:r>
            <a:r>
              <a:rPr lang="en-US" altLang="zh-CN" sz="2800" dirty="0">
                <a:solidFill>
                  <a:srgbClr val="000000"/>
                </a:solidFill>
              </a:rPr>
              <a:t>&gt;</a:t>
            </a:r>
            <a:r>
              <a:rPr lang="zh-CN" altLang="en-US" sz="2800" dirty="0">
                <a:solidFill>
                  <a:srgbClr val="0000FF"/>
                </a:solidFill>
              </a:rPr>
              <a:t>内嵌式样式表</a:t>
            </a:r>
            <a:r>
              <a:rPr lang="en-US" altLang="zh-CN" sz="2800" dirty="0">
                <a:solidFill>
                  <a:srgbClr val="000000"/>
                </a:solidFill>
              </a:rPr>
              <a:t>&gt;</a:t>
            </a:r>
            <a:r>
              <a:rPr lang="zh-CN" altLang="en-US" sz="2800" dirty="0">
                <a:solidFill>
                  <a:srgbClr val="0000FF"/>
                </a:solidFill>
              </a:rPr>
              <a:t>链接式样式表</a:t>
            </a:r>
            <a:r>
              <a:rPr lang="en-US" altLang="zh-CN" sz="2800" dirty="0">
                <a:solidFill>
                  <a:srgbClr val="000000"/>
                </a:solidFill>
              </a:rPr>
              <a:t>&gt;</a:t>
            </a:r>
            <a:r>
              <a:rPr lang="zh-CN" altLang="en-US" sz="2800" dirty="0">
                <a:solidFill>
                  <a:srgbClr val="0000FF"/>
                </a:solidFill>
              </a:rPr>
              <a:t>浏览器默认</a:t>
            </a:r>
            <a:r>
              <a:rPr lang="en-US" altLang="zh-CN" sz="2800" dirty="0">
                <a:solidFill>
                  <a:srgbClr val="000000"/>
                </a:solidFill>
              </a:rPr>
              <a:t>&gt;</a:t>
            </a:r>
            <a:r>
              <a:rPr lang="zh-CN" altLang="en-US" sz="2800" dirty="0">
                <a:solidFill>
                  <a:srgbClr val="0000FF"/>
                </a:solidFill>
              </a:rPr>
              <a:t>行内式样式表</a:t>
            </a:r>
            <a:endParaRPr lang="en-US" altLang="zh-CN" sz="2800" dirty="0">
              <a:solidFill>
                <a:srgbClr val="0000FF"/>
              </a:solidFill>
            </a:endParaRPr>
          </a:p>
          <a:p>
            <a:pPr marL="0" indent="0">
              <a:buNone/>
            </a:pPr>
            <a:r>
              <a:rPr lang="en-US" altLang="zh-CN" sz="1800" dirty="0"/>
              <a:t>&lt;head&gt;</a:t>
            </a:r>
            <a:endParaRPr lang="en-US" altLang="zh-CN" sz="1800" dirty="0"/>
          </a:p>
          <a:p>
            <a:pPr marL="0" indent="0">
              <a:buNone/>
            </a:pPr>
            <a:r>
              <a:rPr lang="en-US" altLang="zh-CN" sz="1800" dirty="0"/>
              <a:t>&lt;style type=“text/css”&gt;</a:t>
            </a:r>
            <a:endParaRPr lang="en-US" altLang="zh-CN" sz="1800" dirty="0"/>
          </a:p>
          <a:p>
            <a:pPr marL="0" indent="0">
              <a:buNone/>
            </a:pPr>
            <a:r>
              <a:rPr lang="en-US" altLang="zh-CN" sz="1800" dirty="0"/>
              <a:t>p{color:red;font-size:25px}</a:t>
            </a:r>
            <a:endParaRPr lang="en-US" altLang="zh-CN" sz="1800" dirty="0"/>
          </a:p>
          <a:p>
            <a:pPr marL="0" indent="0">
              <a:buNone/>
            </a:pPr>
            <a:r>
              <a:rPr lang="en-US" altLang="zh-CN" sz="1800" dirty="0"/>
              <a:t>&lt;/style&gt;</a:t>
            </a:r>
            <a:endParaRPr lang="en-US" altLang="zh-CN" sz="1800" dirty="0"/>
          </a:p>
          <a:p>
            <a:pPr marL="0" indent="0">
              <a:buNone/>
            </a:pPr>
            <a:r>
              <a:rPr lang="en-US" altLang="zh-CN" sz="1800" dirty="0"/>
              <a:t>&lt;/head&gt;</a:t>
            </a:r>
            <a:endParaRPr lang="en-US" altLang="zh-CN" sz="1800" dirty="0"/>
          </a:p>
          <a:p>
            <a:pPr marL="0" indent="0">
              <a:buNone/>
            </a:pPr>
            <a:r>
              <a:rPr lang="en-US" altLang="zh-CN" sz="1800" dirty="0"/>
              <a:t>&lt;body&gt;</a:t>
            </a:r>
            <a:endParaRPr lang="en-US" altLang="zh-CN" sz="1800" dirty="0"/>
          </a:p>
          <a:p>
            <a:pPr marL="0" indent="0">
              <a:buNone/>
            </a:pPr>
            <a:r>
              <a:rPr lang="en-US" altLang="zh-CN" sz="1800" dirty="0"/>
              <a:t>	&lt;p&gt;</a:t>
            </a:r>
            <a:r>
              <a:rPr lang="zh-CN" altLang="en-US" sz="1800" dirty="0"/>
              <a:t>这是第</a:t>
            </a:r>
            <a:r>
              <a:rPr lang="en-US" altLang="zh-CN" sz="1800" dirty="0"/>
              <a:t>1</a:t>
            </a:r>
            <a:r>
              <a:rPr lang="zh-CN" altLang="en-US" sz="1800" dirty="0"/>
              <a:t>行正文内容</a:t>
            </a:r>
            <a:r>
              <a:rPr lang="en-US" altLang="zh-CN" sz="1800" dirty="0"/>
              <a:t>&lt;/p&gt; </a:t>
            </a:r>
            <a:endParaRPr lang="en-US" altLang="zh-CN" sz="1800" dirty="0"/>
          </a:p>
          <a:p>
            <a:pPr marL="0" indent="0">
              <a:buNone/>
            </a:pPr>
            <a:r>
              <a:rPr lang="en-US" altLang="zh-CN" sz="1800" dirty="0"/>
              <a:t>	&lt;p style=“color:blue;”&gt;</a:t>
            </a:r>
            <a:r>
              <a:rPr lang="zh-CN" altLang="en-US" sz="1800" dirty="0"/>
              <a:t>正文内容</a:t>
            </a:r>
            <a:r>
              <a:rPr lang="en-US" altLang="zh-CN" sz="1800" dirty="0"/>
              <a:t>1&lt;/p&gt;</a:t>
            </a:r>
            <a:endParaRPr lang="en-US" altLang="zh-CN" sz="1800" dirty="0"/>
          </a:p>
          <a:p>
            <a:pPr marL="0" indent="0">
              <a:buNone/>
            </a:pPr>
            <a:r>
              <a:rPr lang="en-US" altLang="zh-CN" sz="1800" dirty="0"/>
              <a:t>&lt;/body&gt;</a:t>
            </a:r>
            <a:endParaRPr lang="en-US" altLang="zh-CN" sz="1800" dirty="0"/>
          </a:p>
          <a:p>
            <a:pPr marL="0" indent="0">
              <a:buNone/>
            </a:pPr>
            <a:endParaRPr lang="zh-CN" altLang="en-US" sz="2800" dirty="0">
              <a:solidFill>
                <a:srgbClr val="0000FF"/>
              </a:solidFill>
            </a:endParaRPr>
          </a:p>
        </p:txBody>
      </p:sp>
      <p:sp>
        <p:nvSpPr>
          <p:cNvPr id="2" name="对话气泡: 圆角矩形 1"/>
          <p:cNvSpPr/>
          <p:nvPr/>
        </p:nvSpPr>
        <p:spPr>
          <a:xfrm>
            <a:off x="3995738" y="3933825"/>
            <a:ext cx="2663825" cy="1079500"/>
          </a:xfrm>
          <a:prstGeom prst="wedgeRoundRectCallout">
            <a:avLst>
              <a:gd name="adj1" fmla="val -52696"/>
              <a:gd name="adj2" fmla="val 1079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en-US" sz="1800" b="0" i="0" u="none" strike="noStrike" kern="1200" cap="none" spc="0" normalizeH="0" baseline="0" noProof="1" dirty="0">
                <a:solidFill>
                  <a:schemeClr val="tx1"/>
                </a:solidFill>
                <a:latin typeface="+mn-lt"/>
                <a:ea typeface="+mn-ea"/>
                <a:cs typeface="+mn-cs"/>
              </a:rPr>
              <a:t>这一行按选择器规定的样式显示：按红色、</a:t>
            </a:r>
            <a:r>
              <a:rPr kumimoji="0" lang="en-US" altLang="zh-CN" sz="1800" b="0" i="0" u="none" strike="noStrike" kern="1200" cap="none" spc="0" normalizeH="0" baseline="0" noProof="1" dirty="0">
                <a:solidFill>
                  <a:schemeClr val="tx1"/>
                </a:solidFill>
                <a:latin typeface="+mn-lt"/>
                <a:ea typeface="+mn-ea"/>
                <a:cs typeface="+mn-cs"/>
              </a:rPr>
              <a:t>25px</a:t>
            </a:r>
            <a:r>
              <a:rPr kumimoji="0" lang="zh-CN" altLang="en-US" sz="1800" b="0" i="0" u="none" strike="noStrike" kern="1200" cap="none" spc="0" normalizeH="0" baseline="0" noProof="1" dirty="0">
                <a:solidFill>
                  <a:schemeClr val="tx1"/>
                </a:solidFill>
                <a:latin typeface="+mn-lt"/>
                <a:ea typeface="+mn-ea"/>
                <a:cs typeface="+mn-cs"/>
              </a:rPr>
              <a:t>显示内容</a:t>
            </a:r>
            <a:endParaRPr kumimoji="0" lang="zh-CN" altLang="en-US" sz="1800" b="0" i="0" u="none" strike="noStrike" kern="1200" cap="none" spc="0" normalizeH="0" baseline="0" noProof="1" dirty="0">
              <a:solidFill>
                <a:schemeClr val="tx1"/>
              </a:solidFill>
              <a:latin typeface="+mn-lt"/>
              <a:ea typeface="+mn-ea"/>
              <a:cs typeface="+mn-cs"/>
            </a:endParaRPr>
          </a:p>
        </p:txBody>
      </p:sp>
      <p:sp>
        <p:nvSpPr>
          <p:cNvPr id="5" name="对话气泡: 圆角矩形 4"/>
          <p:cNvSpPr/>
          <p:nvPr/>
        </p:nvSpPr>
        <p:spPr>
          <a:xfrm>
            <a:off x="5508625" y="5300663"/>
            <a:ext cx="2663825" cy="1081088"/>
          </a:xfrm>
          <a:prstGeom prst="wedgeRoundRectCallout">
            <a:avLst>
              <a:gd name="adj1" fmla="val -72243"/>
              <a:gd name="adj2" fmla="val 1827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marR="0" lvl="0" indent="0" algn="just" defTabSz="914400" rtl="0" eaLnBrk="0" fontAlgn="base" latinLnBrk="0" hangingPunct="0">
              <a:lnSpc>
                <a:spcPct val="100000"/>
              </a:lnSpc>
              <a:spcBef>
                <a:spcPct val="0"/>
              </a:spcBef>
              <a:spcAft>
                <a:spcPct val="0"/>
              </a:spcAft>
              <a:buClrTx/>
              <a:buSzTx/>
              <a:buFontTx/>
              <a:buNone/>
            </a:pPr>
            <a:r>
              <a:rPr kumimoji="0" lang="zh-CN" altLang="en-US" sz="1800" b="0" i="0" u="none" strike="noStrike" kern="1200" cap="none" spc="0" normalizeH="0" baseline="0" noProof="1" dirty="0">
                <a:solidFill>
                  <a:schemeClr val="tx1"/>
                </a:solidFill>
                <a:latin typeface="+mn-lt"/>
                <a:ea typeface="+mn-ea"/>
                <a:cs typeface="+mn-cs"/>
              </a:rPr>
              <a:t>这一行按标签内的样式显示：按蓝色，但字体大小仍按</a:t>
            </a:r>
            <a:r>
              <a:rPr kumimoji="0" lang="en-US" altLang="zh-CN" sz="1800" b="0" i="0" u="none" strike="noStrike" kern="1200" cap="none" spc="0" normalizeH="0" baseline="0" noProof="1" dirty="0">
                <a:solidFill>
                  <a:schemeClr val="tx1"/>
                </a:solidFill>
                <a:latin typeface="+mn-lt"/>
                <a:ea typeface="+mn-ea"/>
                <a:cs typeface="+mn-cs"/>
              </a:rPr>
              <a:t>25px</a:t>
            </a:r>
            <a:r>
              <a:rPr kumimoji="0" lang="zh-CN" altLang="en-US" sz="1800" b="0" i="0" u="none" strike="noStrike" kern="1200" cap="none" spc="0" normalizeH="0" baseline="0" noProof="1" dirty="0">
                <a:solidFill>
                  <a:schemeClr val="tx1"/>
                </a:solidFill>
                <a:latin typeface="+mn-lt"/>
                <a:ea typeface="+mn-ea"/>
                <a:cs typeface="+mn-cs"/>
              </a:rPr>
              <a:t>显示</a:t>
            </a:r>
            <a:endParaRPr kumimoji="0" lang="zh-CN" altLang="en-US" sz="1800" b="0" i="0" u="none" strike="noStrike" kern="1200" cap="none" spc="0" normalizeH="0" baseline="0" noProof="1" dirty="0">
              <a:solidFill>
                <a:schemeClr val="tx1"/>
              </a:solidFill>
              <a:latin typeface="+mn-lt"/>
              <a:ea typeface="+mn-ea"/>
              <a:cs typeface="+mn-cs"/>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2.2.2  CSS</a:t>
            </a:r>
            <a:r>
              <a:rPr lang="zh-CN" altLang="en-US" baseline="0" dirty="0">
                <a:latin typeface="Times New Roman" panose="02020603050405020304" pitchFamily="18" charset="0"/>
                <a:ea typeface="黑体" panose="02010609060101010101" pitchFamily="49" charset="-122"/>
                <a:cs typeface="+mj-cs"/>
              </a:rPr>
              <a:t>常用属性</a:t>
            </a:r>
            <a:endParaRPr lang="zh-CN" altLang="en-US" baseline="0" dirty="0">
              <a:latin typeface="Times New Roman" panose="02020603050405020304" pitchFamily="18" charset="0"/>
              <a:ea typeface="黑体" panose="02010609060101010101" pitchFamily="49" charset="-122"/>
              <a:cs typeface="+mj-cs"/>
            </a:endParaRPr>
          </a:p>
        </p:txBody>
      </p:sp>
      <p:sp>
        <p:nvSpPr>
          <p:cNvPr id="73730" name="内容占位符 2"/>
          <p:cNvSpPr>
            <a:spLocks noGrp="1"/>
          </p:cNvSpPr>
          <p:nvPr>
            <p:ph idx="1"/>
          </p:nvPr>
        </p:nvSpPr>
        <p:spPr>
          <a:xfrm>
            <a:off x="107950" y="1125538"/>
            <a:ext cx="8928100" cy="1582737"/>
          </a:xfrm>
        </p:spPr>
        <p:txBody>
          <a:bodyPr vert="horz" wrap="square" lIns="91440" tIns="45720" rIns="91440" bIns="45720" anchor="t" anchorCtr="0"/>
          <a:p>
            <a:pPr marL="0" indent="0">
              <a:buNone/>
            </a:pPr>
            <a:r>
              <a:rPr lang="zh-CN" altLang="en-US" sz="2800" dirty="0">
                <a:solidFill>
                  <a:srgbClr val="000000"/>
                </a:solidFill>
              </a:rPr>
              <a:t>主要有字体属性、颜色属性、背景属性、文本段落属性等。</a:t>
            </a:r>
            <a:endParaRPr lang="en-US" altLang="zh-CN" sz="2800" dirty="0">
              <a:solidFill>
                <a:srgbClr val="000000"/>
              </a:solidFill>
            </a:endParaRPr>
          </a:p>
          <a:p>
            <a:pPr marL="0" indent="0">
              <a:spcBef>
                <a:spcPct val="0"/>
              </a:spcBef>
              <a:buNone/>
            </a:pPr>
            <a:r>
              <a:rPr lang="en-US" altLang="zh-CN" sz="2800" b="1" dirty="0">
                <a:solidFill>
                  <a:srgbClr val="000000"/>
                </a:solidFill>
              </a:rPr>
              <a:t>1. </a:t>
            </a:r>
            <a:r>
              <a:rPr lang="zh-CN" altLang="en-US" sz="2800" b="1" dirty="0">
                <a:solidFill>
                  <a:srgbClr val="000000"/>
                </a:solidFill>
              </a:rPr>
              <a:t>字体属性</a:t>
            </a:r>
            <a:endParaRPr lang="zh-CN" altLang="en-US" sz="2800" b="1" dirty="0">
              <a:solidFill>
                <a:srgbClr val="000000"/>
              </a:solidFill>
            </a:endParaRPr>
          </a:p>
        </p:txBody>
      </p:sp>
      <p:graphicFrame>
        <p:nvGraphicFramePr>
          <p:cNvPr id="74756" name="表格 74755"/>
          <p:cNvGraphicFramePr/>
          <p:nvPr/>
        </p:nvGraphicFramePr>
        <p:xfrm>
          <a:off x="323850" y="2968625"/>
          <a:ext cx="8496300" cy="3455988"/>
        </p:xfrm>
        <a:graphic>
          <a:graphicData uri="http://schemas.openxmlformats.org/drawingml/2006/table">
            <a:tbl>
              <a:tblPr/>
              <a:tblGrid>
                <a:gridCol w="1265238"/>
                <a:gridCol w="1789112"/>
                <a:gridCol w="5441950"/>
              </a:tblGrid>
              <a:tr h="4937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属性名</a:t>
                      </a:r>
                      <a:endParaRPr lang="zh-CN" altLang="zh-CN" sz="1600" dirty="0">
                        <a:solidFill>
                          <a:srgbClr val="000000"/>
                        </a:solidFill>
                        <a:latin typeface="Times New Roman" panose="02020603050405020304" pitchFamily="18" charset="0"/>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属性含义</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0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属性值</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37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font-family</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字体</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0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取值（如“宋体”）</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37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font-size:</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字体大小（字号）</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0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取值单位：</a:t>
                      </a:r>
                      <a:r>
                        <a:rPr lang="en-US" altLang="zh-CN" sz="1600" dirty="0">
                          <a:solidFill>
                            <a:srgbClr val="000000"/>
                          </a:solidFill>
                          <a:latin typeface="Arial" panose="020B0604020202020204" pitchFamily="34" charset="0"/>
                          <a:ea typeface="黑体" panose="02010609060101010101" pitchFamily="49" charset="-122"/>
                        </a:rPr>
                        <a:t>pt</a:t>
                      </a:r>
                      <a:r>
                        <a:rPr lang="zh-CN" altLang="zh-CN" sz="1600" dirty="0">
                          <a:solidFill>
                            <a:srgbClr val="000000"/>
                          </a:solidFill>
                          <a:latin typeface="Arial" panose="020B0604020202020204" pitchFamily="34" charset="0"/>
                          <a:ea typeface="黑体" panose="02010609060101010101" pitchFamily="49" charset="-122"/>
                        </a:rPr>
                        <a:t>（点数），例“</a:t>
                      </a:r>
                      <a:r>
                        <a:rPr lang="en-US" altLang="zh-CN" sz="1600" dirty="0">
                          <a:solidFill>
                            <a:srgbClr val="000000"/>
                          </a:solidFill>
                          <a:latin typeface="Arial" panose="020B0604020202020204" pitchFamily="34" charset="0"/>
                          <a:ea typeface="黑体" panose="02010609060101010101" pitchFamily="49" charset="-122"/>
                        </a:rPr>
                        <a:t>12pt</a:t>
                      </a:r>
                      <a:r>
                        <a:rPr lang="zh-CN" altLang="zh-CN" sz="1600" dirty="0">
                          <a:solidFill>
                            <a:srgbClr val="000000"/>
                          </a:solidFill>
                          <a:latin typeface="Arial" panose="020B0604020202020204" pitchFamily="34" charset="0"/>
                          <a:ea typeface="黑体" panose="02010609060101010101" pitchFamily="49" charset="-122"/>
                        </a:rPr>
                        <a:t>”</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37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font-style</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字体风格</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0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normal</a:t>
                      </a:r>
                      <a:r>
                        <a:rPr lang="zh-CN" altLang="zh-CN" sz="1600" dirty="0">
                          <a:solidFill>
                            <a:srgbClr val="000000"/>
                          </a:solidFill>
                          <a:latin typeface="Arial" panose="020B0604020202020204" pitchFamily="34" charset="0"/>
                          <a:ea typeface="黑体" panose="02010609060101010101" pitchFamily="49" charset="-122"/>
                        </a:rPr>
                        <a:t>（普通，默认值），</a:t>
                      </a:r>
                      <a:r>
                        <a:rPr lang="en-US" altLang="zh-CN" sz="1600" dirty="0">
                          <a:solidFill>
                            <a:srgbClr val="000000"/>
                          </a:solidFill>
                          <a:latin typeface="Arial" panose="020B0604020202020204" pitchFamily="34" charset="0"/>
                          <a:ea typeface="黑体" panose="02010609060101010101" pitchFamily="49" charset="-122"/>
                        </a:rPr>
                        <a:t>italic</a:t>
                      </a:r>
                      <a:r>
                        <a:rPr lang="zh-CN" altLang="zh-CN" sz="1600" dirty="0">
                          <a:solidFill>
                            <a:srgbClr val="000000"/>
                          </a:solidFill>
                          <a:latin typeface="Arial" panose="020B0604020202020204" pitchFamily="34" charset="0"/>
                          <a:ea typeface="黑体" panose="02010609060101010101" pitchFamily="49" charset="-122"/>
                        </a:rPr>
                        <a:t>斜体，</a:t>
                      </a:r>
                      <a:r>
                        <a:rPr lang="en-US" altLang="zh-CN" sz="1600" dirty="0">
                          <a:solidFill>
                            <a:srgbClr val="000000"/>
                          </a:solidFill>
                          <a:latin typeface="Arial" panose="020B0604020202020204" pitchFamily="34" charset="0"/>
                          <a:ea typeface="黑体" panose="02010609060101010101" pitchFamily="49" charset="-122"/>
                        </a:rPr>
                        <a:t>oblique</a:t>
                      </a:r>
                      <a:r>
                        <a:rPr lang="zh-CN" altLang="zh-CN" sz="1600" dirty="0">
                          <a:solidFill>
                            <a:srgbClr val="000000"/>
                          </a:solidFill>
                          <a:latin typeface="Arial" panose="020B0604020202020204" pitchFamily="34" charset="0"/>
                          <a:ea typeface="黑体" panose="02010609060101010101" pitchFamily="49" charset="-122"/>
                        </a:rPr>
                        <a:t>中间状态</a:t>
                      </a:r>
                      <a:endParaRPr lang="zh-CN" altLang="zh-CN" sz="1600" dirty="0">
                        <a:solidFill>
                          <a:srgbClr val="000000"/>
                        </a:solidFill>
                        <a:latin typeface="Times New Roman" panose="02020603050405020304" pitchFamily="18" charset="0"/>
                        <a:ea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9874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font-weight</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字体加粗</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0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normal</a:t>
                      </a:r>
                      <a:r>
                        <a:rPr lang="zh-CN" altLang="zh-CN" sz="1600" dirty="0">
                          <a:solidFill>
                            <a:srgbClr val="000000"/>
                          </a:solidFill>
                          <a:latin typeface="Arial" panose="020B0604020202020204" pitchFamily="34" charset="0"/>
                          <a:ea typeface="黑体" panose="02010609060101010101" pitchFamily="49" charset="-122"/>
                        </a:rPr>
                        <a:t>（普通，默认值），</a:t>
                      </a:r>
                      <a:r>
                        <a:rPr lang="en-US" altLang="zh-CN" sz="1600" dirty="0">
                          <a:solidFill>
                            <a:srgbClr val="000000"/>
                          </a:solidFill>
                          <a:latin typeface="Arial" panose="020B0604020202020204" pitchFamily="34" charset="0"/>
                          <a:ea typeface="黑体" panose="02010609060101010101" pitchFamily="49" charset="-122"/>
                        </a:rPr>
                        <a:t>bold</a:t>
                      </a:r>
                      <a:r>
                        <a:rPr lang="zh-CN" altLang="zh-CN" sz="1600" dirty="0">
                          <a:solidFill>
                            <a:srgbClr val="000000"/>
                          </a:solidFill>
                          <a:latin typeface="Arial" panose="020B0604020202020204" pitchFamily="34" charset="0"/>
                          <a:ea typeface="黑体" panose="02010609060101010101" pitchFamily="49" charset="-122"/>
                        </a:rPr>
                        <a:t>（一般加粗），</a:t>
                      </a:r>
                      <a:r>
                        <a:rPr lang="en-US" altLang="zh-CN" sz="1600" dirty="0">
                          <a:solidFill>
                            <a:srgbClr val="000000"/>
                          </a:solidFill>
                          <a:latin typeface="Arial" panose="020B0604020202020204" pitchFamily="34" charset="0"/>
                          <a:ea typeface="黑体" panose="02010609060101010101" pitchFamily="49" charset="-122"/>
                        </a:rPr>
                        <a:t>bolder</a:t>
                      </a:r>
                      <a:r>
                        <a:rPr lang="zh-CN" altLang="zh-CN" sz="1600" dirty="0">
                          <a:solidFill>
                            <a:srgbClr val="000000"/>
                          </a:solidFill>
                          <a:latin typeface="Arial" panose="020B0604020202020204" pitchFamily="34" charset="0"/>
                          <a:ea typeface="黑体" panose="02010609060101010101" pitchFamily="49" charset="-122"/>
                        </a:rPr>
                        <a:t>（重加粗），</a:t>
                      </a:r>
                      <a:r>
                        <a:rPr lang="en-US" altLang="zh-CN" sz="1600" dirty="0">
                          <a:solidFill>
                            <a:srgbClr val="000000"/>
                          </a:solidFill>
                          <a:latin typeface="Arial" panose="020B0604020202020204" pitchFamily="34" charset="0"/>
                          <a:ea typeface="黑体" panose="02010609060101010101" pitchFamily="49" charset="-122"/>
                        </a:rPr>
                        <a:t>lighter</a:t>
                      </a:r>
                      <a:r>
                        <a:rPr lang="zh-CN" altLang="zh-CN" sz="1600" dirty="0">
                          <a:solidFill>
                            <a:srgbClr val="000000"/>
                          </a:solidFill>
                          <a:latin typeface="Arial" panose="020B0604020202020204" pitchFamily="34" charset="0"/>
                          <a:ea typeface="黑体" panose="02010609060101010101" pitchFamily="49" charset="-122"/>
                        </a:rPr>
                        <a:t>（轻加粗），</a:t>
                      </a:r>
                      <a:r>
                        <a:rPr lang="en-US" altLang="zh-CN" sz="1600" dirty="0">
                          <a:solidFill>
                            <a:srgbClr val="000000"/>
                          </a:solidFill>
                          <a:latin typeface="Arial" panose="020B0604020202020204" pitchFamily="34" charset="0"/>
                          <a:ea typeface="黑体" panose="02010609060101010101" pitchFamily="49" charset="-122"/>
                        </a:rPr>
                        <a:t>number:100-900</a:t>
                      </a:r>
                      <a:r>
                        <a:rPr lang="zh-CN" altLang="zh-CN" sz="1600" dirty="0">
                          <a:solidFill>
                            <a:srgbClr val="000000"/>
                          </a:solidFill>
                          <a:latin typeface="Arial" panose="020B0604020202020204" pitchFamily="34" charset="0"/>
                          <a:ea typeface="黑体" panose="02010609060101010101" pitchFamily="49" charset="-122"/>
                        </a:rPr>
                        <a:t>之间的加粗</a:t>
                      </a:r>
                      <a:endParaRPr lang="zh-CN" altLang="zh-CN" sz="1600" dirty="0">
                        <a:solidFill>
                          <a:srgbClr val="000000"/>
                        </a:solidFill>
                        <a:latin typeface="Times New Roman" panose="02020603050405020304" pitchFamily="18" charset="0"/>
                        <a:ea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37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font</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5" marR="6857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字体复合属性</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0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用来简化</a:t>
                      </a:r>
                      <a:r>
                        <a:rPr lang="en-US" altLang="zh-CN" sz="1600" dirty="0">
                          <a:solidFill>
                            <a:srgbClr val="000000"/>
                          </a:solidFill>
                          <a:latin typeface="Arial" panose="020B0604020202020204" pitchFamily="34" charset="0"/>
                          <a:ea typeface="黑体" panose="02010609060101010101" pitchFamily="49" charset="-122"/>
                        </a:rPr>
                        <a:t>css</a:t>
                      </a:r>
                      <a:r>
                        <a:rPr lang="zh-CN" altLang="zh-CN" sz="1600" dirty="0">
                          <a:solidFill>
                            <a:srgbClr val="000000"/>
                          </a:solidFill>
                          <a:latin typeface="Arial" panose="020B0604020202020204" pitchFamily="34" charset="0"/>
                          <a:ea typeface="黑体" panose="02010609060101010101" pitchFamily="49" charset="-122"/>
                        </a:rPr>
                        <a:t>代码，可以取值以上所有属性值，之间用空格分开</a:t>
                      </a:r>
                      <a:endParaRPr lang="zh-CN" altLang="zh-CN" sz="1600" dirty="0">
                        <a:solidFill>
                          <a:srgbClr val="000000"/>
                        </a:solidFill>
                        <a:latin typeface="Times New Roman" panose="02020603050405020304" pitchFamily="18" charset="0"/>
                      </a:endParaRPr>
                    </a:p>
                  </a:txBody>
                  <a:tcPr marL="68575" marR="6857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2.2.2  CSS</a:t>
            </a:r>
            <a:r>
              <a:rPr lang="zh-CN" altLang="en-US" baseline="0" dirty="0">
                <a:latin typeface="Times New Roman" panose="02020603050405020304" pitchFamily="18" charset="0"/>
                <a:ea typeface="黑体" panose="02010609060101010101" pitchFamily="49" charset="-122"/>
                <a:cs typeface="+mj-cs"/>
              </a:rPr>
              <a:t>常用属性</a:t>
            </a:r>
            <a:endParaRPr lang="zh-CN" altLang="en-US" baseline="0" dirty="0">
              <a:latin typeface="Times New Roman" panose="02020603050405020304" pitchFamily="18" charset="0"/>
              <a:ea typeface="黑体" panose="02010609060101010101" pitchFamily="49" charset="-122"/>
              <a:cs typeface="+mj-cs"/>
            </a:endParaRPr>
          </a:p>
        </p:txBody>
      </p:sp>
      <p:sp>
        <p:nvSpPr>
          <p:cNvPr id="74754" name="内容占位符 2"/>
          <p:cNvSpPr>
            <a:spLocks noGrp="1"/>
          </p:cNvSpPr>
          <p:nvPr>
            <p:ph idx="1"/>
          </p:nvPr>
        </p:nvSpPr>
        <p:spPr>
          <a:xfrm>
            <a:off x="107950" y="1125538"/>
            <a:ext cx="8928100" cy="647700"/>
          </a:xfrm>
        </p:spPr>
        <p:txBody>
          <a:bodyPr vert="horz" wrap="square" lIns="91440" tIns="45720" rIns="91440" bIns="45720" anchor="t" anchorCtr="0"/>
          <a:p>
            <a:pPr marL="0" indent="0">
              <a:spcBef>
                <a:spcPct val="0"/>
              </a:spcBef>
              <a:buNone/>
            </a:pPr>
            <a:r>
              <a:rPr lang="en-US" altLang="zh-CN" sz="2800" b="1" dirty="0">
                <a:solidFill>
                  <a:srgbClr val="000000"/>
                </a:solidFill>
              </a:rPr>
              <a:t>2. </a:t>
            </a:r>
            <a:r>
              <a:rPr lang="zh-CN" altLang="en-US" sz="2800" b="1" dirty="0">
                <a:solidFill>
                  <a:srgbClr val="000000"/>
                </a:solidFill>
              </a:rPr>
              <a:t>颜色和背景属性</a:t>
            </a:r>
            <a:endParaRPr lang="zh-CN" altLang="en-US" sz="2800" b="1" dirty="0">
              <a:solidFill>
                <a:srgbClr val="000000"/>
              </a:solidFill>
            </a:endParaRPr>
          </a:p>
        </p:txBody>
      </p:sp>
      <p:graphicFrame>
        <p:nvGraphicFramePr>
          <p:cNvPr id="75780" name="表格 75779"/>
          <p:cNvGraphicFramePr/>
          <p:nvPr/>
        </p:nvGraphicFramePr>
        <p:xfrm>
          <a:off x="503238" y="2276475"/>
          <a:ext cx="8137525" cy="3817938"/>
        </p:xfrm>
        <a:graphic>
          <a:graphicData uri="http://schemas.openxmlformats.org/drawingml/2006/table">
            <a:tbl>
              <a:tblPr/>
              <a:tblGrid>
                <a:gridCol w="2232025"/>
                <a:gridCol w="1657350"/>
                <a:gridCol w="4248150"/>
              </a:tblGrid>
              <a:tr h="5762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属性名</a:t>
                      </a:r>
                      <a:endParaRPr lang="zh-CN" altLang="zh-CN" dirty="0">
                        <a:solidFill>
                          <a:srgbClr val="000000"/>
                        </a:solidFill>
                        <a:latin typeface="Times New Roman" panose="02020603050405020304" pitchFamily="18" charset="0"/>
                      </a:endParaRPr>
                    </a:p>
                  </a:txBody>
                  <a:tcPr marL="68585" marR="6858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属性含义</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属性值</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445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color</a:t>
                      </a:r>
                      <a:endParaRPr lang="zh-CN" altLang="zh-CN" dirty="0">
                        <a:solidFill>
                          <a:srgbClr val="000000"/>
                        </a:solidFill>
                        <a:latin typeface="Times New Roman" panose="02020603050405020304" pitchFamily="18" charset="0"/>
                        <a:ea typeface="黑体" panose="02010609060101010101" pitchFamily="49" charset="-122"/>
                      </a:endParaRPr>
                    </a:p>
                  </a:txBody>
                  <a:tcPr marL="68585" marR="6858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颜色</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（颜色值是英文名称或</a:t>
                      </a:r>
                      <a:r>
                        <a:rPr lang="en-US" altLang="zh-CN" dirty="0">
                          <a:solidFill>
                            <a:srgbClr val="000000"/>
                          </a:solidFill>
                          <a:latin typeface="Arial" panose="020B0604020202020204" pitchFamily="34" charset="0"/>
                          <a:ea typeface="黑体" panose="02010609060101010101" pitchFamily="49" charset="-122"/>
                        </a:rPr>
                        <a:t>16</a:t>
                      </a:r>
                      <a:r>
                        <a:rPr lang="zh-CN" altLang="zh-CN" dirty="0">
                          <a:solidFill>
                            <a:srgbClr val="000000"/>
                          </a:solidFill>
                          <a:latin typeface="Arial" panose="020B0604020202020204" pitchFamily="34" charset="0"/>
                          <a:ea typeface="黑体" panose="02010609060101010101" pitchFamily="49" charset="-122"/>
                        </a:rPr>
                        <a:t>进制</a:t>
                      </a:r>
                      <a:r>
                        <a:rPr lang="en-US" altLang="zh-CN" dirty="0">
                          <a:solidFill>
                            <a:srgbClr val="000000"/>
                          </a:solidFill>
                          <a:latin typeface="Arial" panose="020B0604020202020204" pitchFamily="34" charset="0"/>
                          <a:ea typeface="黑体" panose="02010609060101010101" pitchFamily="49" charset="-122"/>
                        </a:rPr>
                        <a:t>RGB</a:t>
                      </a:r>
                      <a:r>
                        <a:rPr lang="zh-CN" altLang="zh-CN" dirty="0">
                          <a:solidFill>
                            <a:srgbClr val="000000"/>
                          </a:solidFill>
                          <a:latin typeface="Arial" panose="020B0604020202020204" pitchFamily="34" charset="0"/>
                          <a:ea typeface="黑体" panose="02010609060101010101" pitchFamily="49" charset="-122"/>
                        </a:rPr>
                        <a:t>值）例，</a:t>
                      </a:r>
                      <a:r>
                        <a:rPr lang="en-US" altLang="zh-CN" dirty="0">
                          <a:solidFill>
                            <a:srgbClr val="000000"/>
                          </a:solidFill>
                          <a:latin typeface="Arial" panose="020B0604020202020204" pitchFamily="34" charset="0"/>
                          <a:ea typeface="黑体" panose="02010609060101010101" pitchFamily="49" charset="-122"/>
                        </a:rPr>
                        <a:t>red</a:t>
                      </a:r>
                      <a:r>
                        <a:rPr lang="zh-CN" altLang="zh-CN" dirty="0">
                          <a:solidFill>
                            <a:srgbClr val="000000"/>
                          </a:solidFill>
                          <a:latin typeface="Arial" panose="020B0604020202020204" pitchFamily="34" charset="0"/>
                          <a:ea typeface="黑体" panose="02010609060101010101" pitchFamily="49" charset="-122"/>
                        </a:rPr>
                        <a:t>为</a:t>
                      </a:r>
                      <a:r>
                        <a:rPr lang="en-US" altLang="zh-CN" dirty="0">
                          <a:solidFill>
                            <a:srgbClr val="000000"/>
                          </a:solidFill>
                          <a:latin typeface="Arial" panose="020B0604020202020204" pitchFamily="34" charset="0"/>
                          <a:ea typeface="黑体" panose="02010609060101010101" pitchFamily="49" charset="-122"/>
                        </a:rPr>
                        <a:t>#ff0000</a:t>
                      </a:r>
                      <a:r>
                        <a:rPr lang="zh-CN" altLang="zh-CN" dirty="0">
                          <a:solidFill>
                            <a:srgbClr val="000000"/>
                          </a:solidFill>
                          <a:latin typeface="Arial" panose="020B0604020202020204" pitchFamily="34" charset="0"/>
                          <a:ea typeface="黑体" panose="02010609060101010101" pitchFamily="49" charset="-122"/>
                        </a:rPr>
                        <a:t>）</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000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background-color</a:t>
                      </a:r>
                      <a:endParaRPr lang="zh-CN" altLang="zh-CN" dirty="0">
                        <a:solidFill>
                          <a:srgbClr val="000000"/>
                        </a:solidFill>
                        <a:latin typeface="Times New Roman" panose="02020603050405020304" pitchFamily="18" charset="0"/>
                        <a:ea typeface="黑体" panose="02010609060101010101" pitchFamily="49" charset="-122"/>
                      </a:endParaRPr>
                    </a:p>
                  </a:txBody>
                  <a:tcPr marL="68585" marR="6858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背景颜色</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同</a:t>
                      </a:r>
                      <a:r>
                        <a:rPr lang="en-US" altLang="zh-CN" dirty="0">
                          <a:solidFill>
                            <a:srgbClr val="000000"/>
                          </a:solidFill>
                          <a:latin typeface="Arial" panose="020B0604020202020204" pitchFamily="34" charset="0"/>
                          <a:ea typeface="黑体" panose="02010609060101010101" pitchFamily="49" charset="-122"/>
                        </a:rPr>
                        <a:t>color</a:t>
                      </a:r>
                      <a:r>
                        <a:rPr lang="zh-CN" altLang="zh-CN" dirty="0">
                          <a:solidFill>
                            <a:srgbClr val="000000"/>
                          </a:solidFill>
                          <a:latin typeface="Arial" panose="020B0604020202020204" pitchFamily="34" charset="0"/>
                          <a:ea typeface="黑体" panose="02010609060101010101" pitchFamily="49" charset="-122"/>
                        </a:rPr>
                        <a:t>属性</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62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background-image</a:t>
                      </a:r>
                      <a:endParaRPr lang="zh-CN" altLang="zh-CN" dirty="0">
                        <a:solidFill>
                          <a:srgbClr val="000000"/>
                        </a:solidFill>
                        <a:latin typeface="Times New Roman" panose="02020603050405020304" pitchFamily="18" charset="0"/>
                        <a:ea typeface="黑体" panose="02010609060101010101" pitchFamily="49" charset="-122"/>
                      </a:endParaRPr>
                    </a:p>
                  </a:txBody>
                  <a:tcPr marL="68585" marR="6858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背景图像</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none:</a:t>
                      </a:r>
                      <a:r>
                        <a:rPr lang="zh-CN" altLang="zh-CN" dirty="0">
                          <a:solidFill>
                            <a:srgbClr val="000000"/>
                          </a:solidFill>
                          <a:latin typeface="Arial" panose="020B0604020202020204" pitchFamily="34" charset="0"/>
                          <a:ea typeface="黑体" panose="02010609060101010101" pitchFamily="49" charset="-122"/>
                        </a:rPr>
                        <a:t>不用背景；</a:t>
                      </a:r>
                      <a:r>
                        <a:rPr lang="en-US" altLang="zh-CN" dirty="0">
                          <a:solidFill>
                            <a:srgbClr val="000000"/>
                          </a:solidFill>
                          <a:latin typeface="Arial" panose="020B0604020202020204" pitchFamily="34" charset="0"/>
                          <a:ea typeface="黑体" panose="02010609060101010101" pitchFamily="49" charset="-122"/>
                        </a:rPr>
                        <a:t>url</a:t>
                      </a:r>
                      <a:r>
                        <a:rPr lang="zh-CN" altLang="zh-CN" dirty="0">
                          <a:solidFill>
                            <a:srgbClr val="000000"/>
                          </a:solidFill>
                          <a:latin typeface="Arial" panose="020B0604020202020204" pitchFamily="34" charset="0"/>
                          <a:ea typeface="黑体" panose="02010609060101010101" pitchFamily="49" charset="-122"/>
                        </a:rPr>
                        <a:t>：图像地址</a:t>
                      </a:r>
                      <a:endParaRPr lang="zh-CN" altLang="zh-CN" dirty="0">
                        <a:solidFill>
                          <a:srgbClr val="000000"/>
                        </a:solidFill>
                        <a:latin typeface="Times New Roman" panose="02020603050405020304" pitchFamily="18" charset="0"/>
                        <a:ea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62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background-position</a:t>
                      </a:r>
                      <a:endParaRPr lang="zh-CN" altLang="zh-CN" dirty="0">
                        <a:solidFill>
                          <a:srgbClr val="000000"/>
                        </a:solidFill>
                        <a:latin typeface="Times New Roman" panose="02020603050405020304" pitchFamily="18" charset="0"/>
                        <a:ea typeface="黑体" panose="02010609060101010101" pitchFamily="49" charset="-122"/>
                      </a:endParaRPr>
                    </a:p>
                  </a:txBody>
                  <a:tcPr marL="68585" marR="6858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背景图片位置</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top</a:t>
                      </a:r>
                      <a:r>
                        <a:rPr lang="zh-CN" altLang="zh-CN" dirty="0">
                          <a:solidFill>
                            <a:srgbClr val="000000"/>
                          </a:solidFill>
                          <a:latin typeface="Arial" panose="020B0604020202020204" pitchFamily="34" charset="0"/>
                          <a:ea typeface="黑体" panose="02010609060101010101" pitchFamily="49" charset="-122"/>
                        </a:rPr>
                        <a:t>，</a:t>
                      </a:r>
                      <a:r>
                        <a:rPr lang="en-US" altLang="zh-CN" dirty="0">
                          <a:solidFill>
                            <a:srgbClr val="000000"/>
                          </a:solidFill>
                          <a:latin typeface="Arial" panose="020B0604020202020204" pitchFamily="34" charset="0"/>
                          <a:ea typeface="黑体" panose="02010609060101010101" pitchFamily="49" charset="-122"/>
                        </a:rPr>
                        <a:t>left</a:t>
                      </a:r>
                      <a:r>
                        <a:rPr lang="zh-CN" altLang="zh-CN" dirty="0">
                          <a:solidFill>
                            <a:srgbClr val="000000"/>
                          </a:solidFill>
                          <a:latin typeface="Arial" panose="020B0604020202020204" pitchFamily="34" charset="0"/>
                          <a:ea typeface="黑体" panose="02010609060101010101" pitchFamily="49" charset="-122"/>
                        </a:rPr>
                        <a:t>，</a:t>
                      </a:r>
                      <a:r>
                        <a:rPr lang="en-US" altLang="zh-CN" dirty="0">
                          <a:solidFill>
                            <a:srgbClr val="000000"/>
                          </a:solidFill>
                          <a:latin typeface="Arial" panose="020B0604020202020204" pitchFamily="34" charset="0"/>
                          <a:ea typeface="黑体" panose="02010609060101010101" pitchFamily="49" charset="-122"/>
                        </a:rPr>
                        <a:t>right</a:t>
                      </a:r>
                      <a:r>
                        <a:rPr lang="zh-CN" altLang="zh-CN" dirty="0">
                          <a:solidFill>
                            <a:srgbClr val="000000"/>
                          </a:solidFill>
                          <a:latin typeface="Arial" panose="020B0604020202020204" pitchFamily="34" charset="0"/>
                          <a:ea typeface="黑体" panose="02010609060101010101" pitchFamily="49" charset="-122"/>
                        </a:rPr>
                        <a:t>，</a:t>
                      </a:r>
                      <a:r>
                        <a:rPr lang="en-US" altLang="zh-CN" dirty="0">
                          <a:solidFill>
                            <a:srgbClr val="000000"/>
                          </a:solidFill>
                          <a:latin typeface="Arial" panose="020B0604020202020204" pitchFamily="34" charset="0"/>
                          <a:ea typeface="黑体" panose="02010609060101010101" pitchFamily="49" charset="-122"/>
                        </a:rPr>
                        <a:t>bottom</a:t>
                      </a:r>
                      <a:r>
                        <a:rPr lang="zh-CN" altLang="zh-CN" dirty="0">
                          <a:solidFill>
                            <a:srgbClr val="000000"/>
                          </a:solidFill>
                          <a:latin typeface="Arial" panose="020B0604020202020204" pitchFamily="34" charset="0"/>
                          <a:ea typeface="黑体" panose="02010609060101010101" pitchFamily="49" charset="-122"/>
                        </a:rPr>
                        <a:t>，</a:t>
                      </a:r>
                      <a:r>
                        <a:rPr lang="en-US" altLang="zh-CN" dirty="0">
                          <a:solidFill>
                            <a:srgbClr val="000000"/>
                          </a:solidFill>
                          <a:latin typeface="Arial" panose="020B0604020202020204" pitchFamily="34" charset="0"/>
                          <a:ea typeface="黑体" panose="02010609060101010101" pitchFamily="49" charset="-122"/>
                        </a:rPr>
                        <a:t>center</a:t>
                      </a:r>
                      <a:r>
                        <a:rPr lang="zh-CN" altLang="zh-CN" dirty="0">
                          <a:solidFill>
                            <a:srgbClr val="000000"/>
                          </a:solidFill>
                          <a:latin typeface="Arial" panose="020B0604020202020204" pitchFamily="34" charset="0"/>
                          <a:ea typeface="黑体" panose="02010609060101010101" pitchFamily="49" charset="-122"/>
                        </a:rPr>
                        <a:t>等</a:t>
                      </a:r>
                      <a:endParaRPr lang="zh-CN" altLang="zh-CN" dirty="0">
                        <a:solidFill>
                          <a:srgbClr val="000000"/>
                        </a:solidFill>
                        <a:latin typeface="Times New Roman" panose="02020603050405020304" pitchFamily="18" charset="0"/>
                        <a:ea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445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background</a:t>
                      </a:r>
                      <a:endParaRPr lang="zh-CN" altLang="zh-CN" dirty="0">
                        <a:solidFill>
                          <a:srgbClr val="000000"/>
                        </a:solidFill>
                        <a:latin typeface="Times New Roman" panose="02020603050405020304" pitchFamily="18" charset="0"/>
                        <a:ea typeface="黑体" panose="02010609060101010101" pitchFamily="49" charset="-122"/>
                      </a:endParaRPr>
                    </a:p>
                  </a:txBody>
                  <a:tcPr marL="68585" marR="68585"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背景复合属性</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简化</a:t>
                      </a:r>
                      <a:r>
                        <a:rPr lang="en-US" altLang="zh-CN" dirty="0">
                          <a:solidFill>
                            <a:srgbClr val="000000"/>
                          </a:solidFill>
                          <a:latin typeface="Arial" panose="020B0604020202020204" pitchFamily="34" charset="0"/>
                          <a:ea typeface="黑体" panose="02010609060101010101" pitchFamily="49" charset="-122"/>
                        </a:rPr>
                        <a:t>css</a:t>
                      </a:r>
                      <a:r>
                        <a:rPr lang="zh-CN" altLang="zh-CN" dirty="0">
                          <a:solidFill>
                            <a:srgbClr val="000000"/>
                          </a:solidFill>
                          <a:latin typeface="Arial" panose="020B0604020202020204" pitchFamily="34" charset="0"/>
                          <a:ea typeface="黑体" panose="02010609060101010101" pitchFamily="49" charset="-122"/>
                        </a:rPr>
                        <a:t>代码，可取值以上所有属性值，之间用空格分开</a:t>
                      </a:r>
                      <a:endParaRPr lang="zh-CN" altLang="zh-CN" dirty="0">
                        <a:solidFill>
                          <a:srgbClr val="000000"/>
                        </a:solidFill>
                        <a:latin typeface="Times New Roman" panose="02020603050405020304" pitchFamily="18" charset="0"/>
                      </a:endParaRPr>
                    </a:p>
                  </a:txBody>
                  <a:tcPr marL="68585" marR="68585"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2.2.2  CSS</a:t>
            </a:r>
            <a:r>
              <a:rPr lang="zh-CN" altLang="en-US" baseline="0" dirty="0">
                <a:latin typeface="Times New Roman" panose="02020603050405020304" pitchFamily="18" charset="0"/>
                <a:ea typeface="黑体" panose="02010609060101010101" pitchFamily="49" charset="-122"/>
                <a:cs typeface="+mj-cs"/>
              </a:rPr>
              <a:t>常用属性</a:t>
            </a:r>
            <a:endParaRPr lang="zh-CN" altLang="en-US" baseline="0" dirty="0">
              <a:latin typeface="Times New Roman" panose="02020603050405020304" pitchFamily="18" charset="0"/>
              <a:ea typeface="黑体" panose="02010609060101010101" pitchFamily="49" charset="-122"/>
              <a:cs typeface="+mj-cs"/>
            </a:endParaRPr>
          </a:p>
        </p:txBody>
      </p:sp>
      <p:sp>
        <p:nvSpPr>
          <p:cNvPr id="75778" name="内容占位符 2"/>
          <p:cNvSpPr>
            <a:spLocks noGrp="1"/>
          </p:cNvSpPr>
          <p:nvPr>
            <p:ph idx="1"/>
          </p:nvPr>
        </p:nvSpPr>
        <p:spPr>
          <a:xfrm>
            <a:off x="107950" y="1125538"/>
            <a:ext cx="8928100" cy="719137"/>
          </a:xfrm>
        </p:spPr>
        <p:txBody>
          <a:bodyPr vert="horz" wrap="square" lIns="91440" tIns="45720" rIns="91440" bIns="45720" anchor="t" anchorCtr="0"/>
          <a:p>
            <a:pPr marL="0" indent="0">
              <a:spcBef>
                <a:spcPct val="0"/>
              </a:spcBef>
              <a:buNone/>
            </a:pPr>
            <a:r>
              <a:rPr lang="en-US" altLang="zh-CN" sz="2800" b="1" dirty="0">
                <a:solidFill>
                  <a:srgbClr val="000000"/>
                </a:solidFill>
              </a:rPr>
              <a:t>3.</a:t>
            </a:r>
            <a:r>
              <a:rPr lang="zh-CN" altLang="en-US" sz="2800" b="1" dirty="0">
                <a:solidFill>
                  <a:srgbClr val="000000"/>
                </a:solidFill>
              </a:rPr>
              <a:t> 文本段落属性</a:t>
            </a:r>
            <a:endParaRPr lang="zh-CN" altLang="en-US" sz="2800" b="1" dirty="0">
              <a:solidFill>
                <a:srgbClr val="000000"/>
              </a:solidFill>
            </a:endParaRPr>
          </a:p>
        </p:txBody>
      </p:sp>
      <p:graphicFrame>
        <p:nvGraphicFramePr>
          <p:cNvPr id="76804" name="表格 76803"/>
          <p:cNvGraphicFramePr/>
          <p:nvPr/>
        </p:nvGraphicFramePr>
        <p:xfrm>
          <a:off x="395288" y="1773238"/>
          <a:ext cx="8280400" cy="4979988"/>
        </p:xfrm>
        <a:graphic>
          <a:graphicData uri="http://schemas.openxmlformats.org/drawingml/2006/table">
            <a:tbl>
              <a:tblPr/>
              <a:tblGrid>
                <a:gridCol w="1401763"/>
                <a:gridCol w="1062037"/>
                <a:gridCol w="5816600"/>
              </a:tblGrid>
              <a:tr h="4064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属性名</a:t>
                      </a:r>
                      <a:endParaRPr lang="zh-CN" altLang="zh-CN" sz="1600" dirty="0">
                        <a:solidFill>
                          <a:srgbClr val="000000"/>
                        </a:solidFill>
                        <a:latin typeface="Times New Roman" panose="02020603050405020304" pitchFamily="18" charset="0"/>
                      </a:endParaRPr>
                    </a:p>
                  </a:txBody>
                  <a:tcPr marL="68576" marR="68576"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属性含义</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属性值</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508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text-decoration</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6" marR="68576"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文字修饰</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none, underline:</a:t>
                      </a:r>
                      <a:r>
                        <a:rPr lang="zh-CN" altLang="zh-CN" sz="1600" dirty="0">
                          <a:solidFill>
                            <a:srgbClr val="000000"/>
                          </a:solidFill>
                          <a:latin typeface="Arial" panose="020B0604020202020204" pitchFamily="34" charset="0"/>
                          <a:ea typeface="黑体" panose="02010609060101010101" pitchFamily="49" charset="-122"/>
                        </a:rPr>
                        <a:t>下划线</a:t>
                      </a:r>
                      <a:r>
                        <a:rPr lang="en-US" altLang="zh-CN" sz="1600" dirty="0">
                          <a:solidFill>
                            <a:srgbClr val="000000"/>
                          </a:solidFill>
                          <a:latin typeface="Arial" panose="020B0604020202020204" pitchFamily="34" charset="0"/>
                          <a:ea typeface="黑体" panose="02010609060101010101" pitchFamily="49" charset="-122"/>
                        </a:rPr>
                        <a:t>, overline:</a:t>
                      </a:r>
                      <a:r>
                        <a:rPr lang="zh-CN" altLang="zh-CN" sz="1600" dirty="0">
                          <a:solidFill>
                            <a:srgbClr val="000000"/>
                          </a:solidFill>
                          <a:latin typeface="Arial" panose="020B0604020202020204" pitchFamily="34" charset="0"/>
                          <a:ea typeface="黑体" panose="02010609060101010101" pitchFamily="49" charset="-122"/>
                        </a:rPr>
                        <a:t>上划线</a:t>
                      </a:r>
                      <a:r>
                        <a:rPr lang="en-US" altLang="zh-CN" sz="1600" dirty="0">
                          <a:solidFill>
                            <a:srgbClr val="000000"/>
                          </a:solidFill>
                          <a:latin typeface="Arial" panose="020B0604020202020204" pitchFamily="34" charset="0"/>
                          <a:ea typeface="黑体" panose="02010609060101010101" pitchFamily="49" charset="-122"/>
                        </a:rPr>
                        <a:t>,line-through:</a:t>
                      </a:r>
                      <a:r>
                        <a:rPr lang="zh-CN" altLang="zh-CN" sz="1600" dirty="0">
                          <a:solidFill>
                            <a:srgbClr val="000000"/>
                          </a:solidFill>
                          <a:latin typeface="Arial" panose="020B0604020202020204" pitchFamily="34" charset="0"/>
                          <a:ea typeface="黑体" panose="02010609060101010101" pitchFamily="49" charset="-122"/>
                        </a:rPr>
                        <a:t>删除线</a:t>
                      </a:r>
                      <a:r>
                        <a:rPr lang="en-US" altLang="zh-CN" sz="1600" dirty="0">
                          <a:solidFill>
                            <a:srgbClr val="000000"/>
                          </a:solidFill>
                          <a:latin typeface="Arial" panose="020B0604020202020204" pitchFamily="34" charset="0"/>
                          <a:ea typeface="黑体" panose="02010609060101010101" pitchFamily="49" charset="-122"/>
                        </a:rPr>
                        <a:t>,blink</a:t>
                      </a:r>
                      <a:r>
                        <a:rPr lang="zh-CN" altLang="zh-CN" sz="1600" dirty="0">
                          <a:solidFill>
                            <a:srgbClr val="000000"/>
                          </a:solidFill>
                          <a:latin typeface="Arial" panose="020B0604020202020204" pitchFamily="34" charset="0"/>
                          <a:ea typeface="黑体" panose="02010609060101010101" pitchFamily="49" charset="-122"/>
                        </a:rPr>
                        <a:t>：文字闪烁</a:t>
                      </a:r>
                      <a:endParaRPr lang="zh-CN" altLang="zh-CN" sz="1600" dirty="0">
                        <a:solidFill>
                          <a:srgbClr val="000000"/>
                        </a:solidFill>
                        <a:latin typeface="Times New Roman" panose="02020603050405020304" pitchFamily="18" charset="0"/>
                        <a:ea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0080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vertical-align</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6" marR="68576"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垂直对齐</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baseline:</a:t>
                      </a:r>
                      <a:r>
                        <a:rPr lang="zh-CN" altLang="zh-CN" sz="1600" dirty="0">
                          <a:solidFill>
                            <a:srgbClr val="000000"/>
                          </a:solidFill>
                          <a:latin typeface="Arial" panose="020B0604020202020204" pitchFamily="34" charset="0"/>
                          <a:ea typeface="黑体" panose="02010609060101010101" pitchFamily="49" charset="-122"/>
                        </a:rPr>
                        <a:t>默认的垂直对齐方式，</a:t>
                      </a:r>
                      <a:r>
                        <a:rPr lang="en-US" altLang="zh-CN" sz="1600" dirty="0">
                          <a:solidFill>
                            <a:srgbClr val="000000"/>
                          </a:solidFill>
                          <a:latin typeface="Arial" panose="020B0604020202020204" pitchFamily="34" charset="0"/>
                          <a:ea typeface="黑体" panose="02010609060101010101" pitchFamily="49" charset="-122"/>
                        </a:rPr>
                        <a:t>super</a:t>
                      </a:r>
                      <a:r>
                        <a:rPr lang="zh-CN" altLang="zh-CN" sz="1600" dirty="0">
                          <a:solidFill>
                            <a:srgbClr val="000000"/>
                          </a:solidFill>
                          <a:latin typeface="Arial" panose="020B0604020202020204" pitchFamily="34" charset="0"/>
                          <a:ea typeface="黑体" panose="02010609060101010101" pitchFamily="49" charset="-122"/>
                        </a:rPr>
                        <a:t>文字的上标，</a:t>
                      </a:r>
                      <a:r>
                        <a:rPr lang="en-US" altLang="zh-CN" sz="1600" dirty="0">
                          <a:solidFill>
                            <a:srgbClr val="000000"/>
                          </a:solidFill>
                          <a:latin typeface="Arial" panose="020B0604020202020204" pitchFamily="34" charset="0"/>
                          <a:ea typeface="黑体" panose="02010609060101010101" pitchFamily="49" charset="-122"/>
                        </a:rPr>
                        <a:t>sub</a:t>
                      </a:r>
                      <a:r>
                        <a:rPr lang="zh-CN" altLang="zh-CN" sz="1600" dirty="0">
                          <a:solidFill>
                            <a:srgbClr val="000000"/>
                          </a:solidFill>
                          <a:latin typeface="Arial" panose="020B0604020202020204" pitchFamily="34" charset="0"/>
                          <a:ea typeface="黑体" panose="02010609060101010101" pitchFamily="49" charset="-122"/>
                        </a:rPr>
                        <a:t>文字的下标，</a:t>
                      </a:r>
                      <a:r>
                        <a:rPr lang="en-US" altLang="zh-CN" sz="1600" dirty="0">
                          <a:solidFill>
                            <a:srgbClr val="000000"/>
                          </a:solidFill>
                          <a:latin typeface="Arial" panose="020B0604020202020204" pitchFamily="34" charset="0"/>
                          <a:ea typeface="黑体" panose="02010609060101010101" pitchFamily="49" charset="-122"/>
                        </a:rPr>
                        <a:t>top</a:t>
                      </a:r>
                      <a:r>
                        <a:rPr lang="zh-CN" altLang="zh-CN" sz="1600" dirty="0">
                          <a:solidFill>
                            <a:srgbClr val="000000"/>
                          </a:solidFill>
                          <a:latin typeface="Arial" panose="020B0604020202020204" pitchFamily="34" charset="0"/>
                          <a:ea typeface="黑体" panose="02010609060101010101" pitchFamily="49" charset="-122"/>
                        </a:rPr>
                        <a:t>垂直靠上，</a:t>
                      </a:r>
                      <a:r>
                        <a:rPr lang="en-US" altLang="zh-CN" sz="1600" dirty="0">
                          <a:solidFill>
                            <a:srgbClr val="000000"/>
                          </a:solidFill>
                          <a:latin typeface="Arial" panose="020B0604020202020204" pitchFamily="34" charset="0"/>
                          <a:ea typeface="黑体" panose="02010609060101010101" pitchFamily="49" charset="-122"/>
                        </a:rPr>
                        <a:t>text-top</a:t>
                      </a:r>
                      <a:r>
                        <a:rPr lang="zh-CN" altLang="zh-CN" sz="1600" dirty="0">
                          <a:solidFill>
                            <a:srgbClr val="000000"/>
                          </a:solidFill>
                          <a:latin typeface="Arial" panose="020B0604020202020204" pitchFamily="34" charset="0"/>
                          <a:ea typeface="黑体" panose="02010609060101010101" pitchFamily="49" charset="-122"/>
                        </a:rPr>
                        <a:t>使元素和上级元素的字体向上对齐，</a:t>
                      </a:r>
                      <a:r>
                        <a:rPr lang="en-US" altLang="zh-CN" sz="1600" dirty="0">
                          <a:solidFill>
                            <a:srgbClr val="000000"/>
                          </a:solidFill>
                          <a:latin typeface="Arial" panose="020B0604020202020204" pitchFamily="34" charset="0"/>
                          <a:ea typeface="黑体" panose="02010609060101010101" pitchFamily="49" charset="-122"/>
                        </a:rPr>
                        <a:t>middle</a:t>
                      </a:r>
                      <a:r>
                        <a:rPr lang="zh-CN" altLang="zh-CN" sz="1600" dirty="0">
                          <a:solidFill>
                            <a:srgbClr val="000000"/>
                          </a:solidFill>
                          <a:latin typeface="Arial" panose="020B0604020202020204" pitchFamily="34" charset="0"/>
                          <a:ea typeface="黑体" panose="02010609060101010101" pitchFamily="49" charset="-122"/>
                        </a:rPr>
                        <a:t>垂直居中对齐，</a:t>
                      </a:r>
                      <a:r>
                        <a:rPr lang="en-US" altLang="zh-CN" sz="1600" dirty="0">
                          <a:solidFill>
                            <a:srgbClr val="000000"/>
                          </a:solidFill>
                          <a:latin typeface="Arial" panose="020B0604020202020204" pitchFamily="34" charset="0"/>
                          <a:ea typeface="黑体" panose="02010609060101010101" pitchFamily="49" charset="-122"/>
                        </a:rPr>
                        <a:t>text-bottom</a:t>
                      </a:r>
                      <a:r>
                        <a:rPr lang="zh-CN" altLang="zh-CN" sz="1600" dirty="0">
                          <a:solidFill>
                            <a:srgbClr val="000000"/>
                          </a:solidFill>
                          <a:latin typeface="Arial" panose="020B0604020202020204" pitchFamily="34" charset="0"/>
                          <a:ea typeface="黑体" panose="02010609060101010101" pitchFamily="49" charset="-122"/>
                        </a:rPr>
                        <a:t>使元素和上级元素的字体向下对齐</a:t>
                      </a:r>
                      <a:endParaRPr lang="zh-CN" altLang="zh-CN" sz="1600" dirty="0">
                        <a:solidFill>
                          <a:srgbClr val="000000"/>
                        </a:solidFill>
                        <a:latin typeface="Times New Roman" panose="02020603050405020304" pitchFamily="18" charset="0"/>
                        <a:ea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508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text-align</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6" marR="68576"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水平对齐</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left, right, center, justify:</a:t>
                      </a:r>
                      <a:r>
                        <a:rPr lang="zh-CN" altLang="zh-CN" sz="1600" dirty="0">
                          <a:solidFill>
                            <a:srgbClr val="000000"/>
                          </a:solidFill>
                          <a:latin typeface="Arial" panose="020B0604020202020204" pitchFamily="34" charset="0"/>
                          <a:ea typeface="黑体" panose="02010609060101010101" pitchFamily="49" charset="-122"/>
                        </a:rPr>
                        <a:t>两段对齐</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6" marR="68576"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5086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text-indent</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6" marR="68576"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文本缩进</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缩进值（长度或百分比</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8112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line-height</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6" marR="68576"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文本行高</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行高值（长度，倍数，百分比）</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1017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143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white-space</a:t>
                      </a:r>
                      <a:endParaRPr lang="zh-CN" altLang="zh-CN" sz="1600" dirty="0">
                        <a:solidFill>
                          <a:srgbClr val="000000"/>
                        </a:solidFill>
                        <a:latin typeface="Times New Roman" panose="02020603050405020304" pitchFamily="18" charset="0"/>
                        <a:ea typeface="黑体" panose="02010609060101010101" pitchFamily="49" charset="-122"/>
                      </a:endParaRPr>
                    </a:p>
                  </a:txBody>
                  <a:tcPr marL="68576" marR="68576"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905" algn="ctr" eaLnBrk="1" hangingPunct="1">
                        <a:spcBef>
                          <a:spcPts val="100"/>
                        </a:spcBef>
                        <a:spcAft>
                          <a:spcPts val="100"/>
                        </a:spcAft>
                        <a:buNone/>
                      </a:pPr>
                      <a:r>
                        <a:rPr lang="zh-CN" altLang="zh-CN" sz="1600" dirty="0">
                          <a:solidFill>
                            <a:srgbClr val="000000"/>
                          </a:solidFill>
                          <a:latin typeface="Arial" panose="020B0604020202020204" pitchFamily="34" charset="0"/>
                          <a:ea typeface="黑体" panose="02010609060101010101" pitchFamily="49" charset="-122"/>
                        </a:rPr>
                        <a:t>处理空白</a:t>
                      </a:r>
                      <a:endParaRPr lang="zh-CN" altLang="zh-CN" sz="1600" dirty="0">
                        <a:solidFill>
                          <a:srgbClr val="000000"/>
                        </a:solidFill>
                        <a:latin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sz="1600" dirty="0">
                          <a:solidFill>
                            <a:srgbClr val="000000"/>
                          </a:solidFill>
                          <a:latin typeface="Arial" panose="020B0604020202020204" pitchFamily="34" charset="0"/>
                          <a:ea typeface="黑体" panose="02010609060101010101" pitchFamily="49" charset="-122"/>
                        </a:rPr>
                        <a:t>normal</a:t>
                      </a:r>
                      <a:r>
                        <a:rPr lang="zh-CN" altLang="zh-CN" sz="1600" dirty="0">
                          <a:solidFill>
                            <a:srgbClr val="000000"/>
                          </a:solidFill>
                          <a:latin typeface="Arial" panose="020B0604020202020204" pitchFamily="34" charset="0"/>
                          <a:ea typeface="黑体" panose="02010609060101010101" pitchFamily="49" charset="-122"/>
                        </a:rPr>
                        <a:t>将连续的多个空格合并</a:t>
                      </a:r>
                      <a:r>
                        <a:rPr lang="en-US" altLang="zh-CN" sz="1600" dirty="0">
                          <a:solidFill>
                            <a:srgbClr val="000000"/>
                          </a:solidFill>
                          <a:latin typeface="Arial" panose="020B0604020202020204" pitchFamily="34" charset="0"/>
                          <a:ea typeface="黑体" panose="02010609060101010101" pitchFamily="49" charset="-122"/>
                        </a:rPr>
                        <a:t>, nowrap</a:t>
                      </a:r>
                      <a:r>
                        <a:rPr lang="zh-CN" altLang="zh-CN" sz="1600" dirty="0">
                          <a:solidFill>
                            <a:srgbClr val="000000"/>
                          </a:solidFill>
                          <a:latin typeface="Arial" panose="020B0604020202020204" pitchFamily="34" charset="0"/>
                          <a:ea typeface="黑体" panose="02010609060101010101" pitchFamily="49" charset="-122"/>
                        </a:rPr>
                        <a:t>强制在同一行内显示所有文本，直到文本结束或者遇到</a:t>
                      </a:r>
                      <a:r>
                        <a:rPr lang="en-US" altLang="zh-CN" sz="1600" dirty="0">
                          <a:solidFill>
                            <a:srgbClr val="000000"/>
                          </a:solidFill>
                          <a:latin typeface="Arial" panose="020B0604020202020204" pitchFamily="34" charset="0"/>
                          <a:ea typeface="黑体" panose="02010609060101010101" pitchFamily="49" charset="-122"/>
                        </a:rPr>
                        <a:t>&lt;br&gt;</a:t>
                      </a:r>
                      <a:r>
                        <a:rPr lang="zh-CN" altLang="zh-CN" sz="1600" dirty="0">
                          <a:solidFill>
                            <a:srgbClr val="000000"/>
                          </a:solidFill>
                          <a:latin typeface="Arial" panose="020B0604020202020204" pitchFamily="34" charset="0"/>
                          <a:ea typeface="黑体" panose="02010609060101010101" pitchFamily="49" charset="-122"/>
                        </a:rPr>
                        <a:t>对象</a:t>
                      </a:r>
                      <a:endParaRPr lang="zh-CN" altLang="zh-CN" sz="1600" dirty="0">
                        <a:solidFill>
                          <a:srgbClr val="000000"/>
                        </a:solidFill>
                        <a:latin typeface="Times New Roman" panose="02020603050405020304" pitchFamily="18" charset="0"/>
                        <a:ea typeface="Times New Roman" panose="02020603050405020304" pitchFamily="18" charset="0"/>
                      </a:endParaRPr>
                    </a:p>
                  </a:txBody>
                  <a:tcPr marL="68576" marR="68576"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200" baseline="0" dirty="0">
                <a:latin typeface="Times New Roman" panose="02020603050405020304" pitchFamily="18" charset="0"/>
                <a:ea typeface="黑体" panose="02010609060101010101" pitchFamily="49" charset="-122"/>
                <a:cs typeface="+mj-cs"/>
              </a:rPr>
              <a:t>2.2.3  </a:t>
            </a:r>
            <a:r>
              <a:rPr lang="zh-CN" altLang="en-US" sz="3200" baseline="0" dirty="0">
                <a:latin typeface="Times New Roman" panose="02020603050405020304" pitchFamily="18" charset="0"/>
                <a:ea typeface="黑体" panose="02010609060101010101" pitchFamily="49" charset="-122"/>
                <a:cs typeface="+mj-cs"/>
              </a:rPr>
              <a:t>案例</a:t>
            </a:r>
            <a:r>
              <a:rPr lang="en-US" altLang="zh-CN" sz="3200" baseline="0" dirty="0">
                <a:latin typeface="Times New Roman" panose="02020603050405020304" pitchFamily="18" charset="0"/>
                <a:ea typeface="黑体" panose="02010609060101010101" pitchFamily="49" charset="-122"/>
                <a:cs typeface="+mj-cs"/>
              </a:rPr>
              <a:t>——</a:t>
            </a:r>
            <a:r>
              <a:rPr lang="zh-CN" altLang="en-US" sz="3200" baseline="0" dirty="0">
                <a:latin typeface="Times New Roman" panose="02020603050405020304" pitchFamily="18" charset="0"/>
                <a:ea typeface="黑体" panose="02010609060101010101" pitchFamily="49" charset="-122"/>
                <a:cs typeface="+mj-cs"/>
              </a:rPr>
              <a:t>利用</a:t>
            </a:r>
            <a:r>
              <a:rPr lang="en-US" altLang="zh-CN" sz="3200" baseline="0" dirty="0">
                <a:latin typeface="Times New Roman" panose="02020603050405020304" pitchFamily="18" charset="0"/>
                <a:ea typeface="黑体" panose="02010609060101010101" pitchFamily="49" charset="-122"/>
                <a:cs typeface="+mj-cs"/>
              </a:rPr>
              <a:t>CSS</a:t>
            </a:r>
            <a:r>
              <a:rPr lang="zh-CN" altLang="en-US" sz="3200" baseline="0" dirty="0">
                <a:latin typeface="Times New Roman" panose="02020603050405020304" pitchFamily="18" charset="0"/>
                <a:ea typeface="黑体" panose="02010609060101010101" pitchFamily="49" charset="-122"/>
                <a:cs typeface="+mj-cs"/>
              </a:rPr>
              <a:t>对注册页面实现修饰</a:t>
            </a:r>
            <a:endParaRPr lang="zh-CN" altLang="en-US" sz="3200" baseline="0" dirty="0">
              <a:latin typeface="Times New Roman" panose="02020603050405020304" pitchFamily="18" charset="0"/>
              <a:ea typeface="黑体" panose="02010609060101010101" pitchFamily="49" charset="-122"/>
              <a:cs typeface="+mj-cs"/>
            </a:endParaRPr>
          </a:p>
        </p:txBody>
      </p:sp>
      <p:sp>
        <p:nvSpPr>
          <p:cNvPr id="76802" name="内容占位符 2"/>
          <p:cNvSpPr>
            <a:spLocks noGrp="1"/>
          </p:cNvSpPr>
          <p:nvPr>
            <p:ph idx="1"/>
          </p:nvPr>
        </p:nvSpPr>
        <p:spPr>
          <a:xfrm>
            <a:off x="107950" y="1125538"/>
            <a:ext cx="8928100" cy="1008062"/>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2-9】</a:t>
            </a:r>
            <a:r>
              <a:rPr lang="zh-CN" altLang="en-US" sz="2400" dirty="0">
                <a:solidFill>
                  <a:srgbClr val="000000"/>
                </a:solidFill>
              </a:rPr>
              <a:t>设计如图所示的注册网页，该页面没有修饰，不够美观，采用</a:t>
            </a:r>
            <a:r>
              <a:rPr lang="en-US" altLang="zh-CN" sz="2400" dirty="0">
                <a:solidFill>
                  <a:srgbClr val="000000"/>
                </a:solidFill>
              </a:rPr>
              <a:t>CSS</a:t>
            </a:r>
            <a:r>
              <a:rPr lang="zh-CN" altLang="en-US" sz="2400" dirty="0">
                <a:solidFill>
                  <a:srgbClr val="000000"/>
                </a:solidFill>
              </a:rPr>
              <a:t>修饰页面，重新设计页面。</a:t>
            </a:r>
            <a:endParaRPr lang="zh-CN" altLang="en-US" sz="2400" dirty="0">
              <a:solidFill>
                <a:srgbClr val="000000"/>
              </a:solidFill>
            </a:endParaRPr>
          </a:p>
        </p:txBody>
      </p:sp>
      <p:pic>
        <p:nvPicPr>
          <p:cNvPr id="5" name="图片 4"/>
          <p:cNvPicPr>
            <a:picLocks noChangeAspect="1"/>
          </p:cNvPicPr>
          <p:nvPr/>
        </p:nvPicPr>
        <p:blipFill>
          <a:blip r:embed="rId1"/>
          <a:stretch>
            <a:fillRect/>
          </a:stretch>
        </p:blipFill>
        <p:spPr>
          <a:xfrm>
            <a:off x="406400" y="3041650"/>
            <a:ext cx="4176713" cy="3124200"/>
          </a:xfrm>
          <a:prstGeom prst="rect">
            <a:avLst/>
          </a:prstGeom>
          <a:effectLst>
            <a:outerShdw blurRad="63500" sx="102000" sy="102000" algn="ctr" rotWithShape="0">
              <a:prstClr val="black">
                <a:alpha val="40000"/>
              </a:prstClr>
            </a:outerShdw>
          </a:effectLst>
        </p:spPr>
      </p:pic>
      <p:pic>
        <p:nvPicPr>
          <p:cNvPr id="7" name="图片 6"/>
          <p:cNvPicPr>
            <a:picLocks noChangeAspect="1"/>
          </p:cNvPicPr>
          <p:nvPr/>
        </p:nvPicPr>
        <p:blipFill>
          <a:blip r:embed="rId2"/>
          <a:stretch>
            <a:fillRect/>
          </a:stretch>
        </p:blipFill>
        <p:spPr>
          <a:xfrm>
            <a:off x="4787900" y="3036888"/>
            <a:ext cx="4194175" cy="3128963"/>
          </a:xfrm>
          <a:prstGeom prst="rect">
            <a:avLst/>
          </a:prstGeom>
          <a:effectLst>
            <a:outerShdw blurRad="63500" sx="102000" sy="102000" algn="ctr" rotWithShape="0">
              <a:prstClr val="black">
                <a:alpha val="40000"/>
              </a:prstClr>
            </a:outerShdw>
          </a:effectLst>
        </p:spPr>
      </p:pic>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200" baseline="0" dirty="0">
                <a:latin typeface="Times New Roman" panose="02020603050405020304" pitchFamily="18" charset="0"/>
                <a:ea typeface="黑体" panose="02010609060101010101" pitchFamily="49" charset="-122"/>
                <a:cs typeface="+mj-cs"/>
              </a:rPr>
              <a:t>2.2.3  </a:t>
            </a:r>
            <a:r>
              <a:rPr lang="zh-CN" altLang="en-US" sz="3200" baseline="0" dirty="0">
                <a:latin typeface="Times New Roman" panose="02020603050405020304" pitchFamily="18" charset="0"/>
                <a:ea typeface="黑体" panose="02010609060101010101" pitchFamily="49" charset="-122"/>
                <a:cs typeface="+mj-cs"/>
              </a:rPr>
              <a:t>案例</a:t>
            </a:r>
            <a:r>
              <a:rPr lang="en-US" altLang="zh-CN" sz="3200" baseline="0" dirty="0">
                <a:latin typeface="Times New Roman" panose="02020603050405020304" pitchFamily="18" charset="0"/>
                <a:ea typeface="黑体" panose="02010609060101010101" pitchFamily="49" charset="-122"/>
                <a:cs typeface="+mj-cs"/>
              </a:rPr>
              <a:t>——</a:t>
            </a:r>
            <a:r>
              <a:rPr lang="zh-CN" altLang="en-US" sz="3200" baseline="0" dirty="0">
                <a:latin typeface="Times New Roman" panose="02020603050405020304" pitchFamily="18" charset="0"/>
                <a:ea typeface="黑体" panose="02010609060101010101" pitchFamily="49" charset="-122"/>
                <a:cs typeface="+mj-cs"/>
              </a:rPr>
              <a:t>利用</a:t>
            </a:r>
            <a:r>
              <a:rPr lang="en-US" altLang="zh-CN" sz="3200" baseline="0" dirty="0">
                <a:latin typeface="Times New Roman" panose="02020603050405020304" pitchFamily="18" charset="0"/>
                <a:ea typeface="黑体" panose="02010609060101010101" pitchFamily="49" charset="-122"/>
                <a:cs typeface="+mj-cs"/>
              </a:rPr>
              <a:t>CSS</a:t>
            </a:r>
            <a:r>
              <a:rPr lang="zh-CN" altLang="en-US" sz="3200" baseline="0" dirty="0">
                <a:latin typeface="Times New Roman" panose="02020603050405020304" pitchFamily="18" charset="0"/>
                <a:ea typeface="黑体" panose="02010609060101010101" pitchFamily="49" charset="-122"/>
                <a:cs typeface="+mj-cs"/>
              </a:rPr>
              <a:t>对注册页面实现修饰</a:t>
            </a:r>
            <a:endParaRPr lang="zh-CN" altLang="en-US" sz="3200" baseline="0" dirty="0">
              <a:latin typeface="Times New Roman" panose="02020603050405020304" pitchFamily="18" charset="0"/>
              <a:ea typeface="黑体" panose="02010609060101010101" pitchFamily="49" charset="-122"/>
              <a:cs typeface="+mj-cs"/>
            </a:endParaRPr>
          </a:p>
        </p:txBody>
      </p:sp>
      <p:sp>
        <p:nvSpPr>
          <p:cNvPr id="7782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dirty="0">
                <a:solidFill>
                  <a:srgbClr val="000000"/>
                </a:solidFill>
              </a:rPr>
              <a:t>【</a:t>
            </a:r>
            <a:r>
              <a:rPr lang="zh-CN" altLang="en-US" dirty="0">
                <a:solidFill>
                  <a:srgbClr val="000000"/>
                </a:solidFill>
              </a:rPr>
              <a:t>分析</a:t>
            </a:r>
            <a:r>
              <a:rPr lang="en-US" altLang="zh-CN" dirty="0">
                <a:solidFill>
                  <a:srgbClr val="000000"/>
                </a:solidFill>
              </a:rPr>
              <a:t>】</a:t>
            </a:r>
            <a:endParaRPr lang="en-US" altLang="zh-CN"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为了便于理解其设计过程，这里采用分</a:t>
            </a:r>
            <a:r>
              <a:rPr lang="en-US" altLang="zh-CN" sz="2800" dirty="0">
                <a:solidFill>
                  <a:srgbClr val="000000"/>
                </a:solidFill>
              </a:rPr>
              <a:t>3</a:t>
            </a:r>
            <a:r>
              <a:rPr lang="zh-CN" altLang="en-US" sz="2800" dirty="0">
                <a:solidFill>
                  <a:srgbClr val="000000"/>
                </a:solidFill>
              </a:rPr>
              <a:t>步实现，逐渐完善设计：</a:t>
            </a:r>
            <a:endParaRPr lang="zh-CN" altLang="en-US" sz="2800" dirty="0">
              <a:solidFill>
                <a:srgbClr val="000000"/>
              </a:solidFill>
            </a:endParaRPr>
          </a:p>
          <a:p>
            <a:pPr marL="0" indent="0">
              <a:buNone/>
            </a:pPr>
            <a:r>
              <a:rPr lang="zh-CN" altLang="en-US" sz="2800" dirty="0">
                <a:solidFill>
                  <a:srgbClr val="000000"/>
                </a:solidFill>
              </a:rPr>
              <a:t>第</a:t>
            </a:r>
            <a:r>
              <a:rPr lang="en-US" altLang="zh-CN" sz="2800" dirty="0">
                <a:solidFill>
                  <a:srgbClr val="000000"/>
                </a:solidFill>
              </a:rPr>
              <a:t>1</a:t>
            </a:r>
            <a:r>
              <a:rPr lang="zh-CN" altLang="en-US" sz="2800" dirty="0">
                <a:solidFill>
                  <a:srgbClr val="000000"/>
                </a:solidFill>
              </a:rPr>
              <a:t>步：按所给出的原始界面，设计</a:t>
            </a:r>
            <a:r>
              <a:rPr lang="en-US" altLang="zh-CN" sz="2800" dirty="0">
                <a:solidFill>
                  <a:srgbClr val="000000"/>
                </a:solidFill>
              </a:rPr>
              <a:t>HTML</a:t>
            </a:r>
            <a:r>
              <a:rPr lang="zh-CN" altLang="en-US" sz="2800" dirty="0">
                <a:solidFill>
                  <a:srgbClr val="000000"/>
                </a:solidFill>
              </a:rPr>
              <a:t>文档：</a:t>
            </a:r>
            <a:r>
              <a:rPr lang="en-US" altLang="zh-CN" sz="2800" dirty="0">
                <a:solidFill>
                  <a:srgbClr val="000000"/>
                </a:solidFill>
              </a:rPr>
              <a:t>ch02_9_1_register.html</a:t>
            </a:r>
            <a:r>
              <a:rPr lang="zh-CN" altLang="en-US" sz="2800" dirty="0">
                <a:solidFill>
                  <a:srgbClr val="000000"/>
                </a:solidFill>
              </a:rPr>
              <a:t>；</a:t>
            </a:r>
            <a:endParaRPr lang="en-US" altLang="zh-CN" sz="2800" dirty="0">
              <a:solidFill>
                <a:srgbClr val="000000"/>
              </a:solidFill>
            </a:endParaRPr>
          </a:p>
          <a:p>
            <a:pPr marL="0" indent="0">
              <a:buNone/>
            </a:pPr>
            <a:r>
              <a:rPr lang="zh-CN" altLang="en-US" sz="2800" dirty="0">
                <a:solidFill>
                  <a:srgbClr val="000000"/>
                </a:solidFill>
              </a:rPr>
              <a:t>第</a:t>
            </a:r>
            <a:r>
              <a:rPr lang="en-US" altLang="zh-CN" sz="2800" dirty="0">
                <a:solidFill>
                  <a:srgbClr val="000000"/>
                </a:solidFill>
              </a:rPr>
              <a:t>2</a:t>
            </a:r>
            <a:r>
              <a:rPr lang="zh-CN" altLang="en-US" sz="2800" dirty="0">
                <a:solidFill>
                  <a:srgbClr val="000000"/>
                </a:solidFill>
              </a:rPr>
              <a:t>步：设计</a:t>
            </a:r>
            <a:r>
              <a:rPr lang="en-US" altLang="zh-CN" sz="2800" dirty="0">
                <a:solidFill>
                  <a:srgbClr val="000000"/>
                </a:solidFill>
              </a:rPr>
              <a:t>CSS</a:t>
            </a:r>
            <a:r>
              <a:rPr lang="zh-CN" altLang="en-US" sz="2800" dirty="0">
                <a:solidFill>
                  <a:srgbClr val="000000"/>
                </a:solidFill>
              </a:rPr>
              <a:t>文档：</a:t>
            </a:r>
            <a:r>
              <a:rPr lang="en-US" altLang="zh-CN" sz="2800" dirty="0">
                <a:solidFill>
                  <a:srgbClr val="000000"/>
                </a:solidFill>
              </a:rPr>
              <a:t>ch02_9_Css.css </a:t>
            </a:r>
            <a:r>
              <a:rPr lang="zh-CN" altLang="en-US" sz="2800" dirty="0">
                <a:solidFill>
                  <a:srgbClr val="000000"/>
                </a:solidFill>
              </a:rPr>
              <a:t>，在该文档中包含所需要的格式控制，从而形成修饰后的页面。</a:t>
            </a:r>
            <a:endParaRPr lang="zh-CN" altLang="en-US" sz="2800" dirty="0">
              <a:solidFill>
                <a:srgbClr val="000000"/>
              </a:solidFill>
            </a:endParaRPr>
          </a:p>
          <a:p>
            <a:pPr marL="0" indent="0">
              <a:buNone/>
            </a:pPr>
            <a:r>
              <a:rPr lang="zh-CN" altLang="en-US" sz="2800" dirty="0">
                <a:solidFill>
                  <a:srgbClr val="000000"/>
                </a:solidFill>
              </a:rPr>
              <a:t>第</a:t>
            </a:r>
            <a:r>
              <a:rPr lang="en-US" altLang="zh-CN" sz="2800" dirty="0">
                <a:solidFill>
                  <a:srgbClr val="000000"/>
                </a:solidFill>
              </a:rPr>
              <a:t>3</a:t>
            </a:r>
            <a:r>
              <a:rPr lang="zh-CN" altLang="en-US" sz="2800" dirty="0">
                <a:solidFill>
                  <a:srgbClr val="000000"/>
                </a:solidFill>
              </a:rPr>
              <a:t>步：利用</a:t>
            </a:r>
            <a:r>
              <a:rPr lang="en-US" altLang="zh-CN" sz="2800" dirty="0">
                <a:solidFill>
                  <a:srgbClr val="000000"/>
                </a:solidFill>
              </a:rPr>
              <a:t>ch02_9_Css.css</a:t>
            </a:r>
            <a:r>
              <a:rPr lang="zh-CN" altLang="en-US" sz="2800" dirty="0">
                <a:solidFill>
                  <a:srgbClr val="000000"/>
                </a:solidFill>
              </a:rPr>
              <a:t>中定义的样式，重新设计</a:t>
            </a:r>
            <a:r>
              <a:rPr lang="en-US" altLang="zh-CN" sz="2800" dirty="0">
                <a:solidFill>
                  <a:srgbClr val="000000"/>
                </a:solidFill>
              </a:rPr>
              <a:t>ch02_9_1_register.html</a:t>
            </a:r>
            <a:r>
              <a:rPr lang="zh-CN" altLang="en-US" sz="2800" dirty="0">
                <a:solidFill>
                  <a:srgbClr val="000000"/>
                </a:solidFill>
              </a:rPr>
              <a:t>，形成新网页</a:t>
            </a:r>
            <a:r>
              <a:rPr lang="en-US" altLang="zh-CN" sz="2800" dirty="0">
                <a:solidFill>
                  <a:srgbClr val="000000"/>
                </a:solidFill>
              </a:rPr>
              <a:t>ch02_9_2_registerCss.html</a:t>
            </a:r>
            <a:r>
              <a:rPr lang="zh-CN" altLang="en-US" sz="2800" dirty="0">
                <a:solidFill>
                  <a:srgbClr val="000000"/>
                </a:solidFill>
              </a:rPr>
              <a:t>。</a:t>
            </a:r>
            <a:endParaRPr lang="en-US" altLang="zh-CN" sz="2800" dirty="0">
              <a:solidFill>
                <a:srgbClr val="000000"/>
              </a:solidFill>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  JavaScript</a:t>
            </a:r>
            <a:r>
              <a:rPr lang="zh-CN" altLang="en-US" baseline="0" dirty="0">
                <a:latin typeface="Times New Roman" panose="02020603050405020304" pitchFamily="18" charset="0"/>
                <a:ea typeface="黑体" panose="02010609060101010101" pitchFamily="49" charset="-122"/>
                <a:cs typeface="+mj-cs"/>
              </a:rPr>
              <a:t>脚本语言</a:t>
            </a:r>
            <a:endParaRPr lang="zh-CN" altLang="en-US" baseline="0" dirty="0">
              <a:latin typeface="Times New Roman" panose="02020603050405020304" pitchFamily="18" charset="0"/>
              <a:ea typeface="黑体" panose="02010609060101010101" pitchFamily="49" charset="-122"/>
              <a:cs typeface="+mj-cs"/>
            </a:endParaRPr>
          </a:p>
        </p:txBody>
      </p:sp>
      <p:sp>
        <p:nvSpPr>
          <p:cNvPr id="7885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JavaScript</a:t>
            </a:r>
            <a:r>
              <a:rPr lang="zh-CN" altLang="en-US" sz="2800" dirty="0">
                <a:solidFill>
                  <a:srgbClr val="000000"/>
                </a:solidFill>
              </a:rPr>
              <a:t>是一种脚本语言，可以在浏览器中直接运行，是一种在浏览器端实现网页与客户交互的技术。</a:t>
            </a:r>
            <a:endParaRPr lang="zh-CN" altLang="en-US" sz="2800" dirty="0">
              <a:solidFill>
                <a:srgbClr val="000000"/>
              </a:solidFill>
            </a:endParaRPr>
          </a:p>
          <a:p>
            <a:pPr marL="0" indent="0">
              <a:buNone/>
            </a:pPr>
            <a:r>
              <a:rPr lang="en-US" altLang="zh-CN" sz="2800" dirty="0">
                <a:solidFill>
                  <a:srgbClr val="000000"/>
                </a:solidFill>
              </a:rPr>
              <a:t>     JavaScript</a:t>
            </a:r>
            <a:r>
              <a:rPr lang="zh-CN" altLang="en-US" sz="2800" dirty="0">
                <a:solidFill>
                  <a:srgbClr val="000000"/>
                </a:solidFill>
              </a:rPr>
              <a:t>代码可以直接嵌套在</a:t>
            </a:r>
            <a:r>
              <a:rPr lang="en-US" altLang="zh-CN" sz="2800" dirty="0">
                <a:solidFill>
                  <a:srgbClr val="000000"/>
                </a:solidFill>
              </a:rPr>
              <a:t>HTML</a:t>
            </a:r>
            <a:r>
              <a:rPr lang="zh-CN" altLang="en-US" sz="2800" dirty="0">
                <a:solidFill>
                  <a:srgbClr val="000000"/>
                </a:solidFill>
              </a:rPr>
              <a:t>网页中，它响应一系列的事件，当一个</a:t>
            </a:r>
            <a:r>
              <a:rPr lang="en-US" altLang="zh-CN" sz="2800" dirty="0">
                <a:solidFill>
                  <a:srgbClr val="000000"/>
                </a:solidFill>
              </a:rPr>
              <a:t>JavaScript</a:t>
            </a:r>
            <a:r>
              <a:rPr lang="zh-CN" altLang="en-US" sz="2800" dirty="0">
                <a:solidFill>
                  <a:srgbClr val="000000"/>
                </a:solidFill>
              </a:rPr>
              <a:t>函数响应的动作发生时，浏览器就执行对应的</a:t>
            </a:r>
            <a:r>
              <a:rPr lang="en-US" altLang="zh-CN" sz="2800" dirty="0">
                <a:solidFill>
                  <a:srgbClr val="000000"/>
                </a:solidFill>
              </a:rPr>
              <a:t>JavaScript</a:t>
            </a:r>
            <a:r>
              <a:rPr lang="zh-CN" altLang="en-US" sz="2800" dirty="0">
                <a:solidFill>
                  <a:srgbClr val="000000"/>
                </a:solidFill>
              </a:rPr>
              <a:t>代码。</a:t>
            </a:r>
            <a:endParaRPr lang="en-US" altLang="zh-CN" sz="2800" dirty="0">
              <a:solidFill>
                <a:srgbClr val="000000"/>
              </a:solidFill>
            </a:endParaRPr>
          </a:p>
          <a:p>
            <a:pPr marL="0" indent="0">
              <a:buNone/>
            </a:pPr>
            <a:endParaRPr lang="en-US" altLang="zh-CN" sz="2800" dirty="0">
              <a:solidFill>
                <a:srgbClr val="000000"/>
              </a:solidFill>
            </a:endParaRPr>
          </a:p>
          <a:p>
            <a:pPr marL="0" indent="0">
              <a:buNone/>
            </a:pPr>
            <a:r>
              <a:rPr lang="zh-CN" altLang="en-US" sz="2800" dirty="0">
                <a:solidFill>
                  <a:srgbClr val="FF0000"/>
                </a:solidFill>
              </a:rPr>
              <a:t>本节内容：</a:t>
            </a:r>
            <a:endParaRPr lang="en-US" altLang="zh-CN" sz="2800" dirty="0">
              <a:solidFill>
                <a:srgbClr val="FF0000"/>
              </a:solidFill>
            </a:endParaRPr>
          </a:p>
          <a:p>
            <a:pPr marL="0" indent="0">
              <a:buNone/>
            </a:pPr>
            <a:r>
              <a:rPr lang="zh-CN" altLang="en-US" sz="2400" dirty="0">
                <a:solidFill>
                  <a:srgbClr val="000000"/>
                </a:solidFill>
              </a:rPr>
              <a:t>      </a:t>
            </a:r>
            <a:r>
              <a:rPr lang="en-US" altLang="zh-CN" sz="2400" dirty="0">
                <a:solidFill>
                  <a:srgbClr val="000000"/>
                </a:solidFill>
              </a:rPr>
              <a:t>2.3.1  JavaScript</a:t>
            </a:r>
            <a:r>
              <a:rPr lang="zh-CN" altLang="en-US" sz="2400" dirty="0">
                <a:solidFill>
                  <a:srgbClr val="000000"/>
                </a:solidFill>
              </a:rPr>
              <a:t>的基本语法</a:t>
            </a:r>
            <a:endParaRPr lang="zh-CN" altLang="en-US" sz="2400" dirty="0">
              <a:solidFill>
                <a:srgbClr val="000000"/>
              </a:solidFill>
            </a:endParaRPr>
          </a:p>
          <a:p>
            <a:pPr marL="0" indent="0">
              <a:buNone/>
            </a:pPr>
            <a:r>
              <a:rPr lang="zh-CN" altLang="en-US" sz="2400" dirty="0">
                <a:solidFill>
                  <a:srgbClr val="000000"/>
                </a:solidFill>
              </a:rPr>
              <a:t>      </a:t>
            </a:r>
            <a:r>
              <a:rPr lang="en-US" altLang="zh-CN" sz="2400" dirty="0">
                <a:solidFill>
                  <a:srgbClr val="000000"/>
                </a:solidFill>
              </a:rPr>
              <a:t>2.3.2  JavaScript</a:t>
            </a:r>
            <a:r>
              <a:rPr lang="zh-CN" altLang="en-US" sz="2400" dirty="0">
                <a:solidFill>
                  <a:srgbClr val="000000"/>
                </a:solidFill>
              </a:rPr>
              <a:t>的事件</a:t>
            </a:r>
            <a:endParaRPr lang="zh-CN" altLang="en-US" sz="2400" dirty="0">
              <a:solidFill>
                <a:srgbClr val="000000"/>
              </a:solidFill>
            </a:endParaRPr>
          </a:p>
          <a:p>
            <a:pPr marL="0" indent="0">
              <a:buNone/>
            </a:pPr>
            <a:r>
              <a:rPr lang="zh-CN" altLang="en-US" sz="2400" dirty="0">
                <a:solidFill>
                  <a:srgbClr val="000000"/>
                </a:solidFill>
              </a:rPr>
              <a:t>      </a:t>
            </a:r>
            <a:r>
              <a:rPr lang="en-US" altLang="zh-CN" sz="2400" dirty="0">
                <a:solidFill>
                  <a:srgbClr val="000000"/>
                </a:solidFill>
              </a:rPr>
              <a:t>2.3.3  JavaScript</a:t>
            </a:r>
            <a:r>
              <a:rPr lang="zh-CN" altLang="en-US" sz="2400" dirty="0">
                <a:solidFill>
                  <a:srgbClr val="000000"/>
                </a:solidFill>
              </a:rPr>
              <a:t>的对象</a:t>
            </a:r>
            <a:endParaRPr lang="zh-CN" altLang="en-US" sz="2400" dirty="0">
              <a:solidFill>
                <a:srgbClr val="000000"/>
              </a:solidFill>
            </a:endParaRPr>
          </a:p>
          <a:p>
            <a:pPr marL="0" indent="0">
              <a:buNone/>
            </a:pPr>
            <a:r>
              <a:rPr lang="zh-CN" altLang="en-US" sz="2400" dirty="0">
                <a:solidFill>
                  <a:srgbClr val="000000"/>
                </a:solidFill>
              </a:rPr>
              <a:t>      </a:t>
            </a:r>
            <a:r>
              <a:rPr lang="en-US" altLang="zh-CN" sz="2400" dirty="0">
                <a:solidFill>
                  <a:srgbClr val="000000"/>
                </a:solidFill>
              </a:rPr>
              <a:t>2.3.4  </a:t>
            </a:r>
            <a:r>
              <a:rPr lang="zh-CN" altLang="en-US" sz="2400" dirty="0">
                <a:solidFill>
                  <a:srgbClr val="000000"/>
                </a:solidFill>
              </a:rPr>
              <a:t>案例</a:t>
            </a:r>
            <a:r>
              <a:rPr lang="en-US" altLang="zh-CN" sz="2400" dirty="0">
                <a:solidFill>
                  <a:srgbClr val="000000"/>
                </a:solidFill>
              </a:rPr>
              <a:t>——JavaScript</a:t>
            </a:r>
            <a:r>
              <a:rPr lang="zh-CN" altLang="en-US" sz="2400" dirty="0">
                <a:solidFill>
                  <a:srgbClr val="000000"/>
                </a:solidFill>
              </a:rPr>
              <a:t>实现输入验证实现输入验证</a:t>
            </a:r>
            <a:endParaRPr lang="zh-CN" altLang="en-US" sz="2400" dirty="0">
              <a:solidFill>
                <a:srgbClr val="000000"/>
              </a:solidFill>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2.3.1  JavaScript</a:t>
            </a:r>
            <a:r>
              <a:rPr lang="zh-CN" altLang="en-US" baseline="0" dirty="0">
                <a:latin typeface="Times New Roman" panose="02020603050405020304" pitchFamily="18" charset="0"/>
                <a:ea typeface="黑体" panose="02010609060101010101" pitchFamily="49" charset="-122"/>
                <a:cs typeface="+mj-cs"/>
              </a:rPr>
              <a:t>的基本语法 </a:t>
            </a:r>
            <a:endParaRPr lang="zh-CN" altLang="en-US" baseline="0" dirty="0">
              <a:latin typeface="Times New Roman" panose="02020603050405020304" pitchFamily="18" charset="0"/>
              <a:ea typeface="黑体" panose="02010609060101010101" pitchFamily="49" charset="-122"/>
              <a:cs typeface="+mj-cs"/>
            </a:endParaRPr>
          </a:p>
        </p:txBody>
      </p:sp>
      <p:sp>
        <p:nvSpPr>
          <p:cNvPr id="79874"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1.</a:t>
            </a:r>
            <a:r>
              <a:rPr lang="zh-CN" altLang="en-US" sz="2800" b="1" dirty="0">
                <a:solidFill>
                  <a:srgbClr val="0000FF"/>
                </a:solidFill>
              </a:rPr>
              <a:t> 数据类型</a:t>
            </a:r>
            <a:endParaRPr lang="zh-CN" altLang="en-US" sz="2800" b="1" dirty="0">
              <a:solidFill>
                <a:srgbClr val="0000FF"/>
              </a:solidFill>
            </a:endParaRPr>
          </a:p>
          <a:p>
            <a:pPr marL="0" indent="0">
              <a:buNone/>
            </a:pPr>
            <a:r>
              <a:rPr lang="en-US" altLang="zh-CN" sz="2400" dirty="0">
                <a:solidFill>
                  <a:srgbClr val="000000"/>
                </a:solidFill>
              </a:rPr>
              <a:t>      JavaStript</a:t>
            </a:r>
            <a:r>
              <a:rPr lang="zh-CN" altLang="en-US" sz="2400" dirty="0">
                <a:solidFill>
                  <a:srgbClr val="000000"/>
                </a:solidFill>
              </a:rPr>
              <a:t>有主要数据类型有：</a:t>
            </a:r>
            <a:r>
              <a:rPr lang="en-US" altLang="zh-CN" sz="2400" dirty="0">
                <a:solidFill>
                  <a:srgbClr val="000000"/>
                </a:solidFill>
              </a:rPr>
              <a:t>int</a:t>
            </a:r>
            <a:r>
              <a:rPr lang="zh-CN" altLang="en-US" sz="2400" dirty="0">
                <a:solidFill>
                  <a:srgbClr val="000000"/>
                </a:solidFill>
              </a:rPr>
              <a:t>、</a:t>
            </a:r>
            <a:r>
              <a:rPr lang="en-US" altLang="zh-CN" sz="2400" dirty="0">
                <a:solidFill>
                  <a:srgbClr val="000000"/>
                </a:solidFill>
              </a:rPr>
              <a:t>float</a:t>
            </a:r>
            <a:r>
              <a:rPr lang="zh-CN" altLang="en-US" sz="2400" dirty="0">
                <a:solidFill>
                  <a:srgbClr val="000000"/>
                </a:solidFill>
              </a:rPr>
              <a:t>、</a:t>
            </a:r>
            <a:r>
              <a:rPr lang="en-US" altLang="zh-CN" sz="2400" dirty="0">
                <a:solidFill>
                  <a:srgbClr val="000000"/>
                </a:solidFill>
              </a:rPr>
              <a:t>string</a:t>
            </a:r>
            <a:r>
              <a:rPr lang="zh-CN" altLang="en-US" sz="2400" dirty="0">
                <a:solidFill>
                  <a:srgbClr val="000000"/>
                </a:solidFill>
              </a:rPr>
              <a:t>（字符串）、</a:t>
            </a:r>
            <a:r>
              <a:rPr lang="en-US" altLang="zh-CN" sz="2400" dirty="0">
                <a:solidFill>
                  <a:srgbClr val="000000"/>
                </a:solidFill>
              </a:rPr>
              <a:t>boolean</a:t>
            </a:r>
            <a:r>
              <a:rPr lang="zh-CN" altLang="en-US" sz="2400" dirty="0">
                <a:solidFill>
                  <a:srgbClr val="000000"/>
                </a:solidFill>
              </a:rPr>
              <a:t>、</a:t>
            </a:r>
            <a:r>
              <a:rPr lang="en-US" altLang="zh-CN" sz="2400" dirty="0">
                <a:solidFill>
                  <a:srgbClr val="000000"/>
                </a:solidFill>
              </a:rPr>
              <a:t>null(</a:t>
            </a:r>
            <a:r>
              <a:rPr lang="zh-CN" altLang="en-US" sz="2400" dirty="0">
                <a:solidFill>
                  <a:srgbClr val="000000"/>
                </a:solidFill>
              </a:rPr>
              <a:t>空类型</a:t>
            </a:r>
            <a:r>
              <a:rPr lang="en-US" altLang="zh-CN" sz="2400" dirty="0">
                <a:solidFill>
                  <a:srgbClr val="000000"/>
                </a:solidFill>
              </a:rPr>
              <a:t>)</a:t>
            </a:r>
            <a:r>
              <a:rPr lang="zh-CN" altLang="en-US" sz="2400" dirty="0">
                <a:solidFill>
                  <a:srgbClr val="000000"/>
                </a:solidFill>
              </a:rPr>
              <a:t>。</a:t>
            </a:r>
            <a:endParaRPr lang="zh-CN" altLang="en-US" sz="2400" dirty="0">
              <a:solidFill>
                <a:srgbClr val="000000"/>
              </a:solidFill>
            </a:endParaRPr>
          </a:p>
          <a:p>
            <a:pPr marL="0" indent="0">
              <a:spcBef>
                <a:spcPct val="0"/>
              </a:spcBef>
              <a:buNone/>
            </a:pPr>
            <a:r>
              <a:rPr lang="en-US" altLang="zh-CN" sz="2800" b="1" dirty="0">
                <a:solidFill>
                  <a:srgbClr val="0000FF"/>
                </a:solidFill>
              </a:rPr>
              <a:t>2.</a:t>
            </a:r>
            <a:r>
              <a:rPr lang="zh-CN" altLang="en-US" sz="2800" b="1" dirty="0">
                <a:solidFill>
                  <a:srgbClr val="0000FF"/>
                </a:solidFill>
              </a:rPr>
              <a:t> 变量</a:t>
            </a:r>
            <a:endParaRPr lang="en-US" altLang="zh-CN" sz="2800" b="1" dirty="0">
              <a:solidFill>
                <a:srgbClr val="0000FF"/>
              </a:solidFill>
            </a:endParaRPr>
          </a:p>
          <a:p>
            <a:pPr marL="0" indent="0">
              <a:buNone/>
            </a:pPr>
            <a:r>
              <a:rPr lang="zh-CN" altLang="en-US" sz="2400" dirty="0">
                <a:solidFill>
                  <a:srgbClr val="000000"/>
                </a:solidFill>
              </a:rPr>
              <a:t>（</a:t>
            </a:r>
            <a:r>
              <a:rPr lang="en-US" altLang="zh-CN" sz="2400" dirty="0">
                <a:solidFill>
                  <a:srgbClr val="000000"/>
                </a:solidFill>
              </a:rPr>
              <a:t>1</a:t>
            </a:r>
            <a:r>
              <a:rPr lang="zh-CN" altLang="en-US" sz="2400" dirty="0">
                <a:solidFill>
                  <a:srgbClr val="000000"/>
                </a:solidFill>
              </a:rPr>
              <a:t>）变量声明，格式如下：</a:t>
            </a:r>
            <a:endParaRPr lang="zh-CN" altLang="en-US" sz="2400" dirty="0">
              <a:solidFill>
                <a:srgbClr val="000000"/>
              </a:solidFill>
            </a:endParaRPr>
          </a:p>
          <a:p>
            <a:pPr marL="0" indent="0">
              <a:buNone/>
            </a:pPr>
            <a:r>
              <a:rPr lang="en-US" altLang="zh-CN" sz="2400" dirty="0">
                <a:solidFill>
                  <a:srgbClr val="000000"/>
                </a:solidFill>
              </a:rPr>
              <a:t>       var </a:t>
            </a:r>
            <a:r>
              <a:rPr lang="zh-CN" altLang="en-US" sz="2400" dirty="0">
                <a:solidFill>
                  <a:srgbClr val="000000"/>
                </a:solidFill>
              </a:rPr>
              <a:t>变量名</a:t>
            </a:r>
            <a:r>
              <a:rPr lang="en-US" altLang="zh-CN" sz="2400" dirty="0">
                <a:solidFill>
                  <a:srgbClr val="000000"/>
                </a:solidFill>
              </a:rPr>
              <a:t>[=</a:t>
            </a:r>
            <a:r>
              <a:rPr lang="zh-CN" altLang="en-US" sz="2400" dirty="0">
                <a:solidFill>
                  <a:srgbClr val="000000"/>
                </a:solidFill>
              </a:rPr>
              <a:t>值</a:t>
            </a:r>
            <a:r>
              <a:rPr lang="en-US" altLang="zh-CN" sz="2400" dirty="0">
                <a:solidFill>
                  <a:srgbClr val="000000"/>
                </a:solidFill>
              </a:rPr>
              <a:t>];  (</a:t>
            </a:r>
            <a:r>
              <a:rPr lang="zh-CN" altLang="en-US" sz="2400" dirty="0">
                <a:solidFill>
                  <a:srgbClr val="000000"/>
                </a:solidFill>
              </a:rPr>
              <a:t>变量声明可以省略</a:t>
            </a:r>
            <a:r>
              <a:rPr lang="en-US" altLang="zh-CN" sz="2400" dirty="0">
                <a:solidFill>
                  <a:srgbClr val="000000"/>
                </a:solidFill>
              </a:rPr>
              <a:t>)</a:t>
            </a:r>
            <a:endParaRPr lang="en-US" altLang="zh-CN" sz="2400" dirty="0">
              <a:solidFill>
                <a:srgbClr val="000000"/>
              </a:solidFill>
            </a:endParaRPr>
          </a:p>
          <a:p>
            <a:pPr marL="0" indent="0">
              <a:buNone/>
            </a:pPr>
            <a:r>
              <a:rPr lang="zh-CN" altLang="en-US" sz="2400" dirty="0">
                <a:solidFill>
                  <a:srgbClr val="000000"/>
                </a:solidFill>
              </a:rPr>
              <a:t>（</a:t>
            </a:r>
            <a:r>
              <a:rPr lang="en-US" altLang="zh-CN" sz="2400" dirty="0">
                <a:solidFill>
                  <a:srgbClr val="000000"/>
                </a:solidFill>
              </a:rPr>
              <a:t>2</a:t>
            </a:r>
            <a:r>
              <a:rPr lang="zh-CN" altLang="en-US" sz="2400" dirty="0">
                <a:solidFill>
                  <a:srgbClr val="000000"/>
                </a:solidFill>
              </a:rPr>
              <a:t>）数组的声明：数组的声明有三种方式</a:t>
            </a:r>
            <a:endParaRPr lang="zh-CN" altLang="en-US" sz="2400" dirty="0">
              <a:solidFill>
                <a:srgbClr val="000000"/>
              </a:solidFill>
            </a:endParaRPr>
          </a:p>
          <a:p>
            <a:pPr marL="0" indent="0">
              <a:buNone/>
            </a:pPr>
            <a:r>
              <a:rPr lang="en-US" altLang="zh-CN" sz="2400" dirty="0">
                <a:solidFill>
                  <a:srgbClr val="000000"/>
                </a:solidFill>
              </a:rPr>
              <a:t>    var array1=new Array();       //array1</a:t>
            </a:r>
            <a:r>
              <a:rPr lang="zh-CN" altLang="en-US" sz="2400" dirty="0">
                <a:solidFill>
                  <a:srgbClr val="000000"/>
                </a:solidFill>
              </a:rPr>
              <a:t>是一个默认长度的数组</a:t>
            </a:r>
            <a:endParaRPr lang="zh-CN" altLang="en-US" sz="2400" dirty="0">
              <a:solidFill>
                <a:srgbClr val="000000"/>
              </a:solidFill>
            </a:endParaRPr>
          </a:p>
          <a:p>
            <a:pPr marL="0" indent="0">
              <a:buNone/>
            </a:pPr>
            <a:r>
              <a:rPr lang="en-US" altLang="zh-CN" sz="2400" dirty="0">
                <a:solidFill>
                  <a:srgbClr val="000000"/>
                </a:solidFill>
              </a:rPr>
              <a:t>    var array2=new Array(10);     //array2</a:t>
            </a:r>
            <a:r>
              <a:rPr lang="zh-CN" altLang="en-US" sz="2400" dirty="0">
                <a:solidFill>
                  <a:srgbClr val="000000"/>
                </a:solidFill>
              </a:rPr>
              <a:t>是长度为</a:t>
            </a:r>
            <a:r>
              <a:rPr lang="en-US" altLang="zh-CN" sz="2400" dirty="0">
                <a:solidFill>
                  <a:srgbClr val="000000"/>
                </a:solidFill>
              </a:rPr>
              <a:t>10</a:t>
            </a:r>
            <a:r>
              <a:rPr lang="zh-CN" altLang="en-US" sz="2400" dirty="0">
                <a:solidFill>
                  <a:srgbClr val="000000"/>
                </a:solidFill>
              </a:rPr>
              <a:t>的数组</a:t>
            </a:r>
            <a:endParaRPr lang="zh-CN" altLang="en-US" sz="2400" dirty="0">
              <a:solidFill>
                <a:srgbClr val="000000"/>
              </a:solidFill>
            </a:endParaRPr>
          </a:p>
          <a:p>
            <a:pPr marL="0" indent="0">
              <a:buNone/>
            </a:pPr>
            <a:r>
              <a:rPr lang="en-US" altLang="zh-CN" sz="2400" dirty="0">
                <a:solidFill>
                  <a:srgbClr val="000000"/>
                </a:solidFill>
              </a:rPr>
              <a:t>    var array3=new Array("aa",12,true); </a:t>
            </a:r>
            <a:endParaRPr lang="en-US" altLang="zh-CN" sz="2400" dirty="0">
              <a:solidFill>
                <a:srgbClr val="000000"/>
              </a:solidFill>
            </a:endParaRPr>
          </a:p>
          <a:p>
            <a:pPr marL="0" indent="0">
              <a:buNone/>
            </a:pPr>
            <a:r>
              <a:rPr lang="en-US" altLang="zh-CN" sz="2400" dirty="0">
                <a:solidFill>
                  <a:srgbClr val="000000"/>
                </a:solidFill>
              </a:rPr>
              <a:t>       //array1</a:t>
            </a:r>
            <a:r>
              <a:rPr lang="zh-CN" altLang="en-US" sz="2400" dirty="0">
                <a:solidFill>
                  <a:srgbClr val="000000"/>
                </a:solidFill>
              </a:rPr>
              <a:t>是一个长度为</a:t>
            </a:r>
            <a:r>
              <a:rPr lang="en-US" altLang="zh-CN" sz="2400" dirty="0">
                <a:solidFill>
                  <a:srgbClr val="000000"/>
                </a:solidFill>
              </a:rPr>
              <a:t>3</a:t>
            </a:r>
            <a:r>
              <a:rPr lang="zh-CN" altLang="en-US" sz="2400" dirty="0">
                <a:solidFill>
                  <a:srgbClr val="000000"/>
                </a:solidFill>
              </a:rPr>
              <a:t>的数组，且元素类型不同</a:t>
            </a:r>
            <a:endParaRPr lang="zh-CN" altLang="en-US" sz="2400" dirty="0">
              <a:solidFill>
                <a:srgbClr val="000000"/>
              </a:solidFill>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2.3.1  JavaScript</a:t>
            </a:r>
            <a:r>
              <a:rPr lang="zh-CN" altLang="en-US" baseline="0" dirty="0">
                <a:latin typeface="Times New Roman" panose="02020603050405020304" pitchFamily="18" charset="0"/>
                <a:ea typeface="黑体" panose="02010609060101010101" pitchFamily="49" charset="-122"/>
                <a:cs typeface="+mj-cs"/>
              </a:rPr>
              <a:t>的基本语法 </a:t>
            </a:r>
            <a:endParaRPr lang="zh-CN" altLang="en-US" baseline="0" dirty="0">
              <a:latin typeface="Times New Roman" panose="02020603050405020304" pitchFamily="18" charset="0"/>
              <a:ea typeface="黑体" panose="02010609060101010101" pitchFamily="49" charset="-122"/>
              <a:cs typeface="+mj-cs"/>
            </a:endParaRPr>
          </a:p>
        </p:txBody>
      </p:sp>
      <p:sp>
        <p:nvSpPr>
          <p:cNvPr id="80898"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3.</a:t>
            </a:r>
            <a:r>
              <a:rPr lang="zh-CN" altLang="en-US" sz="2800" b="1" dirty="0">
                <a:solidFill>
                  <a:srgbClr val="0000FF"/>
                </a:solidFill>
              </a:rPr>
              <a:t> 运算符</a:t>
            </a:r>
            <a:endParaRPr lang="zh-CN" altLang="en-US" sz="2800" b="1" dirty="0">
              <a:solidFill>
                <a:srgbClr val="0000FF"/>
              </a:solidFill>
            </a:endParaRPr>
          </a:p>
          <a:p>
            <a:pPr marL="0" indent="0">
              <a:buNone/>
            </a:pPr>
            <a:r>
              <a:rPr lang="zh-CN" altLang="en-US" sz="2400" dirty="0">
                <a:solidFill>
                  <a:srgbClr val="000000"/>
                </a:solidFill>
              </a:rPr>
              <a:t>        在</a:t>
            </a:r>
            <a:r>
              <a:rPr lang="en-US" altLang="zh-CN" sz="2400" dirty="0">
                <a:solidFill>
                  <a:srgbClr val="000000"/>
                </a:solidFill>
              </a:rPr>
              <a:t>JavaScript</a:t>
            </a:r>
            <a:r>
              <a:rPr lang="zh-CN" altLang="en-US" sz="2400" dirty="0">
                <a:solidFill>
                  <a:srgbClr val="000000"/>
                </a:solidFill>
              </a:rPr>
              <a:t>中提供了算术运算符、关系运算符、逻辑运算符、字符串运算符、位操作运算符、赋值运算符和条件运算符等运算符。这些运算符与</a:t>
            </a:r>
            <a:r>
              <a:rPr lang="en-US" altLang="zh-CN" sz="2400" dirty="0">
                <a:solidFill>
                  <a:srgbClr val="000000"/>
                </a:solidFill>
              </a:rPr>
              <a:t>Java</a:t>
            </a:r>
            <a:r>
              <a:rPr lang="zh-CN" altLang="en-US" sz="2400" dirty="0">
                <a:solidFill>
                  <a:srgbClr val="000000"/>
                </a:solidFill>
              </a:rPr>
              <a:t>语言中的支持的算符运算符及其功能相同。</a:t>
            </a:r>
            <a:endParaRPr lang="zh-CN" altLang="en-US" sz="2400" dirty="0">
              <a:solidFill>
                <a:srgbClr val="000000"/>
              </a:solidFill>
            </a:endParaRPr>
          </a:p>
          <a:p>
            <a:pPr marL="0" indent="0">
              <a:spcBef>
                <a:spcPct val="0"/>
              </a:spcBef>
              <a:buNone/>
            </a:pPr>
            <a:r>
              <a:rPr lang="en-US" altLang="zh-CN" sz="2800" b="1" dirty="0">
                <a:solidFill>
                  <a:srgbClr val="0000FF"/>
                </a:solidFill>
              </a:rPr>
              <a:t>4.</a:t>
            </a:r>
            <a:r>
              <a:rPr lang="zh-CN" altLang="en-US" sz="2800" b="1" dirty="0">
                <a:solidFill>
                  <a:srgbClr val="0000FF"/>
                </a:solidFill>
              </a:rPr>
              <a:t> 控制语句</a:t>
            </a:r>
            <a:endParaRPr lang="zh-CN" altLang="en-US" sz="2800" b="1" dirty="0">
              <a:solidFill>
                <a:srgbClr val="0000FF"/>
              </a:solidFill>
            </a:endParaRPr>
          </a:p>
          <a:p>
            <a:pPr marL="0" indent="0">
              <a:buNone/>
            </a:pPr>
            <a:r>
              <a:rPr lang="en-US" altLang="zh-CN" sz="2400" dirty="0">
                <a:solidFill>
                  <a:srgbClr val="000000"/>
                </a:solidFill>
              </a:rPr>
              <a:t>       JavaScript</a:t>
            </a:r>
            <a:r>
              <a:rPr lang="zh-CN" altLang="en-US" sz="2400" dirty="0">
                <a:solidFill>
                  <a:srgbClr val="000000"/>
                </a:solidFill>
              </a:rPr>
              <a:t>中的控制语句有：分支语句（</a:t>
            </a:r>
            <a:r>
              <a:rPr lang="en-US" altLang="zh-CN" sz="2400" dirty="0">
                <a:solidFill>
                  <a:srgbClr val="000000"/>
                </a:solidFill>
              </a:rPr>
              <a:t>if</a:t>
            </a:r>
            <a:r>
              <a:rPr lang="zh-CN" altLang="en-US" sz="2400" dirty="0">
                <a:solidFill>
                  <a:srgbClr val="000000"/>
                </a:solidFill>
              </a:rPr>
              <a:t>、</a:t>
            </a:r>
            <a:r>
              <a:rPr lang="en-US" altLang="zh-CN" sz="2400" dirty="0">
                <a:solidFill>
                  <a:srgbClr val="000000"/>
                </a:solidFill>
              </a:rPr>
              <a:t>switch</a:t>
            </a:r>
            <a:r>
              <a:rPr lang="zh-CN" altLang="en-US" sz="2400" dirty="0">
                <a:solidFill>
                  <a:srgbClr val="000000"/>
                </a:solidFill>
              </a:rPr>
              <a:t>），循环语句（</a:t>
            </a:r>
            <a:r>
              <a:rPr lang="en-US" altLang="zh-CN" sz="2400" dirty="0">
                <a:solidFill>
                  <a:srgbClr val="000000"/>
                </a:solidFill>
              </a:rPr>
              <a:t>while </a:t>
            </a:r>
            <a:r>
              <a:rPr lang="zh-CN" altLang="en-US" sz="2400" dirty="0">
                <a:solidFill>
                  <a:srgbClr val="000000"/>
                </a:solidFill>
              </a:rPr>
              <a:t>、</a:t>
            </a:r>
            <a:r>
              <a:rPr lang="en-US" altLang="zh-CN" sz="2400" dirty="0">
                <a:solidFill>
                  <a:srgbClr val="000000"/>
                </a:solidFill>
              </a:rPr>
              <a:t>do-while</a:t>
            </a:r>
            <a:r>
              <a:rPr lang="zh-CN" altLang="en-US" sz="2400" dirty="0">
                <a:solidFill>
                  <a:srgbClr val="000000"/>
                </a:solidFill>
              </a:rPr>
              <a:t>、</a:t>
            </a:r>
            <a:r>
              <a:rPr lang="en-US" altLang="zh-CN" sz="2400" dirty="0">
                <a:solidFill>
                  <a:srgbClr val="000000"/>
                </a:solidFill>
              </a:rPr>
              <a:t>for</a:t>
            </a:r>
            <a:r>
              <a:rPr lang="zh-CN" altLang="en-US" sz="2400" dirty="0">
                <a:solidFill>
                  <a:srgbClr val="000000"/>
                </a:solidFill>
              </a:rPr>
              <a:t>），这些语句的语法规则和使用与</a:t>
            </a:r>
            <a:r>
              <a:rPr lang="en-US" altLang="zh-CN" sz="2400" dirty="0">
                <a:solidFill>
                  <a:srgbClr val="000000"/>
                </a:solidFill>
              </a:rPr>
              <a:t>java</a:t>
            </a:r>
            <a:r>
              <a:rPr lang="zh-CN" altLang="en-US" sz="2400" dirty="0">
                <a:solidFill>
                  <a:srgbClr val="000000"/>
                </a:solidFill>
              </a:rPr>
              <a:t>语言中的要求一样。</a:t>
            </a:r>
            <a:endParaRPr lang="en-US" altLang="zh-CN" sz="2400" dirty="0">
              <a:solidFill>
                <a:srgbClr val="000000"/>
              </a:solidFill>
            </a:endParaRPr>
          </a:p>
          <a:p>
            <a:pPr marL="0" indent="0">
              <a:buNone/>
            </a:pPr>
            <a:endParaRPr lang="zh-CN" altLang="en-US" sz="2400" dirty="0">
              <a:solidFill>
                <a:srgbClr val="000000"/>
              </a:solidFill>
            </a:endParaRPr>
          </a:p>
          <a:p>
            <a:pPr marL="0" indent="0"/>
            <a:endParaRPr lang="zh-CN" altLang="en-US" dirty="0"/>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2.3.1  JavaScript</a:t>
            </a:r>
            <a:r>
              <a:rPr lang="zh-CN" altLang="en-US" baseline="0" dirty="0">
                <a:latin typeface="Times New Roman" panose="02020603050405020304" pitchFamily="18" charset="0"/>
                <a:ea typeface="黑体" panose="02010609060101010101" pitchFamily="49" charset="-122"/>
                <a:cs typeface="+mj-cs"/>
              </a:rPr>
              <a:t>的基本语法 </a:t>
            </a:r>
            <a:endParaRPr lang="zh-CN" altLang="en-US" baseline="0" dirty="0">
              <a:latin typeface="Times New Roman" panose="02020603050405020304" pitchFamily="18" charset="0"/>
              <a:ea typeface="黑体" panose="02010609060101010101" pitchFamily="49" charset="-122"/>
              <a:cs typeface="+mj-cs"/>
            </a:endParaRPr>
          </a:p>
        </p:txBody>
      </p:sp>
      <p:sp>
        <p:nvSpPr>
          <p:cNvPr id="81922"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5.</a:t>
            </a:r>
            <a:r>
              <a:rPr lang="zh-CN" altLang="en-US" sz="2800" b="1" dirty="0">
                <a:solidFill>
                  <a:srgbClr val="0000FF"/>
                </a:solidFill>
              </a:rPr>
              <a:t> 函数的定义和调用</a:t>
            </a:r>
            <a:endParaRPr lang="en-US" altLang="zh-CN" sz="2800" b="1" dirty="0">
              <a:solidFill>
                <a:srgbClr val="0000FF"/>
              </a:solidFill>
            </a:endParaRPr>
          </a:p>
          <a:p>
            <a:pPr marL="0" indent="0">
              <a:buNone/>
            </a:pPr>
            <a:r>
              <a:rPr lang="en-US" altLang="zh-CN" sz="2400" dirty="0">
                <a:solidFill>
                  <a:srgbClr val="000000"/>
                </a:solidFill>
              </a:rPr>
              <a:t>        </a:t>
            </a:r>
            <a:r>
              <a:rPr lang="zh-CN" altLang="en-US" sz="2800" dirty="0">
                <a:solidFill>
                  <a:srgbClr val="000000"/>
                </a:solidFill>
              </a:rPr>
              <a:t>在</a:t>
            </a:r>
            <a:r>
              <a:rPr lang="en-US" altLang="zh-CN" sz="2800" dirty="0">
                <a:solidFill>
                  <a:srgbClr val="000000"/>
                </a:solidFill>
              </a:rPr>
              <a:t>JavaScript</a:t>
            </a:r>
            <a:r>
              <a:rPr lang="zh-CN" altLang="en-US" sz="2800" dirty="0">
                <a:solidFill>
                  <a:srgbClr val="000000"/>
                </a:solidFill>
              </a:rPr>
              <a:t>中，函数需要先声明定义，然后再调用函数。</a:t>
            </a:r>
            <a:endParaRPr lang="zh-CN" altLang="en-US" sz="2800" dirty="0">
              <a:solidFill>
                <a:srgbClr val="000000"/>
              </a:solidFill>
            </a:endParaRPr>
          </a:p>
          <a:p>
            <a:pPr marL="0" indent="0">
              <a:buNone/>
            </a:pPr>
            <a:r>
              <a:rPr lang="zh-CN" altLang="en-US" sz="2800" dirty="0">
                <a:solidFill>
                  <a:srgbClr val="000000"/>
                </a:solidFill>
              </a:rPr>
              <a:t>      在</a:t>
            </a:r>
            <a:r>
              <a:rPr lang="en-US" altLang="zh-CN" sz="2800" dirty="0">
                <a:solidFill>
                  <a:srgbClr val="000000"/>
                </a:solidFill>
              </a:rPr>
              <a:t>JavaScript</a:t>
            </a:r>
            <a:r>
              <a:rPr lang="zh-CN" altLang="en-US" sz="2800" dirty="0">
                <a:solidFill>
                  <a:srgbClr val="000000"/>
                </a:solidFill>
              </a:rPr>
              <a:t>定义函数，有两种实现方式：</a:t>
            </a:r>
            <a:endParaRPr lang="en-US" altLang="zh-CN" sz="2800" dirty="0">
              <a:solidFill>
                <a:srgbClr val="000000"/>
              </a:solidFill>
            </a:endParaRPr>
          </a:p>
          <a:p>
            <a:pPr marL="0" indent="0">
              <a:buSzPct val="80000"/>
              <a:buFont typeface="Wingdings" panose="05000000000000000000" pitchFamily="2" charset="2"/>
              <a:buChar char="p"/>
            </a:pPr>
            <a:r>
              <a:rPr lang="zh-CN" altLang="en-US" sz="2800" dirty="0">
                <a:solidFill>
                  <a:srgbClr val="000000"/>
                </a:solidFill>
              </a:rPr>
              <a:t> 一是在</a:t>
            </a:r>
            <a:r>
              <a:rPr lang="en-US" altLang="zh-CN" sz="2800" dirty="0">
                <a:solidFill>
                  <a:srgbClr val="000000"/>
                </a:solidFill>
              </a:rPr>
              <a:t>Web</a:t>
            </a:r>
            <a:r>
              <a:rPr lang="zh-CN" altLang="en-US" sz="2800" dirty="0">
                <a:solidFill>
                  <a:srgbClr val="000000"/>
                </a:solidFill>
              </a:rPr>
              <a:t>页面中直接嵌入</a:t>
            </a:r>
            <a:r>
              <a:rPr lang="en-US" altLang="zh-CN" sz="2800" dirty="0">
                <a:solidFill>
                  <a:srgbClr val="000000"/>
                </a:solidFill>
              </a:rPr>
              <a:t>JavaScript</a:t>
            </a:r>
            <a:endParaRPr lang="en-US" altLang="zh-CN" sz="2800" dirty="0">
              <a:solidFill>
                <a:srgbClr val="000000"/>
              </a:solidFill>
            </a:endParaRPr>
          </a:p>
          <a:p>
            <a:pPr marL="0" indent="0">
              <a:buSzPct val="80000"/>
              <a:buNone/>
            </a:pPr>
            <a:r>
              <a:rPr lang="zh-CN" altLang="en-US" sz="2000" dirty="0">
                <a:solidFill>
                  <a:srgbClr val="000000"/>
                </a:solidFill>
              </a:rPr>
              <a:t>使用</a:t>
            </a:r>
            <a:r>
              <a:rPr lang="en-US" altLang="zh-CN" sz="2000" dirty="0">
                <a:solidFill>
                  <a:srgbClr val="000000"/>
                </a:solidFill>
              </a:rPr>
              <a:t>&lt;script&gt;…&lt;/script&gt;</a:t>
            </a:r>
            <a:r>
              <a:rPr lang="zh-CN" altLang="en-US" sz="2000" dirty="0">
                <a:solidFill>
                  <a:srgbClr val="000000"/>
                </a:solidFill>
              </a:rPr>
              <a:t>标签对封装代码，须放在</a:t>
            </a:r>
            <a:r>
              <a:rPr lang="en-US" altLang="zh-CN" sz="2000" dirty="0">
                <a:solidFill>
                  <a:srgbClr val="000000"/>
                </a:solidFill>
              </a:rPr>
              <a:t>&lt;head&gt;…&lt;/head&gt;</a:t>
            </a:r>
            <a:r>
              <a:rPr lang="zh-CN" altLang="en-US" sz="2000" dirty="0">
                <a:solidFill>
                  <a:srgbClr val="000000"/>
                </a:solidFill>
              </a:rPr>
              <a:t>之间：</a:t>
            </a:r>
            <a:endParaRPr lang="en-US" altLang="zh-CN" sz="2000" dirty="0">
              <a:solidFill>
                <a:srgbClr val="000000"/>
              </a:solidFill>
            </a:endParaRPr>
          </a:p>
          <a:p>
            <a:pPr marL="0" indent="0">
              <a:buSzPct val="80000"/>
              <a:buNone/>
            </a:pPr>
            <a:r>
              <a:rPr lang="en-US" altLang="zh-CN" sz="2000" dirty="0">
                <a:solidFill>
                  <a:srgbClr val="000000"/>
                </a:solidFill>
              </a:rPr>
              <a:t>&lt;head&gt;</a:t>
            </a:r>
            <a:endParaRPr lang="en-US" altLang="zh-CN" sz="2000" dirty="0">
              <a:solidFill>
                <a:srgbClr val="000000"/>
              </a:solidFill>
            </a:endParaRPr>
          </a:p>
          <a:p>
            <a:pPr marL="0" indent="0">
              <a:buSzPct val="80000"/>
              <a:buNone/>
            </a:pPr>
            <a:r>
              <a:rPr lang="en-US" altLang="zh-CN" sz="2000" dirty="0">
                <a:solidFill>
                  <a:srgbClr val="000000"/>
                </a:solidFill>
              </a:rPr>
              <a:t>	&lt;script language=“javascript”&gt;</a:t>
            </a:r>
            <a:endParaRPr lang="en-US" altLang="zh-CN" sz="2000" dirty="0">
              <a:solidFill>
                <a:srgbClr val="000000"/>
              </a:solidFill>
            </a:endParaRPr>
          </a:p>
          <a:p>
            <a:pPr marL="0" indent="0">
              <a:buSzPct val="80000"/>
              <a:buNone/>
            </a:pPr>
            <a:r>
              <a:rPr lang="en-US" altLang="zh-CN" sz="2000" dirty="0">
                <a:solidFill>
                  <a:srgbClr val="000000"/>
                </a:solidFill>
              </a:rPr>
              <a:t>		function test(){</a:t>
            </a:r>
            <a:endParaRPr lang="en-US" altLang="zh-CN" sz="2000" dirty="0">
              <a:solidFill>
                <a:srgbClr val="000000"/>
              </a:solidFill>
            </a:endParaRPr>
          </a:p>
          <a:p>
            <a:pPr marL="0" indent="0">
              <a:buSzPct val="80000"/>
              <a:buNone/>
            </a:pPr>
            <a:r>
              <a:rPr lang="en-US" altLang="zh-CN" sz="2000" dirty="0">
                <a:solidFill>
                  <a:srgbClr val="000000"/>
                </a:solidFill>
              </a:rPr>
              <a:t>			window.alert(“</a:t>
            </a:r>
            <a:r>
              <a:rPr lang="zh-CN" altLang="en-US" sz="2000" dirty="0">
                <a:solidFill>
                  <a:srgbClr val="000000"/>
                </a:solidFill>
              </a:rPr>
              <a:t>事件成功引发！</a:t>
            </a:r>
            <a:r>
              <a:rPr lang="en-US" altLang="zh-CN" sz="2000" dirty="0">
                <a:solidFill>
                  <a:srgbClr val="000000"/>
                </a:solidFill>
              </a:rPr>
              <a:t>”);</a:t>
            </a:r>
            <a:endParaRPr lang="en-US" altLang="zh-CN" sz="2000" dirty="0">
              <a:solidFill>
                <a:srgbClr val="000000"/>
              </a:solidFill>
            </a:endParaRPr>
          </a:p>
          <a:p>
            <a:pPr marL="0" indent="0">
              <a:buSzPct val="80000"/>
              <a:buNone/>
            </a:pPr>
            <a:r>
              <a:rPr lang="en-US" altLang="zh-CN" sz="2000" dirty="0">
                <a:solidFill>
                  <a:srgbClr val="000000"/>
                </a:solidFill>
              </a:rPr>
              <a:t>		}</a:t>
            </a:r>
            <a:endParaRPr lang="en-US" altLang="zh-CN" sz="2000" dirty="0">
              <a:solidFill>
                <a:srgbClr val="000000"/>
              </a:solidFill>
            </a:endParaRPr>
          </a:p>
          <a:p>
            <a:pPr marL="0" indent="0">
              <a:buSzPct val="80000"/>
              <a:buNone/>
            </a:pPr>
            <a:r>
              <a:rPr lang="en-US" altLang="zh-CN" sz="2000" dirty="0">
                <a:solidFill>
                  <a:srgbClr val="000000"/>
                </a:solidFill>
              </a:rPr>
              <a:t>	&lt;/script&gt;</a:t>
            </a:r>
            <a:endParaRPr lang="en-US" altLang="zh-CN" sz="2000" dirty="0">
              <a:solidFill>
                <a:srgbClr val="000000"/>
              </a:solidFill>
            </a:endParaRPr>
          </a:p>
          <a:p>
            <a:pPr marL="0" indent="0">
              <a:buSzPct val="80000"/>
              <a:buNone/>
            </a:pPr>
            <a:r>
              <a:rPr lang="en-US" altLang="zh-CN" sz="2000" dirty="0">
                <a:solidFill>
                  <a:srgbClr val="000000"/>
                </a:solidFill>
              </a:rPr>
              <a:t>&lt;/head&gt;</a:t>
            </a:r>
            <a:endParaRPr lang="en-US" altLang="zh-CN" sz="2000" dirty="0">
              <a:solidFill>
                <a:srgbClr val="000000"/>
              </a:solidFill>
            </a:endParaRPr>
          </a:p>
        </p:txBody>
      </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2.3.1  JavaScript</a:t>
            </a:r>
            <a:r>
              <a:rPr lang="zh-CN" altLang="en-US" baseline="0" dirty="0">
                <a:latin typeface="Times New Roman" panose="02020603050405020304" pitchFamily="18" charset="0"/>
                <a:ea typeface="黑体" panose="02010609060101010101" pitchFamily="49" charset="-122"/>
                <a:cs typeface="+mj-cs"/>
              </a:rPr>
              <a:t>的基本语法 </a:t>
            </a:r>
            <a:endParaRPr lang="zh-CN" altLang="en-US" baseline="0" dirty="0">
              <a:latin typeface="Times New Roman" panose="02020603050405020304" pitchFamily="18" charset="0"/>
              <a:ea typeface="黑体" panose="02010609060101010101" pitchFamily="49" charset="-122"/>
              <a:cs typeface="+mj-cs"/>
            </a:endParaRPr>
          </a:p>
        </p:txBody>
      </p:sp>
      <p:sp>
        <p:nvSpPr>
          <p:cNvPr id="82946"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5.</a:t>
            </a:r>
            <a:r>
              <a:rPr lang="zh-CN" altLang="en-US" sz="2800" b="1" dirty="0">
                <a:solidFill>
                  <a:srgbClr val="0000FF"/>
                </a:solidFill>
              </a:rPr>
              <a:t> 函数的定义和调用</a:t>
            </a:r>
            <a:endParaRPr lang="en-US" altLang="zh-CN" sz="2800" b="1" dirty="0">
              <a:solidFill>
                <a:srgbClr val="0000FF"/>
              </a:solidFill>
            </a:endParaRPr>
          </a:p>
          <a:p>
            <a:pPr marL="0" indent="0">
              <a:buNone/>
            </a:pPr>
            <a:r>
              <a:rPr lang="en-US" altLang="zh-CN" sz="2400" dirty="0">
                <a:solidFill>
                  <a:srgbClr val="000000"/>
                </a:solidFill>
              </a:rPr>
              <a:t>        </a:t>
            </a:r>
            <a:r>
              <a:rPr lang="zh-CN" altLang="en-US" sz="2800" dirty="0">
                <a:solidFill>
                  <a:srgbClr val="000000"/>
                </a:solidFill>
              </a:rPr>
              <a:t>在</a:t>
            </a:r>
            <a:r>
              <a:rPr lang="en-US" altLang="zh-CN" sz="2800" dirty="0">
                <a:solidFill>
                  <a:srgbClr val="000000"/>
                </a:solidFill>
              </a:rPr>
              <a:t>JavaScript</a:t>
            </a:r>
            <a:r>
              <a:rPr lang="zh-CN" altLang="en-US" sz="2800" dirty="0">
                <a:solidFill>
                  <a:srgbClr val="000000"/>
                </a:solidFill>
              </a:rPr>
              <a:t>中，函数需要先声明定义，然后再调用函数。</a:t>
            </a:r>
            <a:endParaRPr lang="zh-CN" altLang="en-US" sz="2800" dirty="0">
              <a:solidFill>
                <a:srgbClr val="000000"/>
              </a:solidFill>
            </a:endParaRPr>
          </a:p>
          <a:p>
            <a:pPr marL="0" indent="0">
              <a:buNone/>
            </a:pPr>
            <a:r>
              <a:rPr lang="zh-CN" altLang="en-US" sz="2800" dirty="0">
                <a:solidFill>
                  <a:srgbClr val="000000"/>
                </a:solidFill>
              </a:rPr>
              <a:t>      在</a:t>
            </a:r>
            <a:r>
              <a:rPr lang="en-US" altLang="zh-CN" sz="2800" dirty="0">
                <a:solidFill>
                  <a:srgbClr val="000000"/>
                </a:solidFill>
              </a:rPr>
              <a:t>JavaScript</a:t>
            </a:r>
            <a:r>
              <a:rPr lang="zh-CN" altLang="en-US" sz="2800" dirty="0">
                <a:solidFill>
                  <a:srgbClr val="000000"/>
                </a:solidFill>
              </a:rPr>
              <a:t>定义函数，有两种实现方式：</a:t>
            </a:r>
            <a:endParaRPr lang="en-US" altLang="zh-CN" sz="2800" dirty="0">
              <a:solidFill>
                <a:srgbClr val="000000"/>
              </a:solidFill>
            </a:endParaRPr>
          </a:p>
          <a:p>
            <a:pPr marL="0" indent="0">
              <a:buSzPct val="80000"/>
              <a:buFont typeface="Wingdings" panose="05000000000000000000" pitchFamily="2" charset="2"/>
              <a:buChar char="p"/>
            </a:pPr>
            <a:r>
              <a:rPr lang="zh-CN" altLang="en-US" sz="2800" dirty="0">
                <a:solidFill>
                  <a:srgbClr val="000000"/>
                </a:solidFill>
              </a:rPr>
              <a:t>另一种是链接外部</a:t>
            </a:r>
            <a:r>
              <a:rPr lang="en-US" altLang="zh-CN" sz="2800" dirty="0">
                <a:solidFill>
                  <a:srgbClr val="000000"/>
                </a:solidFill>
              </a:rPr>
              <a:t>JavaScript</a:t>
            </a:r>
            <a:r>
              <a:rPr lang="zh-CN" altLang="en-US" sz="2800" dirty="0">
                <a:solidFill>
                  <a:srgbClr val="000000"/>
                </a:solidFill>
              </a:rPr>
              <a:t>文件</a:t>
            </a:r>
            <a:endParaRPr lang="en-US" altLang="zh-CN" sz="2800" dirty="0">
              <a:solidFill>
                <a:srgbClr val="000000"/>
              </a:solidFill>
            </a:endParaRPr>
          </a:p>
          <a:p>
            <a:pPr marL="0" indent="0">
              <a:buSzPct val="80000"/>
              <a:buNone/>
            </a:pPr>
            <a:r>
              <a:rPr lang="en-US" altLang="zh-CN" sz="2000" dirty="0">
                <a:solidFill>
                  <a:srgbClr val="000000"/>
                </a:solidFill>
              </a:rPr>
              <a:t>//</a:t>
            </a:r>
            <a:r>
              <a:rPr lang="zh-CN" altLang="en-US" sz="2000" dirty="0">
                <a:solidFill>
                  <a:srgbClr val="000000"/>
                </a:solidFill>
              </a:rPr>
              <a:t> 脚本文件：</a:t>
            </a:r>
            <a:r>
              <a:rPr lang="en-US" altLang="zh-CN" sz="2000" dirty="0">
                <a:solidFill>
                  <a:srgbClr val="000000"/>
                </a:solidFill>
              </a:rPr>
              <a:t>test.js</a:t>
            </a:r>
            <a:endParaRPr lang="en-US" altLang="zh-CN" sz="2000" dirty="0">
              <a:solidFill>
                <a:srgbClr val="000000"/>
              </a:solidFill>
            </a:endParaRPr>
          </a:p>
          <a:p>
            <a:pPr marL="0" indent="0">
              <a:buSzPct val="80000"/>
              <a:buNone/>
            </a:pPr>
            <a:r>
              <a:rPr lang="en-US" altLang="zh-CN" sz="2000" dirty="0">
                <a:solidFill>
                  <a:srgbClr val="000000"/>
                </a:solidFill>
              </a:rPr>
              <a:t>function test1(){</a:t>
            </a:r>
            <a:endParaRPr lang="en-US" altLang="zh-CN" sz="2000" dirty="0">
              <a:solidFill>
                <a:srgbClr val="000000"/>
              </a:solidFill>
            </a:endParaRPr>
          </a:p>
          <a:p>
            <a:pPr marL="0" indent="0">
              <a:buSzPct val="80000"/>
              <a:buNone/>
            </a:pPr>
            <a:r>
              <a:rPr lang="en-US" altLang="zh-CN" sz="2000" dirty="0">
                <a:solidFill>
                  <a:srgbClr val="000000"/>
                </a:solidFill>
              </a:rPr>
              <a:t>	 window.alert(“</a:t>
            </a:r>
            <a:r>
              <a:rPr lang="zh-CN" altLang="en-US" sz="2000" dirty="0">
                <a:solidFill>
                  <a:srgbClr val="000000"/>
                </a:solidFill>
              </a:rPr>
              <a:t>事件成功引发！</a:t>
            </a:r>
            <a:r>
              <a:rPr lang="en-US" altLang="zh-CN" sz="2000" dirty="0">
                <a:solidFill>
                  <a:srgbClr val="000000"/>
                </a:solidFill>
              </a:rPr>
              <a:t>”);</a:t>
            </a:r>
            <a:endParaRPr lang="en-US" altLang="zh-CN" sz="2000" dirty="0">
              <a:solidFill>
                <a:srgbClr val="000000"/>
              </a:solidFill>
            </a:endParaRPr>
          </a:p>
          <a:p>
            <a:pPr marL="0" indent="0">
              <a:buSzPct val="80000"/>
              <a:buNone/>
            </a:pPr>
            <a:r>
              <a:rPr lang="en-US" altLang="zh-CN" sz="2000" dirty="0">
                <a:solidFill>
                  <a:srgbClr val="000000"/>
                </a:solidFill>
              </a:rPr>
              <a:t>}</a:t>
            </a:r>
            <a:endParaRPr lang="en-US" altLang="zh-CN" sz="2000" dirty="0">
              <a:solidFill>
                <a:srgbClr val="000000"/>
              </a:solidFill>
            </a:endParaRPr>
          </a:p>
          <a:p>
            <a:pPr marL="0" indent="0">
              <a:buSzPct val="80000"/>
              <a:buNone/>
            </a:pPr>
            <a:r>
              <a:rPr lang="en-US" altLang="zh-CN" sz="2000" dirty="0">
                <a:solidFill>
                  <a:srgbClr val="000000"/>
                </a:solidFill>
              </a:rPr>
              <a:t>// HTML</a:t>
            </a:r>
            <a:r>
              <a:rPr lang="zh-CN" altLang="en-US" sz="2000" dirty="0">
                <a:solidFill>
                  <a:srgbClr val="000000"/>
                </a:solidFill>
              </a:rPr>
              <a:t>文件中的引用方式</a:t>
            </a:r>
            <a:endParaRPr lang="en-US" altLang="zh-CN" sz="2000" dirty="0">
              <a:solidFill>
                <a:srgbClr val="000000"/>
              </a:solidFill>
            </a:endParaRPr>
          </a:p>
          <a:p>
            <a:pPr marL="0" indent="0">
              <a:buSzPct val="80000"/>
              <a:buNone/>
            </a:pPr>
            <a:r>
              <a:rPr lang="en-US" altLang="zh-CN" sz="2000" dirty="0">
                <a:solidFill>
                  <a:srgbClr val="000000"/>
                </a:solidFill>
              </a:rPr>
              <a:t>&lt;head&gt;</a:t>
            </a:r>
            <a:endParaRPr lang="en-US" altLang="zh-CN" sz="2000" dirty="0">
              <a:solidFill>
                <a:srgbClr val="000000"/>
              </a:solidFill>
            </a:endParaRPr>
          </a:p>
          <a:p>
            <a:pPr marL="0" indent="0">
              <a:buSzPct val="80000"/>
              <a:buNone/>
            </a:pPr>
            <a:r>
              <a:rPr lang="en-US" altLang="zh-CN" sz="2000" dirty="0">
                <a:solidFill>
                  <a:srgbClr val="000000"/>
                </a:solidFill>
              </a:rPr>
              <a:t>	&lt;script language=“javascript” src=“test.js”&gt;&lt;/script&gt;</a:t>
            </a:r>
            <a:endParaRPr lang="en-US" altLang="zh-CN" sz="2000" dirty="0">
              <a:solidFill>
                <a:srgbClr val="000000"/>
              </a:solidFill>
            </a:endParaRPr>
          </a:p>
          <a:p>
            <a:pPr marL="0" indent="0">
              <a:buSzPct val="80000"/>
              <a:buNone/>
            </a:pPr>
            <a:r>
              <a:rPr lang="en-US" altLang="zh-CN" sz="2000" dirty="0">
                <a:solidFill>
                  <a:srgbClr val="000000"/>
                </a:solidFill>
              </a:rPr>
              <a:t>&lt;/head&gt;</a:t>
            </a:r>
            <a:endParaRPr lang="zh-CN" altLang="en-US" sz="2000" dirty="0">
              <a:solidFill>
                <a:srgbClr val="000000"/>
              </a:solidFill>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2.3.2  JavaScript</a:t>
            </a:r>
            <a:r>
              <a:rPr lang="zh-CN" altLang="en-US" baseline="0" dirty="0">
                <a:latin typeface="Times New Roman" panose="02020603050405020304" pitchFamily="18" charset="0"/>
                <a:ea typeface="黑体" panose="02010609060101010101" pitchFamily="49" charset="-122"/>
                <a:cs typeface="+mj-cs"/>
              </a:rPr>
              <a:t>的事件 </a:t>
            </a:r>
            <a:endParaRPr lang="zh-CN" altLang="en-US" baseline="0" dirty="0">
              <a:latin typeface="Times New Roman" panose="02020603050405020304" pitchFamily="18" charset="0"/>
              <a:ea typeface="黑体" panose="02010609060101010101" pitchFamily="49" charset="-122"/>
              <a:cs typeface="+mj-cs"/>
            </a:endParaRPr>
          </a:p>
        </p:txBody>
      </p:sp>
      <p:sp>
        <p:nvSpPr>
          <p:cNvPr id="8397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zh-CN" altLang="en-US" sz="2800" dirty="0">
                <a:solidFill>
                  <a:srgbClr val="000000"/>
                </a:solidFill>
              </a:rPr>
              <a:t>在浏览器中网页与客户的交互都是通过“事件”引发的，当一个事件发生时，例如“用户单击某个按钮”，浏览器认为在这个按钮上发生了一个</a:t>
            </a:r>
            <a:r>
              <a:rPr lang="en-US" altLang="zh-CN" sz="2800" dirty="0">
                <a:solidFill>
                  <a:srgbClr val="000000"/>
                </a:solidFill>
              </a:rPr>
              <a:t>click</a:t>
            </a:r>
            <a:r>
              <a:rPr lang="zh-CN" altLang="en-US" sz="2800" dirty="0">
                <a:solidFill>
                  <a:srgbClr val="000000"/>
                </a:solidFill>
              </a:rPr>
              <a:t>事件，然后根据该按钮所定义的事件处理函数，执行相应的</a:t>
            </a:r>
            <a:r>
              <a:rPr lang="en-US" altLang="zh-CN" sz="2800" dirty="0">
                <a:solidFill>
                  <a:srgbClr val="000000"/>
                </a:solidFill>
              </a:rPr>
              <a:t>JavaSript</a:t>
            </a:r>
            <a:r>
              <a:rPr lang="zh-CN" altLang="en-US" sz="2800" dirty="0">
                <a:solidFill>
                  <a:srgbClr val="000000"/>
                </a:solidFill>
              </a:rPr>
              <a:t>脚本。</a:t>
            </a:r>
            <a:endParaRPr lang="zh-CN" altLang="en-US" dirty="0"/>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2.3.2  JavaScript</a:t>
            </a:r>
            <a:r>
              <a:rPr lang="zh-CN" altLang="en-US" baseline="0" dirty="0">
                <a:latin typeface="Times New Roman" panose="02020603050405020304" pitchFamily="18" charset="0"/>
                <a:ea typeface="黑体" panose="02010609060101010101" pitchFamily="49" charset="-122"/>
                <a:cs typeface="+mj-cs"/>
              </a:rPr>
              <a:t>的事件 </a:t>
            </a:r>
            <a:endParaRPr lang="zh-CN" altLang="en-US" baseline="0" dirty="0">
              <a:latin typeface="Times New Roman" panose="02020603050405020304" pitchFamily="18" charset="0"/>
              <a:ea typeface="黑体" panose="02010609060101010101" pitchFamily="49" charset="-122"/>
              <a:cs typeface="+mj-cs"/>
            </a:endParaRPr>
          </a:p>
        </p:txBody>
      </p:sp>
      <p:sp>
        <p:nvSpPr>
          <p:cNvPr id="84994" name="内容占位符 2"/>
          <p:cNvSpPr>
            <a:spLocks noGrp="1"/>
          </p:cNvSpPr>
          <p:nvPr>
            <p:ph idx="1"/>
          </p:nvPr>
        </p:nvSpPr>
        <p:spPr>
          <a:xfrm>
            <a:off x="107950" y="1125538"/>
            <a:ext cx="8928100" cy="777875"/>
          </a:xfrm>
        </p:spPr>
        <p:txBody>
          <a:bodyPr vert="horz" wrap="square" lIns="91440" tIns="45720" rIns="91440" bIns="45720" anchor="t" anchorCtr="0"/>
          <a:p>
            <a:pPr marL="0" indent="0">
              <a:spcBef>
                <a:spcPct val="0"/>
              </a:spcBef>
              <a:buNone/>
            </a:pPr>
            <a:r>
              <a:rPr lang="en-US" altLang="zh-CN" sz="2800" b="1" dirty="0">
                <a:solidFill>
                  <a:srgbClr val="0000FF"/>
                </a:solidFill>
              </a:rPr>
              <a:t>1.</a:t>
            </a:r>
            <a:r>
              <a:rPr lang="zh-CN" altLang="en-US" sz="2800" b="1" dirty="0">
                <a:solidFill>
                  <a:srgbClr val="0000FF"/>
                </a:solidFill>
              </a:rPr>
              <a:t> </a:t>
            </a:r>
            <a:r>
              <a:rPr lang="en-US" altLang="zh-CN" sz="2800" b="1" dirty="0">
                <a:solidFill>
                  <a:srgbClr val="0000FF"/>
                </a:solidFill>
              </a:rPr>
              <a:t>JavaScript</a:t>
            </a:r>
            <a:r>
              <a:rPr lang="zh-CN" altLang="en-US" sz="2800" b="1" dirty="0">
                <a:solidFill>
                  <a:srgbClr val="0000FF"/>
                </a:solidFill>
              </a:rPr>
              <a:t>的事件</a:t>
            </a:r>
            <a:endParaRPr lang="zh-CN" altLang="en-US" sz="2800" b="1" dirty="0">
              <a:solidFill>
                <a:srgbClr val="0000FF"/>
              </a:solidFill>
            </a:endParaRPr>
          </a:p>
        </p:txBody>
      </p:sp>
      <p:graphicFrame>
        <p:nvGraphicFramePr>
          <p:cNvPr id="86020" name="表格 86019"/>
          <p:cNvGraphicFramePr/>
          <p:nvPr/>
        </p:nvGraphicFramePr>
        <p:xfrm>
          <a:off x="250825" y="1916113"/>
          <a:ext cx="8785225" cy="4530725"/>
        </p:xfrm>
        <a:graphic>
          <a:graphicData uri="http://schemas.openxmlformats.org/drawingml/2006/table">
            <a:tbl>
              <a:tblPr/>
              <a:tblGrid>
                <a:gridCol w="1079500"/>
                <a:gridCol w="1838325"/>
                <a:gridCol w="5867400"/>
              </a:tblGrid>
              <a:tr h="3540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事件</a:t>
                      </a:r>
                      <a:endParaRPr lang="zh-CN" altLang="zh-CN" dirty="0">
                        <a:solidFill>
                          <a:srgbClr val="000000"/>
                        </a:solidFill>
                        <a:latin typeface="Times New Roman" panose="02020603050405020304" pitchFamily="18" charset="0"/>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事件处理函数名</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何</a:t>
                      </a:r>
                      <a:r>
                        <a:rPr lang="zh-CN" altLang="zh-CN" dirty="0">
                          <a:solidFill>
                            <a:srgbClr val="000000"/>
                          </a:solidFill>
                          <a:latin typeface="Times New Roman" panose="02020603050405020304" pitchFamily="18" charset="0"/>
                          <a:cs typeface="Arial" panose="020B0604020202020204" pitchFamily="34" charset="0"/>
                        </a:rPr>
                        <a:t> </a:t>
                      </a:r>
                      <a:r>
                        <a:rPr lang="zh-CN" altLang="zh-CN" dirty="0">
                          <a:solidFill>
                            <a:srgbClr val="000000"/>
                          </a:solidFill>
                          <a:latin typeface="Arial" panose="020B0604020202020204" pitchFamily="34" charset="0"/>
                          <a:ea typeface="黑体" panose="02010609060101010101" pitchFamily="49" charset="-122"/>
                        </a:rPr>
                        <a:t>时</a:t>
                      </a:r>
                      <a:r>
                        <a:rPr lang="zh-CN" altLang="zh-CN" dirty="0">
                          <a:solidFill>
                            <a:srgbClr val="000000"/>
                          </a:solidFill>
                          <a:latin typeface="Times New Roman" panose="02020603050405020304" pitchFamily="18" charset="0"/>
                          <a:cs typeface="Arial" panose="020B0604020202020204" pitchFamily="34" charset="0"/>
                        </a:rPr>
                        <a:t> </a:t>
                      </a:r>
                      <a:r>
                        <a:rPr lang="zh-CN" altLang="zh-CN" dirty="0">
                          <a:solidFill>
                            <a:srgbClr val="000000"/>
                          </a:solidFill>
                          <a:latin typeface="Arial" panose="020B0604020202020204" pitchFamily="34" charset="0"/>
                          <a:ea typeface="黑体" panose="02010609060101010101" pitchFamily="49" charset="-122"/>
                        </a:rPr>
                        <a:t>触</a:t>
                      </a:r>
                      <a:r>
                        <a:rPr lang="zh-CN" altLang="zh-CN" dirty="0">
                          <a:solidFill>
                            <a:srgbClr val="000000"/>
                          </a:solidFill>
                          <a:latin typeface="Times New Roman" panose="02020603050405020304" pitchFamily="18" charset="0"/>
                          <a:cs typeface="Arial" panose="020B0604020202020204" pitchFamily="34" charset="0"/>
                        </a:rPr>
                        <a:t> </a:t>
                      </a:r>
                      <a:r>
                        <a:rPr lang="zh-CN" altLang="zh-CN" dirty="0">
                          <a:solidFill>
                            <a:srgbClr val="000000"/>
                          </a:solidFill>
                          <a:latin typeface="Arial" panose="020B0604020202020204" pitchFamily="34" charset="0"/>
                          <a:ea typeface="黑体" panose="02010609060101010101" pitchFamily="49" charset="-122"/>
                        </a:rPr>
                        <a:t>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40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blur</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onBlur</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元素或窗口本身失去焦点时触发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40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change</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onChange</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当表单元素获取焦点，且内容值发生改变时触发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40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click</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onClick</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单击鼠标左键时触发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40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focus</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onFocus</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任何元素或窗口本身获得焦点时触发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49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keydown</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onKeydown</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键盘键被按下时触发，如果一直按着某</a:t>
                      </a:r>
                      <a:r>
                        <a:rPr lang="zh-CN" altLang="zh-CN" dirty="0">
                          <a:latin typeface="Arial" panose="020B0604020202020204" pitchFamily="34" charset="0"/>
                          <a:ea typeface="黑体" panose="02010609060101010101" pitchFamily="49" charset="-122"/>
                        </a:rPr>
                        <a:t>键</a:t>
                      </a:r>
                      <a:r>
                        <a:rPr lang="zh-CN" altLang="zh-CN" dirty="0">
                          <a:solidFill>
                            <a:srgbClr val="000000"/>
                          </a:solidFill>
                          <a:latin typeface="Arial" panose="020B0604020202020204" pitchFamily="34" charset="0"/>
                          <a:ea typeface="黑体" panose="02010609060101010101" pitchFamily="49" charset="-122"/>
                        </a:rPr>
                        <a:t>，则会不断触发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8223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load</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onLoad</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页面载入后，在</a:t>
                      </a:r>
                      <a:r>
                        <a:rPr lang="en-US" altLang="zh-CN" dirty="0">
                          <a:solidFill>
                            <a:srgbClr val="000000"/>
                          </a:solidFill>
                          <a:latin typeface="Arial" panose="020B0604020202020204" pitchFamily="34" charset="0"/>
                          <a:ea typeface="黑体" panose="02010609060101010101" pitchFamily="49" charset="-122"/>
                        </a:rPr>
                        <a:t>window</a:t>
                      </a:r>
                      <a:r>
                        <a:rPr lang="zh-CN" altLang="zh-CN" dirty="0">
                          <a:solidFill>
                            <a:srgbClr val="000000"/>
                          </a:solidFill>
                          <a:latin typeface="Arial" panose="020B0604020202020204" pitchFamily="34" charset="0"/>
                          <a:ea typeface="黑体" panose="02010609060101010101" pitchFamily="49" charset="-122"/>
                        </a:rPr>
                        <a:t>对象上触发；所有框架都载入后，在框架集上触发；</a:t>
                      </a:r>
                      <a:endParaRPr lang="zh-CN" altLang="zh-CN" dirty="0">
                        <a:solidFill>
                          <a:srgbClr val="000000"/>
                        </a:solidFill>
                        <a:latin typeface="Times New Roman" panose="02020603050405020304" pitchFamily="18" charset="0"/>
                      </a:endParaRPr>
                    </a:p>
                    <a:p>
                      <a:pPr lvl="0" indent="6350" eaLnBrk="1" hangingPunct="1">
                        <a:buNone/>
                      </a:pPr>
                      <a:r>
                        <a:rPr lang="en-US" altLang="zh-CN" dirty="0">
                          <a:solidFill>
                            <a:srgbClr val="000000"/>
                          </a:solidFill>
                          <a:latin typeface="Arial" panose="020B0604020202020204" pitchFamily="34" charset="0"/>
                          <a:ea typeface="黑体" panose="02010609060101010101" pitchFamily="49" charset="-122"/>
                        </a:rPr>
                        <a:t>&lt;object&gt;</a:t>
                      </a:r>
                      <a:r>
                        <a:rPr lang="zh-CN" altLang="en-US" dirty="0">
                          <a:solidFill>
                            <a:srgbClr val="000000"/>
                          </a:solidFill>
                          <a:latin typeface="Arial" panose="020B0604020202020204" pitchFamily="34" charset="0"/>
                          <a:ea typeface="黑体" panose="02010609060101010101" pitchFamily="49" charset="-122"/>
                        </a:rPr>
                        <a:t>标签</a:t>
                      </a:r>
                      <a:r>
                        <a:rPr lang="zh-CN" altLang="zh-CN" dirty="0">
                          <a:solidFill>
                            <a:srgbClr val="000000"/>
                          </a:solidFill>
                          <a:latin typeface="Arial" panose="020B0604020202020204" pitchFamily="34" charset="0"/>
                          <a:ea typeface="黑体" panose="02010609060101010101" pitchFamily="49" charset="-122"/>
                        </a:rPr>
                        <a:t>指定的对象完全载入后，在其上触发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40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select</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onSelect</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选中文本时触发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353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submit</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onSubmit</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单击提交按钮时，在</a:t>
                      </a:r>
                      <a:r>
                        <a:rPr lang="en-US" altLang="zh-CN" dirty="0">
                          <a:solidFill>
                            <a:srgbClr val="000000"/>
                          </a:solidFill>
                          <a:latin typeface="Arial" panose="020B0604020202020204" pitchFamily="34" charset="0"/>
                          <a:ea typeface="黑体" panose="02010609060101010101" pitchFamily="49" charset="-122"/>
                        </a:rPr>
                        <a:t>&lt;form&gt;</a:t>
                      </a:r>
                      <a:r>
                        <a:rPr lang="zh-CN" altLang="zh-CN" dirty="0">
                          <a:solidFill>
                            <a:srgbClr val="000000"/>
                          </a:solidFill>
                          <a:latin typeface="Arial" panose="020B0604020202020204" pitchFamily="34" charset="0"/>
                          <a:ea typeface="黑体" panose="02010609060101010101" pitchFamily="49" charset="-122"/>
                        </a:rPr>
                        <a:t>上触发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858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unload</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27305" algn="ctr" eaLnBrk="1" hangingPunct="1">
                        <a:buNone/>
                      </a:pPr>
                      <a:r>
                        <a:rPr lang="en-US" altLang="zh-CN" dirty="0">
                          <a:solidFill>
                            <a:srgbClr val="000000"/>
                          </a:solidFill>
                          <a:latin typeface="Arial" panose="020B0604020202020204" pitchFamily="34" charset="0"/>
                          <a:ea typeface="黑体" panose="02010609060101010101" pitchFamily="49" charset="-122"/>
                        </a:rPr>
                        <a:t>onUnload</a:t>
                      </a:r>
                      <a:endParaRPr lang="zh-CN" altLang="zh-CN" dirty="0">
                        <a:solidFill>
                          <a:srgbClr val="000000"/>
                        </a:solidFill>
                        <a:latin typeface="Times New Roman" panose="02020603050405020304" pitchFamily="18" charset="0"/>
                        <a:ea typeface="黑体" panose="02010609060101010101" pitchFamily="49" charset="-122"/>
                      </a:endParaRPr>
                    </a:p>
                  </a:txBody>
                  <a:tcPr marL="68582" marR="68582" marT="0"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页面完全卸载后，在</a:t>
                      </a:r>
                      <a:r>
                        <a:rPr lang="en-US" altLang="zh-CN" dirty="0">
                          <a:solidFill>
                            <a:srgbClr val="000000"/>
                          </a:solidFill>
                          <a:latin typeface="Arial" panose="020B0604020202020204" pitchFamily="34" charset="0"/>
                          <a:ea typeface="黑体" panose="02010609060101010101" pitchFamily="49" charset="-122"/>
                        </a:rPr>
                        <a:t>window</a:t>
                      </a:r>
                      <a:r>
                        <a:rPr lang="zh-CN" altLang="zh-CN" dirty="0">
                          <a:solidFill>
                            <a:srgbClr val="000000"/>
                          </a:solidFill>
                          <a:latin typeface="Arial" panose="020B0604020202020204" pitchFamily="34" charset="0"/>
                          <a:ea typeface="黑体" panose="02010609060101010101" pitchFamily="49" charset="-122"/>
                        </a:rPr>
                        <a:t>对象上触发；</a:t>
                      </a:r>
                      <a:endParaRPr lang="zh-CN" altLang="zh-CN" dirty="0">
                        <a:solidFill>
                          <a:srgbClr val="000000"/>
                        </a:solidFill>
                        <a:latin typeface="Times New Roman" panose="02020603050405020304" pitchFamily="18" charset="0"/>
                      </a:endParaRPr>
                    </a:p>
                    <a:p>
                      <a:pPr lvl="0" indent="6350" eaLnBrk="1" hangingPunct="1">
                        <a:buNone/>
                      </a:pPr>
                      <a:r>
                        <a:rPr lang="zh-CN" altLang="zh-CN" dirty="0">
                          <a:solidFill>
                            <a:srgbClr val="000000"/>
                          </a:solidFill>
                          <a:latin typeface="Arial" panose="020B0604020202020204" pitchFamily="34" charset="0"/>
                          <a:ea typeface="黑体" panose="02010609060101010101" pitchFamily="49" charset="-122"/>
                        </a:rPr>
                        <a:t>或者所有框架都卸载后，在框架集上触发</a:t>
                      </a:r>
                      <a:endParaRPr lang="zh-CN" altLang="zh-CN" dirty="0">
                        <a:solidFill>
                          <a:srgbClr val="000000"/>
                        </a:solidFill>
                        <a:latin typeface="Times New Roman" panose="02020603050405020304" pitchFamily="18" charset="0"/>
                      </a:endParaRPr>
                    </a:p>
                  </a:txBody>
                  <a:tcPr marL="68582" marR="68582"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2.3.2  JavaScript</a:t>
            </a:r>
            <a:r>
              <a:rPr lang="zh-CN" altLang="en-US" baseline="0" dirty="0">
                <a:latin typeface="Times New Roman" panose="02020603050405020304" pitchFamily="18" charset="0"/>
                <a:ea typeface="黑体" panose="02010609060101010101" pitchFamily="49" charset="-122"/>
                <a:cs typeface="+mj-cs"/>
              </a:rPr>
              <a:t>的事件 </a:t>
            </a:r>
            <a:endParaRPr lang="zh-CN" altLang="en-US" baseline="0" dirty="0">
              <a:latin typeface="Times New Roman" panose="02020603050405020304" pitchFamily="18" charset="0"/>
              <a:ea typeface="黑体" panose="02010609060101010101" pitchFamily="49" charset="-122"/>
              <a:cs typeface="+mj-cs"/>
            </a:endParaRPr>
          </a:p>
        </p:txBody>
      </p:sp>
      <p:sp>
        <p:nvSpPr>
          <p:cNvPr id="86018"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2. </a:t>
            </a:r>
            <a:r>
              <a:rPr lang="zh-CN" altLang="en-US" sz="2800" b="1" dirty="0">
                <a:solidFill>
                  <a:srgbClr val="0000FF"/>
                </a:solidFill>
              </a:rPr>
              <a:t>在</a:t>
            </a:r>
            <a:r>
              <a:rPr lang="en-US" altLang="zh-CN" sz="2800" b="1" dirty="0">
                <a:solidFill>
                  <a:srgbClr val="0000FF"/>
                </a:solidFill>
              </a:rPr>
              <a:t>HTML</a:t>
            </a:r>
            <a:r>
              <a:rPr lang="zh-CN" altLang="en-US" sz="2800" b="1" dirty="0">
                <a:solidFill>
                  <a:srgbClr val="0000FF"/>
                </a:solidFill>
              </a:rPr>
              <a:t>中引用（指定）事件处理函数</a:t>
            </a:r>
            <a:endParaRPr lang="en-US" altLang="zh-CN" sz="2800" b="1" dirty="0">
              <a:solidFill>
                <a:srgbClr val="0000FF"/>
              </a:solidFill>
            </a:endParaRPr>
          </a:p>
          <a:p>
            <a:pPr marL="0" indent="0">
              <a:buNone/>
            </a:pPr>
            <a:r>
              <a:rPr lang="zh-CN" altLang="en-US" sz="2400" dirty="0">
                <a:solidFill>
                  <a:srgbClr val="000000"/>
                </a:solidFill>
              </a:rPr>
              <a:t>在</a:t>
            </a:r>
            <a:r>
              <a:rPr lang="en-US" altLang="zh-CN" sz="2400" dirty="0">
                <a:solidFill>
                  <a:srgbClr val="000000"/>
                </a:solidFill>
              </a:rPr>
              <a:t>HTML</a:t>
            </a:r>
            <a:r>
              <a:rPr lang="zh-CN" altLang="en-US" sz="2400" dirty="0">
                <a:solidFill>
                  <a:srgbClr val="000000"/>
                </a:solidFill>
              </a:rPr>
              <a:t>中指定事件处理程序，需要在</a:t>
            </a:r>
            <a:r>
              <a:rPr lang="en-US" altLang="zh-CN" sz="2400" dirty="0">
                <a:solidFill>
                  <a:srgbClr val="000000"/>
                </a:solidFill>
              </a:rPr>
              <a:t>HTML</a:t>
            </a:r>
            <a:r>
              <a:rPr lang="zh-CN" altLang="en-US" sz="2400" dirty="0">
                <a:solidFill>
                  <a:srgbClr val="000000"/>
                </a:solidFill>
              </a:rPr>
              <a:t>标签中添加相应的事件处理程序的属性，并在其中指定作为属性值的代码或是函数名称。</a:t>
            </a:r>
            <a:r>
              <a:rPr lang="en-US" altLang="zh-CN" sz="2400" dirty="0">
                <a:solidFill>
                  <a:srgbClr val="000000"/>
                </a:solidFill>
              </a:rPr>
              <a:t>  </a:t>
            </a:r>
            <a:endParaRPr lang="en-US" altLang="zh-CN" sz="2400" dirty="0">
              <a:solidFill>
                <a:srgbClr val="000000"/>
              </a:solidFill>
            </a:endParaRPr>
          </a:p>
          <a:p>
            <a:pPr marL="0" indent="0">
              <a:buNone/>
            </a:pPr>
            <a:r>
              <a:rPr lang="zh-CN" altLang="en-US" sz="2400" dirty="0">
                <a:solidFill>
                  <a:srgbClr val="000000"/>
                </a:solidFill>
              </a:rPr>
              <a:t>使用格式：</a:t>
            </a:r>
            <a:endParaRPr lang="zh-CN" altLang="en-US" sz="2400" dirty="0">
              <a:solidFill>
                <a:srgbClr val="000000"/>
              </a:solidFill>
            </a:endParaRPr>
          </a:p>
          <a:p>
            <a:pPr marL="0" indent="0">
              <a:buNone/>
            </a:pPr>
            <a:r>
              <a:rPr lang="en-US" altLang="zh-CN" sz="2400" dirty="0">
                <a:solidFill>
                  <a:srgbClr val="000000"/>
                </a:solidFill>
              </a:rPr>
              <a:t>  </a:t>
            </a:r>
            <a:r>
              <a:rPr lang="en-US" altLang="zh-CN" sz="2400" dirty="0">
                <a:solidFill>
                  <a:srgbClr val="FF0000"/>
                </a:solidFill>
              </a:rPr>
              <a:t>&lt;</a:t>
            </a:r>
            <a:r>
              <a:rPr lang="zh-CN" altLang="en-US" sz="2400" dirty="0">
                <a:solidFill>
                  <a:srgbClr val="FF0000"/>
                </a:solidFill>
              </a:rPr>
              <a:t>标签 </a:t>
            </a:r>
            <a:r>
              <a:rPr lang="zh-CN" altLang="en-US" sz="2400" dirty="0">
                <a:solidFill>
                  <a:srgbClr val="000000"/>
                </a:solidFill>
              </a:rPr>
              <a:t>各有关属性及其属性值  </a:t>
            </a:r>
            <a:r>
              <a:rPr lang="en-US" altLang="zh-CN" sz="2400" dirty="0">
                <a:solidFill>
                  <a:srgbClr val="000000"/>
                </a:solidFill>
              </a:rPr>
              <a:t>on</a:t>
            </a:r>
            <a:r>
              <a:rPr lang="zh-CN" altLang="en-US" sz="2400" dirty="0">
                <a:solidFill>
                  <a:srgbClr val="000000"/>
                </a:solidFill>
              </a:rPr>
              <a:t>事件名称</a:t>
            </a:r>
            <a:r>
              <a:rPr lang="en-US" altLang="zh-CN" sz="2400" dirty="0">
                <a:solidFill>
                  <a:srgbClr val="000000"/>
                </a:solidFill>
              </a:rPr>
              <a:t>="</a:t>
            </a:r>
            <a:r>
              <a:rPr lang="zh-CN" altLang="en-US" sz="2400" dirty="0">
                <a:solidFill>
                  <a:srgbClr val="000000"/>
                </a:solidFill>
              </a:rPr>
              <a:t>函数名称</a:t>
            </a:r>
            <a:r>
              <a:rPr lang="en-US" altLang="zh-CN" sz="2400" dirty="0">
                <a:solidFill>
                  <a:srgbClr val="000000"/>
                </a:solidFill>
              </a:rPr>
              <a:t>(</a:t>
            </a:r>
            <a:r>
              <a:rPr lang="zh-CN" altLang="en-US" sz="2400" dirty="0">
                <a:solidFill>
                  <a:srgbClr val="000000"/>
                </a:solidFill>
              </a:rPr>
              <a:t>参数</a:t>
            </a:r>
            <a:r>
              <a:rPr lang="en-US" altLang="zh-CN" sz="2400" dirty="0">
                <a:solidFill>
                  <a:srgbClr val="000000"/>
                </a:solidFill>
              </a:rPr>
              <a:t>)"</a:t>
            </a:r>
            <a:r>
              <a:rPr lang="en-US" altLang="zh-CN" sz="2400" dirty="0">
                <a:solidFill>
                  <a:srgbClr val="FF0000"/>
                </a:solidFill>
              </a:rPr>
              <a:t>&gt;</a:t>
            </a:r>
            <a:r>
              <a:rPr lang="en-US" altLang="zh-CN" sz="2400" dirty="0">
                <a:solidFill>
                  <a:srgbClr val="000000"/>
                </a:solidFill>
              </a:rPr>
              <a:t> </a:t>
            </a:r>
            <a:endParaRPr lang="en-US" altLang="zh-CN" sz="2400" dirty="0">
              <a:solidFill>
                <a:srgbClr val="000000"/>
              </a:solidFill>
            </a:endParaRPr>
          </a:p>
          <a:p>
            <a:pPr marL="0" indent="0">
              <a:buNone/>
            </a:pPr>
            <a:endParaRPr lang="en-US" altLang="zh-CN" sz="2400" dirty="0">
              <a:solidFill>
                <a:srgbClr val="000000"/>
              </a:solidFill>
            </a:endParaRPr>
          </a:p>
          <a:p>
            <a:pPr marL="0" indent="0">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2-10】</a:t>
            </a:r>
            <a:r>
              <a:rPr lang="zh-CN" altLang="en-US" sz="2400" dirty="0">
                <a:solidFill>
                  <a:srgbClr val="000000"/>
                </a:solidFill>
              </a:rPr>
              <a:t>通过</a:t>
            </a:r>
            <a:r>
              <a:rPr lang="en-US" altLang="zh-CN" sz="2400" dirty="0">
                <a:solidFill>
                  <a:srgbClr val="000000"/>
                </a:solidFill>
              </a:rPr>
              <a:t>input</a:t>
            </a:r>
            <a:r>
              <a:rPr lang="zh-CN" altLang="en-US" sz="2400" dirty="0">
                <a:solidFill>
                  <a:srgbClr val="000000"/>
                </a:solidFill>
              </a:rPr>
              <a:t>输入标签，引发一个单击事件，该事件的处理函数名是</a:t>
            </a:r>
            <a:r>
              <a:rPr lang="en-US" altLang="zh-CN" sz="2400" dirty="0">
                <a:solidFill>
                  <a:srgbClr val="000000"/>
                </a:solidFill>
              </a:rPr>
              <a:t>onClick()</a:t>
            </a:r>
            <a:r>
              <a:rPr lang="zh-CN" altLang="en-US" sz="2400" dirty="0">
                <a:solidFill>
                  <a:srgbClr val="000000"/>
                </a:solidFill>
              </a:rPr>
              <a:t>，其要完成的功能是通过函数</a:t>
            </a:r>
            <a:r>
              <a:rPr lang="en-US" altLang="zh-CN" sz="2400" dirty="0">
                <a:solidFill>
                  <a:srgbClr val="000000"/>
                </a:solidFill>
              </a:rPr>
              <a:t>test()</a:t>
            </a:r>
            <a:r>
              <a:rPr lang="zh-CN" altLang="en-US" sz="2400" dirty="0">
                <a:solidFill>
                  <a:srgbClr val="000000"/>
                </a:solidFill>
              </a:rPr>
              <a:t>实现的，而函数</a:t>
            </a:r>
            <a:r>
              <a:rPr lang="en-US" altLang="zh-CN" sz="2400" dirty="0">
                <a:solidFill>
                  <a:srgbClr val="000000"/>
                </a:solidFill>
              </a:rPr>
              <a:t>test()</a:t>
            </a:r>
            <a:r>
              <a:rPr lang="zh-CN" altLang="en-US" sz="2400" dirty="0">
                <a:solidFill>
                  <a:srgbClr val="000000"/>
                </a:solidFill>
              </a:rPr>
              <a:t>的功能是显示一个提示窗口（由</a:t>
            </a:r>
            <a:r>
              <a:rPr lang="en-US" altLang="zh-CN" sz="2400" dirty="0">
                <a:solidFill>
                  <a:srgbClr val="000000"/>
                </a:solidFill>
              </a:rPr>
              <a:t>window</a:t>
            </a:r>
            <a:r>
              <a:rPr lang="zh-CN" altLang="en-US" sz="2400" dirty="0">
                <a:solidFill>
                  <a:srgbClr val="000000"/>
                </a:solidFill>
              </a:rPr>
              <a:t>的</a:t>
            </a:r>
            <a:r>
              <a:rPr lang="en-US" altLang="zh-CN" sz="2400" dirty="0">
                <a:solidFill>
                  <a:srgbClr val="000000"/>
                </a:solidFill>
              </a:rPr>
              <a:t>alert</a:t>
            </a:r>
            <a:r>
              <a:rPr lang="zh-CN" altLang="en-US" sz="2400" dirty="0">
                <a:solidFill>
                  <a:srgbClr val="000000"/>
                </a:solidFill>
              </a:rPr>
              <a:t>方法完成），并提示“事件引发一操作，并成功执行了这个操作！”。</a:t>
            </a:r>
            <a:endParaRPr lang="zh-CN" altLang="en-US" sz="2400" dirty="0">
              <a:solidFill>
                <a:srgbClr val="000000"/>
              </a:solidFill>
            </a:endParaRPr>
          </a:p>
          <a:p>
            <a:pPr marL="0" indent="0">
              <a:buNone/>
            </a:pPr>
            <a:r>
              <a:rPr lang="zh-CN" altLang="en-US" sz="2400" dirty="0">
                <a:solidFill>
                  <a:srgbClr val="000000"/>
                </a:solidFill>
              </a:rPr>
              <a:t>（演示代码）</a:t>
            </a:r>
            <a:endParaRPr lang="en-US" altLang="zh-CN" sz="2400" dirty="0">
              <a:solidFill>
                <a:srgbClr val="000000"/>
              </a:solidFill>
            </a:endParaRPr>
          </a:p>
          <a:p>
            <a:pPr marL="0" indent="0">
              <a:buNone/>
            </a:pPr>
            <a:endParaRPr lang="en-US" altLang="zh-CN" sz="2400" dirty="0">
              <a:solidFill>
                <a:srgbClr val="000000"/>
              </a:solidFill>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 </a:t>
            </a:r>
            <a:endParaRPr lang="zh-CN" altLang="en-US" baseline="0" dirty="0">
              <a:latin typeface="Times New Roman" panose="02020603050405020304" pitchFamily="18" charset="0"/>
              <a:ea typeface="黑体" panose="02010609060101010101" pitchFamily="49" charset="-122"/>
              <a:cs typeface="+mj-cs"/>
            </a:endParaRPr>
          </a:p>
        </p:txBody>
      </p:sp>
      <p:sp>
        <p:nvSpPr>
          <p:cNvPr id="8704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JavaScript</a:t>
            </a:r>
            <a:r>
              <a:rPr lang="zh-CN" altLang="en-US" sz="2800" dirty="0">
                <a:solidFill>
                  <a:srgbClr val="000000"/>
                </a:solidFill>
              </a:rPr>
              <a:t>中设有内置对象，常用的内置对象：</a:t>
            </a:r>
            <a:endParaRPr lang="en-US" altLang="zh-CN" sz="2800" dirty="0">
              <a:solidFill>
                <a:srgbClr val="000000"/>
              </a:solidFill>
            </a:endParaRPr>
          </a:p>
          <a:p>
            <a:pPr marL="0" indent="0">
              <a:buFont typeface="Wingdings" panose="05000000000000000000" pitchFamily="2" charset="2"/>
              <a:buChar char="p"/>
            </a:pPr>
            <a:r>
              <a:rPr lang="zh-CN" altLang="en-US" sz="2800" dirty="0">
                <a:solidFill>
                  <a:srgbClr val="000000"/>
                </a:solidFill>
              </a:rPr>
              <a:t> </a:t>
            </a:r>
            <a:r>
              <a:rPr lang="en-US" altLang="zh-CN" sz="2800" dirty="0">
                <a:solidFill>
                  <a:srgbClr val="000000"/>
                </a:solidFill>
              </a:rPr>
              <a:t>String</a:t>
            </a:r>
            <a:endParaRPr lang="en-US" altLang="zh-CN" sz="2800" dirty="0">
              <a:solidFill>
                <a:srgbClr val="000000"/>
              </a:solidFill>
            </a:endParaRPr>
          </a:p>
          <a:p>
            <a:pPr marL="0" indent="0">
              <a:buFont typeface="Wingdings" panose="05000000000000000000" pitchFamily="2" charset="2"/>
              <a:buChar char="p"/>
            </a:pPr>
            <a:r>
              <a:rPr lang="en-US" altLang="zh-CN" sz="2800" dirty="0">
                <a:solidFill>
                  <a:srgbClr val="000000"/>
                </a:solidFill>
              </a:rPr>
              <a:t> Date</a:t>
            </a:r>
            <a:endParaRPr lang="en-US" altLang="zh-CN" sz="2800" dirty="0">
              <a:solidFill>
                <a:srgbClr val="000000"/>
              </a:solidFill>
            </a:endParaRPr>
          </a:p>
          <a:p>
            <a:pPr marL="0" indent="0">
              <a:buFont typeface="Wingdings" panose="05000000000000000000" pitchFamily="2" charset="2"/>
              <a:buChar char="p"/>
            </a:pPr>
            <a:r>
              <a:rPr lang="zh-CN" altLang="en-US" sz="2800" dirty="0">
                <a:solidFill>
                  <a:srgbClr val="000000"/>
                </a:solidFill>
              </a:rPr>
              <a:t> 浏览器的文档对象：</a:t>
            </a:r>
            <a:endParaRPr lang="en-US" altLang="zh-CN" sz="2800" dirty="0">
              <a:solidFill>
                <a:srgbClr val="000000"/>
              </a:solidFill>
            </a:endParaRPr>
          </a:p>
          <a:p>
            <a:pPr marL="0" indent="0">
              <a:buNone/>
            </a:pPr>
            <a:r>
              <a:rPr lang="en-US" altLang="zh-CN" sz="2800" dirty="0">
                <a:solidFill>
                  <a:srgbClr val="000000"/>
                </a:solidFill>
              </a:rPr>
              <a:t>window</a:t>
            </a:r>
            <a:r>
              <a:rPr lang="zh-CN" altLang="en-US" sz="2800" dirty="0">
                <a:solidFill>
                  <a:srgbClr val="000000"/>
                </a:solidFill>
              </a:rPr>
              <a:t>、</a:t>
            </a:r>
            <a:r>
              <a:rPr lang="en-US" altLang="zh-CN" sz="2800" dirty="0">
                <a:solidFill>
                  <a:srgbClr val="000000"/>
                </a:solidFill>
              </a:rPr>
              <a:t>navigator</a:t>
            </a:r>
            <a:r>
              <a:rPr lang="zh-CN" altLang="en-US" sz="2800" dirty="0">
                <a:solidFill>
                  <a:srgbClr val="000000"/>
                </a:solidFill>
              </a:rPr>
              <a:t>、</a:t>
            </a:r>
            <a:r>
              <a:rPr lang="en-US" altLang="zh-CN" sz="2800" dirty="0">
                <a:solidFill>
                  <a:srgbClr val="000000"/>
                </a:solidFill>
              </a:rPr>
              <a:t>screen</a:t>
            </a:r>
            <a:r>
              <a:rPr lang="zh-CN" altLang="en-US" sz="2800" dirty="0">
                <a:solidFill>
                  <a:srgbClr val="000000"/>
                </a:solidFill>
              </a:rPr>
              <a:t>、</a:t>
            </a:r>
            <a:r>
              <a:rPr lang="en-US" altLang="zh-CN" sz="2800" dirty="0">
                <a:solidFill>
                  <a:srgbClr val="000000"/>
                </a:solidFill>
              </a:rPr>
              <a:t>history</a:t>
            </a:r>
            <a:r>
              <a:rPr lang="zh-CN" altLang="en-US" sz="2800" dirty="0">
                <a:solidFill>
                  <a:srgbClr val="000000"/>
                </a:solidFill>
              </a:rPr>
              <a:t>、</a:t>
            </a:r>
            <a:r>
              <a:rPr lang="en-US" altLang="zh-CN" sz="2800" dirty="0">
                <a:solidFill>
                  <a:srgbClr val="000000"/>
                </a:solidFill>
              </a:rPr>
              <a:t>location</a:t>
            </a:r>
            <a:r>
              <a:rPr lang="zh-CN" altLang="en-US" sz="2800" dirty="0">
                <a:solidFill>
                  <a:srgbClr val="000000"/>
                </a:solidFill>
              </a:rPr>
              <a:t>、 </a:t>
            </a:r>
            <a:r>
              <a:rPr lang="en-US" altLang="zh-CN" sz="2800" dirty="0">
                <a:solidFill>
                  <a:srgbClr val="000000"/>
                </a:solidFill>
              </a:rPr>
              <a:t>document</a:t>
            </a:r>
            <a:r>
              <a:rPr lang="zh-CN" altLang="en-US" sz="2800" dirty="0">
                <a:solidFill>
                  <a:srgbClr val="000000"/>
                </a:solidFill>
              </a:rPr>
              <a:t>等对象。</a:t>
            </a:r>
            <a:endParaRPr lang="zh-CN" altLang="en-US" sz="2800" dirty="0">
              <a:solidFill>
                <a:srgbClr val="000000"/>
              </a:solidFill>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 </a:t>
            </a:r>
            <a:endParaRPr lang="zh-CN" altLang="en-US" baseline="0" dirty="0">
              <a:latin typeface="Times New Roman" panose="02020603050405020304" pitchFamily="18" charset="0"/>
              <a:ea typeface="黑体" panose="02010609060101010101" pitchFamily="49" charset="-122"/>
              <a:cs typeface="+mj-cs"/>
            </a:endParaRPr>
          </a:p>
        </p:txBody>
      </p:sp>
      <p:sp>
        <p:nvSpPr>
          <p:cNvPr id="88066" name="内容占位符 2"/>
          <p:cNvSpPr>
            <a:spLocks noGrp="1"/>
          </p:cNvSpPr>
          <p:nvPr>
            <p:ph idx="1"/>
          </p:nvPr>
        </p:nvSpPr>
        <p:spPr>
          <a:xfrm>
            <a:off x="107950" y="1125538"/>
            <a:ext cx="8928100" cy="1223962"/>
          </a:xfrm>
        </p:spPr>
        <p:txBody>
          <a:bodyPr vert="horz" wrap="square" lIns="91440" tIns="45720" rIns="91440" bIns="45720" anchor="t" anchorCtr="0"/>
          <a:p>
            <a:pPr marL="0" indent="0">
              <a:spcBef>
                <a:spcPct val="0"/>
              </a:spcBef>
              <a:buNone/>
            </a:pPr>
            <a:r>
              <a:rPr lang="en-US" altLang="zh-CN" sz="2800" b="1" dirty="0">
                <a:solidFill>
                  <a:srgbClr val="0000FF"/>
                </a:solidFill>
              </a:rPr>
              <a:t>1. window</a:t>
            </a:r>
            <a:r>
              <a:rPr lang="zh-CN" altLang="en-US" sz="2800" b="1" dirty="0">
                <a:solidFill>
                  <a:srgbClr val="0000FF"/>
                </a:solidFill>
              </a:rPr>
              <a:t>对象</a:t>
            </a:r>
            <a:endParaRPr lang="en-US" altLang="zh-CN" sz="2800" b="1" dirty="0">
              <a:solidFill>
                <a:srgbClr val="0000FF"/>
              </a:solidFill>
            </a:endParaRPr>
          </a:p>
          <a:p>
            <a:pPr marL="0" indent="0">
              <a:buNone/>
            </a:pPr>
            <a:r>
              <a:rPr lang="en-US" altLang="zh-CN" sz="2800" dirty="0">
                <a:solidFill>
                  <a:srgbClr val="000000"/>
                </a:solidFill>
              </a:rPr>
              <a:t>HTML</a:t>
            </a:r>
            <a:r>
              <a:rPr lang="zh-CN" altLang="en-US" sz="2800" dirty="0">
                <a:solidFill>
                  <a:srgbClr val="000000"/>
                </a:solidFill>
              </a:rPr>
              <a:t>文档内容在</a:t>
            </a:r>
            <a:r>
              <a:rPr lang="en-US" altLang="zh-CN" sz="2800" dirty="0">
                <a:solidFill>
                  <a:srgbClr val="000000"/>
                </a:solidFill>
              </a:rPr>
              <a:t>window</a:t>
            </a:r>
            <a:r>
              <a:rPr lang="zh-CN" altLang="en-US" sz="2800" dirty="0">
                <a:solidFill>
                  <a:srgbClr val="000000"/>
                </a:solidFill>
              </a:rPr>
              <a:t>对象中显示，常用方法：</a:t>
            </a:r>
            <a:endParaRPr lang="zh-CN" altLang="en-US" sz="2800" dirty="0">
              <a:solidFill>
                <a:srgbClr val="000000"/>
              </a:solidFill>
            </a:endParaRPr>
          </a:p>
        </p:txBody>
      </p:sp>
      <p:graphicFrame>
        <p:nvGraphicFramePr>
          <p:cNvPr id="89092" name="表格 89091"/>
          <p:cNvGraphicFramePr/>
          <p:nvPr/>
        </p:nvGraphicFramePr>
        <p:xfrm>
          <a:off x="250825" y="2349500"/>
          <a:ext cx="8758238" cy="4254500"/>
        </p:xfrm>
        <a:graphic>
          <a:graphicData uri="http://schemas.openxmlformats.org/drawingml/2006/table">
            <a:tbl>
              <a:tblPr/>
              <a:tblGrid>
                <a:gridCol w="2016125"/>
                <a:gridCol w="6742113"/>
              </a:tblGrid>
              <a:tr h="5318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方</a:t>
                      </a:r>
                      <a:r>
                        <a:rPr lang="en-US" altLang="zh-CN" dirty="0">
                          <a:solidFill>
                            <a:srgbClr val="000000"/>
                          </a:solidFill>
                          <a:latin typeface="Arial" panose="020B0604020202020204" pitchFamily="34" charset="0"/>
                          <a:ea typeface="黑体" panose="02010609060101010101" pitchFamily="49" charset="-122"/>
                        </a:rPr>
                        <a:t>    </a:t>
                      </a:r>
                      <a:r>
                        <a:rPr lang="zh-CN" altLang="zh-CN" dirty="0">
                          <a:solidFill>
                            <a:srgbClr val="000000"/>
                          </a:solidFill>
                          <a:latin typeface="Arial" panose="020B0604020202020204" pitchFamily="34" charset="0"/>
                          <a:ea typeface="黑体" panose="02010609060101010101" pitchFamily="49" charset="-122"/>
                        </a:rPr>
                        <a:t>法</a:t>
                      </a:r>
                      <a:endParaRPr lang="zh-CN" altLang="zh-CN" dirty="0">
                        <a:solidFill>
                          <a:srgbClr val="000000"/>
                        </a:solidFill>
                        <a:latin typeface="Times New Roman" panose="02020603050405020304" pitchFamily="18" charset="0"/>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描</a:t>
                      </a:r>
                      <a:r>
                        <a:rPr lang="en-US" altLang="zh-CN" dirty="0">
                          <a:solidFill>
                            <a:srgbClr val="000000"/>
                          </a:solidFill>
                          <a:latin typeface="Arial" panose="020B0604020202020204" pitchFamily="34" charset="0"/>
                          <a:ea typeface="黑体" panose="02010609060101010101" pitchFamily="49" charset="-122"/>
                        </a:rPr>
                        <a:t>    </a:t>
                      </a:r>
                      <a:r>
                        <a:rPr lang="zh-CN" altLang="zh-CN" dirty="0">
                          <a:solidFill>
                            <a:srgbClr val="000000"/>
                          </a:solidFill>
                          <a:latin typeface="Arial" panose="020B0604020202020204" pitchFamily="34" charset="0"/>
                          <a:ea typeface="黑体" panose="02010609060101010101" pitchFamily="49" charset="-122"/>
                        </a:rPr>
                        <a:t>述</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318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alert()</a:t>
                      </a:r>
                      <a:endParaRPr lang="zh-CN" altLang="zh-CN" dirty="0">
                        <a:solidFill>
                          <a:srgbClr val="000000"/>
                        </a:solidFill>
                        <a:latin typeface="Times New Roman" panose="02020603050405020304" pitchFamily="18" charset="0"/>
                        <a:ea typeface="黑体" panose="02010609060101010101" pitchFamily="49" charset="-122"/>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buNone/>
                      </a:pPr>
                      <a:r>
                        <a:rPr lang="zh-CN" altLang="zh-CN" dirty="0">
                          <a:solidFill>
                            <a:srgbClr val="000000"/>
                          </a:solidFill>
                          <a:latin typeface="Arial" panose="020B0604020202020204" pitchFamily="34" charset="0"/>
                          <a:ea typeface="黑体" panose="02010609060101010101" pitchFamily="49" charset="-122"/>
                        </a:rPr>
                        <a:t>弹出一个警告对话框</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318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confirm()</a:t>
                      </a:r>
                      <a:endParaRPr lang="zh-CN" altLang="zh-CN" dirty="0">
                        <a:solidFill>
                          <a:srgbClr val="000000"/>
                        </a:solidFill>
                        <a:latin typeface="Times New Roman" panose="02020603050405020304" pitchFamily="18" charset="0"/>
                        <a:ea typeface="黑体" panose="02010609060101010101" pitchFamily="49" charset="-122"/>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buNone/>
                      </a:pPr>
                      <a:r>
                        <a:rPr lang="zh-CN" altLang="zh-CN" dirty="0">
                          <a:solidFill>
                            <a:srgbClr val="000000"/>
                          </a:solidFill>
                          <a:latin typeface="Arial" panose="020B0604020202020204" pitchFamily="34" charset="0"/>
                          <a:ea typeface="黑体" panose="02010609060101010101" pitchFamily="49" charset="-122"/>
                        </a:rPr>
                        <a:t>显示一个确认对话框，单击</a:t>
                      </a:r>
                      <a:r>
                        <a:rPr lang="en-US" altLang="zh-CN" dirty="0">
                          <a:solidFill>
                            <a:srgbClr val="000000"/>
                          </a:solidFill>
                          <a:latin typeface="Arial" panose="020B0604020202020204" pitchFamily="34" charset="0"/>
                          <a:ea typeface="黑体" panose="02010609060101010101" pitchFamily="49" charset="-122"/>
                        </a:rPr>
                        <a:t>“</a:t>
                      </a:r>
                      <a:r>
                        <a:rPr lang="zh-CN" altLang="zh-CN" dirty="0">
                          <a:solidFill>
                            <a:srgbClr val="000000"/>
                          </a:solidFill>
                          <a:latin typeface="Arial" panose="020B0604020202020204" pitchFamily="34" charset="0"/>
                          <a:ea typeface="黑体" panose="02010609060101010101" pitchFamily="49" charset="-122"/>
                        </a:rPr>
                        <a:t>确认</a:t>
                      </a:r>
                      <a:r>
                        <a:rPr lang="en-US" altLang="zh-CN" dirty="0">
                          <a:solidFill>
                            <a:srgbClr val="000000"/>
                          </a:solidFill>
                          <a:latin typeface="Arial" panose="020B0604020202020204" pitchFamily="34" charset="0"/>
                          <a:ea typeface="黑体" panose="02010609060101010101" pitchFamily="49" charset="-122"/>
                        </a:rPr>
                        <a:t>”</a:t>
                      </a:r>
                      <a:r>
                        <a:rPr lang="zh-CN" altLang="zh-CN" dirty="0">
                          <a:solidFill>
                            <a:srgbClr val="000000"/>
                          </a:solidFill>
                          <a:latin typeface="Arial" panose="020B0604020202020204" pitchFamily="34" charset="0"/>
                          <a:ea typeface="黑体" panose="02010609060101010101" pitchFamily="49" charset="-122"/>
                        </a:rPr>
                        <a:t>按钮时返回</a:t>
                      </a:r>
                      <a:r>
                        <a:rPr lang="en-US" altLang="zh-CN" dirty="0">
                          <a:solidFill>
                            <a:srgbClr val="000000"/>
                          </a:solidFill>
                          <a:latin typeface="Arial" panose="020B0604020202020204" pitchFamily="34" charset="0"/>
                          <a:ea typeface="黑体" panose="02010609060101010101" pitchFamily="49" charset="-122"/>
                        </a:rPr>
                        <a:t>true</a:t>
                      </a:r>
                      <a:r>
                        <a:rPr lang="zh-CN" altLang="zh-CN" dirty="0">
                          <a:solidFill>
                            <a:srgbClr val="000000"/>
                          </a:solidFill>
                          <a:latin typeface="Arial" panose="020B0604020202020204" pitchFamily="34" charset="0"/>
                          <a:ea typeface="黑体" panose="02010609060101010101" pitchFamily="49" charset="-122"/>
                        </a:rPr>
                        <a:t>，否则返回</a:t>
                      </a:r>
                      <a:r>
                        <a:rPr lang="en-US" altLang="zh-CN" dirty="0">
                          <a:solidFill>
                            <a:srgbClr val="000000"/>
                          </a:solidFill>
                          <a:latin typeface="Arial" panose="020B0604020202020204" pitchFamily="34" charset="0"/>
                          <a:ea typeface="黑体" panose="02010609060101010101" pitchFamily="49" charset="-122"/>
                        </a:rPr>
                        <a:t>false</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318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prompt()</a:t>
                      </a:r>
                      <a:endParaRPr lang="zh-CN" altLang="zh-CN" dirty="0">
                        <a:solidFill>
                          <a:srgbClr val="000000"/>
                        </a:solidFill>
                        <a:latin typeface="Times New Roman" panose="02020603050405020304" pitchFamily="18" charset="0"/>
                        <a:ea typeface="黑体" panose="02010609060101010101" pitchFamily="49" charset="-122"/>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buNone/>
                      </a:pPr>
                      <a:r>
                        <a:rPr lang="zh-CN" altLang="zh-CN" dirty="0">
                          <a:solidFill>
                            <a:srgbClr val="000000"/>
                          </a:solidFill>
                          <a:latin typeface="Arial" panose="020B0604020202020204" pitchFamily="34" charset="0"/>
                          <a:ea typeface="黑体" panose="02010609060101010101" pitchFamily="49" charset="-122"/>
                        </a:rPr>
                        <a:t>弹出一个提示对话框，并要求输入一个简单的字符串</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318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setTimeout(timer)</a:t>
                      </a:r>
                      <a:endParaRPr lang="zh-CN" altLang="zh-CN" dirty="0">
                        <a:solidFill>
                          <a:srgbClr val="000000"/>
                        </a:solidFill>
                        <a:latin typeface="Times New Roman" panose="02020603050405020304" pitchFamily="18" charset="0"/>
                        <a:ea typeface="黑体" panose="02010609060101010101" pitchFamily="49" charset="-122"/>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buNone/>
                      </a:pPr>
                      <a:r>
                        <a:rPr lang="zh-CN" altLang="zh-CN" dirty="0">
                          <a:solidFill>
                            <a:srgbClr val="000000"/>
                          </a:solidFill>
                          <a:latin typeface="Arial" panose="020B0604020202020204" pitchFamily="34" charset="0"/>
                          <a:ea typeface="黑体" panose="02010609060101010101" pitchFamily="49" charset="-122"/>
                        </a:rPr>
                        <a:t>在经过指定的时间后执行代码</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318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clearTimeout()</a:t>
                      </a:r>
                      <a:endParaRPr lang="zh-CN" altLang="zh-CN" dirty="0">
                        <a:solidFill>
                          <a:srgbClr val="000000"/>
                        </a:solidFill>
                        <a:latin typeface="Times New Roman" panose="02020603050405020304" pitchFamily="18" charset="0"/>
                        <a:ea typeface="黑体" panose="02010609060101010101" pitchFamily="49" charset="-122"/>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buNone/>
                      </a:pPr>
                      <a:r>
                        <a:rPr lang="zh-CN" altLang="zh-CN" dirty="0">
                          <a:solidFill>
                            <a:srgbClr val="000000"/>
                          </a:solidFill>
                          <a:latin typeface="Arial" panose="020B0604020202020204" pitchFamily="34" charset="0"/>
                          <a:ea typeface="黑体" panose="02010609060101010101" pitchFamily="49" charset="-122"/>
                        </a:rPr>
                        <a:t>取消对指定代码的延迟执行</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3181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setInterval()</a:t>
                      </a:r>
                      <a:endParaRPr lang="zh-CN" altLang="zh-CN" dirty="0">
                        <a:solidFill>
                          <a:srgbClr val="000000"/>
                        </a:solidFill>
                        <a:latin typeface="Times New Roman" panose="02020603050405020304" pitchFamily="18" charset="0"/>
                        <a:ea typeface="黑体" panose="02010609060101010101" pitchFamily="49" charset="-122"/>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buNone/>
                      </a:pPr>
                      <a:r>
                        <a:rPr lang="zh-CN" altLang="zh-CN" dirty="0">
                          <a:solidFill>
                            <a:srgbClr val="000000"/>
                          </a:solidFill>
                          <a:latin typeface="Arial" panose="020B0604020202020204" pitchFamily="34" charset="0"/>
                          <a:ea typeface="黑体" panose="02010609060101010101" pitchFamily="49" charset="-122"/>
                        </a:rPr>
                        <a:t>周期执行指定的代码</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3181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buNone/>
                      </a:pPr>
                      <a:r>
                        <a:rPr lang="en-US" altLang="zh-CN" dirty="0">
                          <a:solidFill>
                            <a:srgbClr val="000000"/>
                          </a:solidFill>
                          <a:latin typeface="Arial" panose="020B0604020202020204" pitchFamily="34" charset="0"/>
                          <a:ea typeface="黑体" panose="02010609060101010101" pitchFamily="49" charset="-122"/>
                        </a:rPr>
                        <a:t>clearInterval()</a:t>
                      </a:r>
                      <a:endParaRPr lang="zh-CN" altLang="zh-CN" dirty="0">
                        <a:solidFill>
                          <a:srgbClr val="000000"/>
                        </a:solidFill>
                        <a:latin typeface="Times New Roman" panose="02020603050405020304" pitchFamily="18" charset="0"/>
                        <a:ea typeface="黑体" panose="02010609060101010101" pitchFamily="49" charset="-122"/>
                      </a:endParaRPr>
                    </a:p>
                  </a:txBody>
                  <a:tcPr marL="68573" marR="68573"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14605" algn="ctr" eaLnBrk="1" hangingPunct="1">
                        <a:buNone/>
                      </a:pPr>
                      <a:r>
                        <a:rPr lang="zh-CN" altLang="zh-CN" dirty="0">
                          <a:solidFill>
                            <a:srgbClr val="000000"/>
                          </a:solidFill>
                          <a:latin typeface="Arial" panose="020B0604020202020204" pitchFamily="34" charset="0"/>
                          <a:ea typeface="黑体" panose="02010609060101010101" pitchFamily="49" charset="-122"/>
                        </a:rPr>
                        <a:t>停止周期性地执行代码</a:t>
                      </a:r>
                      <a:endParaRPr lang="zh-CN" altLang="zh-CN" dirty="0">
                        <a:solidFill>
                          <a:srgbClr val="000000"/>
                        </a:solidFill>
                        <a:latin typeface="Times New Roman" panose="02020603050405020304" pitchFamily="18" charset="0"/>
                      </a:endParaRPr>
                    </a:p>
                  </a:txBody>
                  <a:tcPr marL="68573" marR="68573"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 </a:t>
            </a:r>
            <a:endParaRPr lang="zh-CN" altLang="en-US" baseline="0" dirty="0">
              <a:latin typeface="Times New Roman" panose="02020603050405020304" pitchFamily="18" charset="0"/>
              <a:ea typeface="黑体" panose="02010609060101010101" pitchFamily="49" charset="-122"/>
              <a:cs typeface="+mj-cs"/>
            </a:endParaRPr>
          </a:p>
        </p:txBody>
      </p:sp>
      <p:sp>
        <p:nvSpPr>
          <p:cNvPr id="89090"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2. location</a:t>
            </a:r>
            <a:r>
              <a:rPr lang="zh-CN" altLang="en-US" sz="2800" b="1" dirty="0">
                <a:solidFill>
                  <a:srgbClr val="0000FF"/>
                </a:solidFill>
              </a:rPr>
              <a:t>对象</a:t>
            </a:r>
            <a:endParaRPr lang="zh-CN" altLang="en-US" sz="2800" b="1" dirty="0">
              <a:solidFill>
                <a:srgbClr val="0000FF"/>
              </a:solidFill>
            </a:endParaRPr>
          </a:p>
          <a:p>
            <a:pPr marL="0" indent="0">
              <a:buNone/>
            </a:pPr>
            <a:r>
              <a:rPr lang="en-US" altLang="zh-CN" sz="2800" dirty="0">
                <a:solidFill>
                  <a:srgbClr val="000000"/>
                </a:solidFill>
              </a:rPr>
              <a:t>location</a:t>
            </a:r>
            <a:r>
              <a:rPr lang="zh-CN" altLang="en-US" sz="2800" dirty="0">
                <a:solidFill>
                  <a:srgbClr val="000000"/>
                </a:solidFill>
              </a:rPr>
              <a:t>对象实现网页页面的跳转。</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在</a:t>
            </a:r>
            <a:r>
              <a:rPr lang="en-US" altLang="zh-CN" sz="2800" dirty="0">
                <a:solidFill>
                  <a:srgbClr val="000000"/>
                </a:solidFill>
              </a:rPr>
              <a:t>HTML</a:t>
            </a:r>
            <a:r>
              <a:rPr lang="zh-CN" altLang="en-US" sz="2800" dirty="0">
                <a:solidFill>
                  <a:srgbClr val="000000"/>
                </a:solidFill>
              </a:rPr>
              <a:t>中使用标签</a:t>
            </a:r>
            <a:r>
              <a:rPr lang="en-US" altLang="zh-CN" sz="2800" dirty="0">
                <a:solidFill>
                  <a:srgbClr val="000000"/>
                </a:solidFill>
              </a:rPr>
              <a:t>&lt;a&gt;&lt;/a&gt;</a:t>
            </a:r>
            <a:r>
              <a:rPr lang="zh-CN" altLang="en-US" sz="2800" dirty="0">
                <a:solidFill>
                  <a:srgbClr val="000000"/>
                </a:solidFill>
              </a:rPr>
              <a:t>来实现页面的跳转，在</a:t>
            </a:r>
            <a:r>
              <a:rPr lang="en-US" altLang="zh-CN" sz="2800" dirty="0">
                <a:solidFill>
                  <a:srgbClr val="000000"/>
                </a:solidFill>
              </a:rPr>
              <a:t>JavaScript</a:t>
            </a:r>
            <a:r>
              <a:rPr lang="zh-CN" altLang="en-US" sz="2800" dirty="0">
                <a:solidFill>
                  <a:srgbClr val="000000"/>
                </a:solidFill>
              </a:rPr>
              <a:t>中，利用</a:t>
            </a:r>
            <a:r>
              <a:rPr lang="en-US" altLang="zh-CN" sz="2800" dirty="0">
                <a:solidFill>
                  <a:srgbClr val="000000"/>
                </a:solidFill>
              </a:rPr>
              <a:t>location</a:t>
            </a:r>
            <a:r>
              <a:rPr lang="zh-CN" altLang="en-US" sz="2800" dirty="0">
                <a:solidFill>
                  <a:srgbClr val="000000"/>
                </a:solidFill>
              </a:rPr>
              <a:t>对象实现页面的自动跳转。</a:t>
            </a:r>
            <a:endParaRPr lang="en-US" altLang="zh-CN" sz="2800" dirty="0">
              <a:solidFill>
                <a:srgbClr val="000000"/>
              </a:solidFill>
            </a:endParaRPr>
          </a:p>
          <a:p>
            <a:pPr marL="0" indent="0">
              <a:buNone/>
            </a:pPr>
            <a:endParaRPr lang="en-US" altLang="zh-CN" sz="2800" dirty="0">
              <a:solidFill>
                <a:srgbClr val="000000"/>
              </a:solidFill>
            </a:endParaRPr>
          </a:p>
          <a:p>
            <a:pPr marL="0" indent="0">
              <a:buNone/>
            </a:pPr>
            <a:r>
              <a:rPr lang="zh-CN" altLang="en-US" sz="2800" dirty="0">
                <a:solidFill>
                  <a:srgbClr val="000000"/>
                </a:solidFill>
              </a:rPr>
              <a:t>使用格式：</a:t>
            </a:r>
            <a:endParaRPr lang="zh-CN" altLang="en-US" sz="2800" dirty="0">
              <a:solidFill>
                <a:srgbClr val="000000"/>
              </a:solidFill>
            </a:endParaRPr>
          </a:p>
          <a:p>
            <a:pPr marL="0" indent="0">
              <a:buNone/>
            </a:pPr>
            <a:r>
              <a:rPr lang="en-US" altLang="zh-CN" sz="2800" dirty="0">
                <a:solidFill>
                  <a:srgbClr val="000000"/>
                </a:solidFill>
              </a:rPr>
              <a:t>            window.location.href="</a:t>
            </a:r>
            <a:r>
              <a:rPr lang="zh-CN" altLang="en-US" sz="2800" dirty="0">
                <a:solidFill>
                  <a:srgbClr val="000000"/>
                </a:solidFill>
              </a:rPr>
              <a:t>网页路径</a:t>
            </a:r>
            <a:r>
              <a:rPr lang="en-US" altLang="zh-CN" sz="2800" dirty="0">
                <a:solidFill>
                  <a:srgbClr val="000000"/>
                </a:solidFill>
              </a:rPr>
              <a:t>";</a:t>
            </a:r>
            <a:endParaRPr lang="en-US" altLang="zh-CN" sz="2800" dirty="0">
              <a:solidFill>
                <a:srgbClr val="000000"/>
              </a:solidFill>
            </a:endParaRPr>
          </a:p>
          <a:p>
            <a:pPr marL="0" indent="0">
              <a:buNone/>
            </a:pPr>
            <a:r>
              <a:rPr lang="zh-CN" altLang="en-US" sz="2800" dirty="0">
                <a:solidFill>
                  <a:srgbClr val="000000"/>
                </a:solidFill>
              </a:rPr>
              <a:t>例如：</a:t>
            </a:r>
            <a:endParaRPr lang="en-US" altLang="zh-CN" sz="2800" dirty="0">
              <a:solidFill>
                <a:srgbClr val="000000"/>
              </a:solidFill>
            </a:endParaRPr>
          </a:p>
          <a:p>
            <a:pPr marL="0" indent="0">
              <a:buNone/>
            </a:pPr>
            <a:r>
              <a:rPr lang="zh-CN" altLang="en-US" sz="2800" dirty="0">
                <a:solidFill>
                  <a:srgbClr val="000000"/>
                </a:solidFill>
              </a:rPr>
              <a:t>     跳转到北京信息科技大学主页：</a:t>
            </a:r>
            <a:endParaRPr lang="en-US" altLang="zh-CN" sz="2800" dirty="0">
              <a:solidFill>
                <a:srgbClr val="000000"/>
              </a:solidFill>
            </a:endParaRPr>
          </a:p>
          <a:p>
            <a:pPr marL="0" indent="0">
              <a:buNone/>
            </a:pPr>
            <a:r>
              <a:rPr lang="en-US" altLang="zh-CN" sz="2800" dirty="0">
                <a:solidFill>
                  <a:srgbClr val="000000"/>
                </a:solidFill>
              </a:rPr>
              <a:t>            window.location.href="http://www.bistu.edu.cn";</a:t>
            </a:r>
            <a:endParaRPr lang="en-US" altLang="zh-CN" sz="2800" dirty="0">
              <a:solidFill>
                <a:srgbClr val="000000"/>
              </a:solidFill>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0114" name="内容占位符 2"/>
          <p:cNvSpPr>
            <a:spLocks noGrp="1"/>
          </p:cNvSpPr>
          <p:nvPr>
            <p:ph idx="1"/>
          </p:nvPr>
        </p:nvSpPr>
        <p:spPr>
          <a:xfrm>
            <a:off x="107950" y="1125538"/>
            <a:ext cx="8928100" cy="1582737"/>
          </a:xfrm>
        </p:spPr>
        <p:txBody>
          <a:bodyPr vert="horz" wrap="square" lIns="91440" tIns="45720" rIns="91440" bIns="45720" anchor="t" anchorCtr="0"/>
          <a:p>
            <a:pPr marL="0" indent="0">
              <a:spcBef>
                <a:spcPct val="0"/>
              </a:spcBef>
              <a:buNone/>
            </a:pPr>
            <a:r>
              <a:rPr lang="en-US" altLang="zh-CN" sz="2800" b="1" dirty="0">
                <a:solidFill>
                  <a:srgbClr val="0000FF"/>
                </a:solidFill>
              </a:rPr>
              <a:t>3. history</a:t>
            </a:r>
            <a:r>
              <a:rPr lang="zh-CN" altLang="en-US" sz="2800" b="1" dirty="0">
                <a:solidFill>
                  <a:srgbClr val="0000FF"/>
                </a:solidFill>
              </a:rPr>
              <a:t>对象</a:t>
            </a:r>
            <a:endParaRPr lang="zh-CN" altLang="en-US" sz="2800" b="1" dirty="0">
              <a:solidFill>
                <a:srgbClr val="0000FF"/>
              </a:solidFill>
            </a:endParaRPr>
          </a:p>
          <a:p>
            <a:pPr marL="0" indent="0">
              <a:buNone/>
            </a:pPr>
            <a:r>
              <a:rPr lang="en-US" altLang="zh-CN" sz="2800" dirty="0">
                <a:solidFill>
                  <a:srgbClr val="000000"/>
                </a:solidFill>
              </a:rPr>
              <a:t>history</a:t>
            </a:r>
            <a:r>
              <a:rPr lang="zh-CN" altLang="en-US" sz="2800" dirty="0">
                <a:solidFill>
                  <a:srgbClr val="000000"/>
                </a:solidFill>
              </a:rPr>
              <a:t>对象可以访问浏览器窗口的浏览历史，通过</a:t>
            </a:r>
            <a:r>
              <a:rPr lang="en-US" altLang="zh-CN" sz="2800" dirty="0">
                <a:solidFill>
                  <a:srgbClr val="000000"/>
                </a:solidFill>
              </a:rPr>
              <a:t>go</a:t>
            </a:r>
            <a:r>
              <a:rPr lang="zh-CN" altLang="en-US" sz="2800" dirty="0">
                <a:solidFill>
                  <a:srgbClr val="000000"/>
                </a:solidFill>
              </a:rPr>
              <a:t>、</a:t>
            </a:r>
            <a:r>
              <a:rPr lang="en-US" altLang="zh-CN" sz="2800" dirty="0">
                <a:solidFill>
                  <a:srgbClr val="000000"/>
                </a:solidFill>
              </a:rPr>
              <a:t>back</a:t>
            </a:r>
            <a:r>
              <a:rPr lang="zh-CN" altLang="en-US" sz="2800" dirty="0">
                <a:solidFill>
                  <a:srgbClr val="000000"/>
                </a:solidFill>
              </a:rPr>
              <a:t>、</a:t>
            </a:r>
            <a:r>
              <a:rPr lang="en-US" altLang="zh-CN" sz="2800" dirty="0">
                <a:solidFill>
                  <a:srgbClr val="000000"/>
                </a:solidFill>
              </a:rPr>
              <a:t>forward</a:t>
            </a:r>
            <a:r>
              <a:rPr lang="zh-CN" altLang="en-US" sz="2800" dirty="0">
                <a:solidFill>
                  <a:srgbClr val="000000"/>
                </a:solidFill>
              </a:rPr>
              <a:t>等方法控制浏览器的前进和后退。</a:t>
            </a:r>
            <a:endParaRPr lang="zh-CN" altLang="en-US" sz="2800" dirty="0">
              <a:solidFill>
                <a:srgbClr val="000000"/>
              </a:solidFill>
            </a:endParaRPr>
          </a:p>
        </p:txBody>
      </p:sp>
      <p:graphicFrame>
        <p:nvGraphicFramePr>
          <p:cNvPr id="91140" name="表格 91139"/>
          <p:cNvGraphicFramePr/>
          <p:nvPr/>
        </p:nvGraphicFramePr>
        <p:xfrm>
          <a:off x="284163" y="2997200"/>
          <a:ext cx="8640763" cy="3097213"/>
        </p:xfrm>
        <a:graphic>
          <a:graphicData uri="http://schemas.openxmlformats.org/drawingml/2006/table">
            <a:tbl>
              <a:tblPr/>
              <a:tblGrid>
                <a:gridCol w="2016125"/>
                <a:gridCol w="6624638"/>
              </a:tblGrid>
              <a:tr h="6064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属性、方法</a:t>
                      </a:r>
                      <a:endParaRPr lang="zh-CN" altLang="zh-CN" dirty="0">
                        <a:solidFill>
                          <a:srgbClr val="000000"/>
                        </a:solidFill>
                        <a:latin typeface="Times New Roman" panose="02020603050405020304" pitchFamily="18" charset="0"/>
                      </a:endParaRPr>
                    </a:p>
                  </a:txBody>
                  <a:tcPr marL="68578" marR="68578"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含义</a:t>
                      </a:r>
                      <a:endParaRPr lang="zh-CN" altLang="zh-CN" dirty="0">
                        <a:solidFill>
                          <a:srgbClr val="000000"/>
                        </a:solidFill>
                        <a:latin typeface="Times New Roman" panose="02020603050405020304" pitchFamily="18" charset="0"/>
                      </a:endParaRPr>
                    </a:p>
                  </a:txBody>
                  <a:tcPr marL="68578" marR="68578"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714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Length</a:t>
                      </a:r>
                      <a:r>
                        <a:rPr lang="zh-CN" altLang="zh-CN" dirty="0">
                          <a:solidFill>
                            <a:srgbClr val="000000"/>
                          </a:solidFill>
                          <a:latin typeface="Arial" panose="020B0604020202020204" pitchFamily="34" charset="0"/>
                          <a:ea typeface="黑体" panose="02010609060101010101" pitchFamily="49" charset="-122"/>
                        </a:rPr>
                        <a:t>属性</a:t>
                      </a:r>
                      <a:endParaRPr lang="zh-CN" altLang="zh-CN" dirty="0">
                        <a:solidFill>
                          <a:srgbClr val="000000"/>
                        </a:solidFill>
                        <a:latin typeface="Times New Roman" panose="02020603050405020304" pitchFamily="18" charset="0"/>
                        <a:ea typeface="黑体" panose="02010609060101010101" pitchFamily="49" charset="-122"/>
                      </a:endParaRPr>
                    </a:p>
                  </a:txBody>
                  <a:tcPr marL="68578" marR="68578"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浏览历史记录的总数</a:t>
                      </a:r>
                      <a:endParaRPr lang="zh-CN" altLang="zh-CN" dirty="0">
                        <a:solidFill>
                          <a:srgbClr val="000000"/>
                        </a:solidFill>
                        <a:latin typeface="Times New Roman" panose="02020603050405020304" pitchFamily="18" charset="0"/>
                      </a:endParaRPr>
                    </a:p>
                  </a:txBody>
                  <a:tcPr marL="68578" marR="68578"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94138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go(index)</a:t>
                      </a:r>
                      <a:r>
                        <a:rPr lang="zh-CN" altLang="zh-CN" dirty="0">
                          <a:solidFill>
                            <a:srgbClr val="000000"/>
                          </a:solidFill>
                          <a:latin typeface="Arial" panose="020B0604020202020204" pitchFamily="34" charset="0"/>
                          <a:ea typeface="黑体" panose="02010609060101010101" pitchFamily="49" charset="-122"/>
                        </a:rPr>
                        <a:t>方法</a:t>
                      </a:r>
                      <a:endParaRPr lang="zh-CN" altLang="zh-CN" dirty="0">
                        <a:solidFill>
                          <a:srgbClr val="000000"/>
                        </a:solidFill>
                        <a:latin typeface="Times New Roman" panose="02020603050405020304" pitchFamily="18" charset="0"/>
                        <a:ea typeface="黑体" panose="02010609060101010101" pitchFamily="49" charset="-122"/>
                      </a:endParaRPr>
                    </a:p>
                  </a:txBody>
                  <a:tcPr marL="68578" marR="68578"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从浏览历史中加载</a:t>
                      </a:r>
                      <a:r>
                        <a:rPr lang="en-US" altLang="zh-CN" dirty="0">
                          <a:solidFill>
                            <a:srgbClr val="000000"/>
                          </a:solidFill>
                          <a:latin typeface="Arial" panose="020B0604020202020204" pitchFamily="34" charset="0"/>
                          <a:ea typeface="黑体" panose="02010609060101010101" pitchFamily="49" charset="-122"/>
                        </a:rPr>
                        <a:t>URL</a:t>
                      </a:r>
                      <a:r>
                        <a:rPr lang="zh-CN" altLang="zh-CN" dirty="0">
                          <a:solidFill>
                            <a:srgbClr val="000000"/>
                          </a:solidFill>
                          <a:latin typeface="Arial" panose="020B0604020202020204" pitchFamily="34" charset="0"/>
                          <a:ea typeface="黑体" panose="02010609060101010101" pitchFamily="49" charset="-122"/>
                        </a:rPr>
                        <a:t>，</a:t>
                      </a:r>
                      <a:r>
                        <a:rPr lang="en-US" altLang="zh-CN" dirty="0">
                          <a:solidFill>
                            <a:srgbClr val="000000"/>
                          </a:solidFill>
                          <a:latin typeface="Arial" panose="020B0604020202020204" pitchFamily="34" charset="0"/>
                          <a:ea typeface="黑体" panose="02010609060101010101" pitchFamily="49" charset="-122"/>
                        </a:rPr>
                        <a:t>index</a:t>
                      </a:r>
                      <a:r>
                        <a:rPr lang="zh-CN" altLang="zh-CN" dirty="0">
                          <a:solidFill>
                            <a:srgbClr val="000000"/>
                          </a:solidFill>
                          <a:latin typeface="Arial" panose="020B0604020202020204" pitchFamily="34" charset="0"/>
                          <a:ea typeface="黑体" panose="02010609060101010101" pitchFamily="49" charset="-122"/>
                        </a:rPr>
                        <a:t>参数是加载</a:t>
                      </a:r>
                      <a:r>
                        <a:rPr lang="en-US" altLang="zh-CN" dirty="0">
                          <a:solidFill>
                            <a:srgbClr val="000000"/>
                          </a:solidFill>
                          <a:latin typeface="Arial" panose="020B0604020202020204" pitchFamily="34" charset="0"/>
                          <a:ea typeface="黑体" panose="02010609060101010101" pitchFamily="49" charset="-122"/>
                        </a:rPr>
                        <a:t>URL</a:t>
                      </a:r>
                      <a:r>
                        <a:rPr lang="zh-CN" altLang="zh-CN" dirty="0">
                          <a:solidFill>
                            <a:srgbClr val="000000"/>
                          </a:solidFill>
                          <a:latin typeface="Arial" panose="020B0604020202020204" pitchFamily="34" charset="0"/>
                          <a:ea typeface="黑体" panose="02010609060101010101" pitchFamily="49" charset="-122"/>
                        </a:rPr>
                        <a:t>的相对路径，</a:t>
                      </a:r>
                      <a:r>
                        <a:rPr lang="en-US" altLang="zh-CN" dirty="0">
                          <a:solidFill>
                            <a:srgbClr val="000000"/>
                          </a:solidFill>
                          <a:latin typeface="Arial" panose="020B0604020202020204" pitchFamily="34" charset="0"/>
                          <a:ea typeface="黑体" panose="02010609060101010101" pitchFamily="49" charset="-122"/>
                        </a:rPr>
                        <a:t>index</a:t>
                      </a:r>
                      <a:r>
                        <a:rPr lang="zh-CN" altLang="zh-CN" dirty="0">
                          <a:solidFill>
                            <a:srgbClr val="000000"/>
                          </a:solidFill>
                          <a:latin typeface="Arial" panose="020B0604020202020204" pitchFamily="34" charset="0"/>
                          <a:ea typeface="黑体" panose="02010609060101010101" pitchFamily="49" charset="-122"/>
                        </a:rPr>
                        <a:t>为负数时，表示当前地址之前的浏览记录，</a:t>
                      </a:r>
                      <a:r>
                        <a:rPr lang="en-US" altLang="zh-CN" dirty="0">
                          <a:solidFill>
                            <a:srgbClr val="000000"/>
                          </a:solidFill>
                          <a:latin typeface="Arial" panose="020B0604020202020204" pitchFamily="34" charset="0"/>
                          <a:ea typeface="黑体" panose="02010609060101010101" pitchFamily="49" charset="-122"/>
                        </a:rPr>
                        <a:t>index</a:t>
                      </a:r>
                      <a:r>
                        <a:rPr lang="zh-CN" altLang="zh-CN" dirty="0">
                          <a:solidFill>
                            <a:srgbClr val="000000"/>
                          </a:solidFill>
                          <a:latin typeface="Arial" panose="020B0604020202020204" pitchFamily="34" charset="0"/>
                          <a:ea typeface="黑体" panose="02010609060101010101" pitchFamily="49" charset="-122"/>
                        </a:rPr>
                        <a:t>正数时，表示当前地址之后的浏览记录</a:t>
                      </a:r>
                      <a:endParaRPr lang="zh-CN" altLang="zh-CN" dirty="0">
                        <a:solidFill>
                          <a:srgbClr val="000000"/>
                        </a:solidFill>
                        <a:latin typeface="Times New Roman" panose="02020603050405020304" pitchFamily="18" charset="0"/>
                      </a:endParaRPr>
                    </a:p>
                  </a:txBody>
                  <a:tcPr marL="68578" marR="68578"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714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forward()</a:t>
                      </a:r>
                      <a:r>
                        <a:rPr lang="zh-CN" altLang="zh-CN" dirty="0">
                          <a:solidFill>
                            <a:srgbClr val="000000"/>
                          </a:solidFill>
                          <a:latin typeface="Arial" panose="020B0604020202020204" pitchFamily="34" charset="0"/>
                          <a:ea typeface="黑体" panose="02010609060101010101" pitchFamily="49" charset="-122"/>
                        </a:rPr>
                        <a:t>方法</a:t>
                      </a:r>
                      <a:endParaRPr lang="zh-CN" altLang="zh-CN" dirty="0">
                        <a:solidFill>
                          <a:srgbClr val="000000"/>
                        </a:solidFill>
                        <a:latin typeface="Times New Roman" panose="02020603050405020304" pitchFamily="18" charset="0"/>
                        <a:ea typeface="黑体" panose="02010609060101010101" pitchFamily="49" charset="-122"/>
                      </a:endParaRPr>
                    </a:p>
                  </a:txBody>
                  <a:tcPr marL="68578" marR="68578"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从浏览历史中加载下一个</a:t>
                      </a:r>
                      <a:r>
                        <a:rPr lang="en-US" altLang="zh-CN" dirty="0">
                          <a:solidFill>
                            <a:srgbClr val="000000"/>
                          </a:solidFill>
                          <a:latin typeface="Arial" panose="020B0604020202020204" pitchFamily="34" charset="0"/>
                          <a:ea typeface="黑体" panose="02010609060101010101" pitchFamily="49" charset="-122"/>
                        </a:rPr>
                        <a:t>URL</a:t>
                      </a:r>
                      <a:r>
                        <a:rPr lang="zh-CN" altLang="zh-CN" dirty="0">
                          <a:solidFill>
                            <a:srgbClr val="000000"/>
                          </a:solidFill>
                          <a:latin typeface="Arial" panose="020B0604020202020204" pitchFamily="34" charset="0"/>
                          <a:ea typeface="黑体" panose="02010609060101010101" pitchFamily="49" charset="-122"/>
                        </a:rPr>
                        <a:t>，相当于</a:t>
                      </a:r>
                      <a:r>
                        <a:rPr lang="en-US" altLang="zh-CN" dirty="0">
                          <a:solidFill>
                            <a:srgbClr val="000000"/>
                          </a:solidFill>
                          <a:latin typeface="Arial" panose="020B0604020202020204" pitchFamily="34" charset="0"/>
                          <a:ea typeface="黑体" panose="02010609060101010101" pitchFamily="49" charset="-122"/>
                        </a:rPr>
                        <a:t>history.go(1)</a:t>
                      </a:r>
                      <a:endParaRPr lang="zh-CN" altLang="zh-CN" dirty="0">
                        <a:solidFill>
                          <a:srgbClr val="000000"/>
                        </a:solidFill>
                        <a:latin typeface="Times New Roman" panose="02020603050405020304" pitchFamily="18" charset="0"/>
                      </a:endParaRPr>
                    </a:p>
                  </a:txBody>
                  <a:tcPr marL="68578" marR="68578"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064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algn="ctr" eaLnBrk="1" hangingPunct="1">
                        <a:spcBef>
                          <a:spcPts val="100"/>
                        </a:spcBef>
                        <a:spcAft>
                          <a:spcPts val="100"/>
                        </a:spcAft>
                        <a:buNone/>
                      </a:pPr>
                      <a:r>
                        <a:rPr lang="en-US" altLang="zh-CN" dirty="0">
                          <a:solidFill>
                            <a:srgbClr val="000000"/>
                          </a:solidFill>
                          <a:latin typeface="Arial" panose="020B0604020202020204" pitchFamily="34" charset="0"/>
                          <a:ea typeface="黑体" panose="02010609060101010101" pitchFamily="49" charset="-122"/>
                        </a:rPr>
                        <a:t>back()</a:t>
                      </a:r>
                      <a:r>
                        <a:rPr lang="zh-CN" altLang="zh-CN" dirty="0">
                          <a:solidFill>
                            <a:srgbClr val="000000"/>
                          </a:solidFill>
                          <a:latin typeface="Arial" panose="020B0604020202020204" pitchFamily="34" charset="0"/>
                          <a:ea typeface="黑体" panose="02010609060101010101" pitchFamily="49" charset="-122"/>
                        </a:rPr>
                        <a:t>方法</a:t>
                      </a:r>
                      <a:endParaRPr lang="zh-CN" altLang="zh-CN" dirty="0">
                        <a:solidFill>
                          <a:srgbClr val="000000"/>
                        </a:solidFill>
                        <a:latin typeface="Times New Roman" panose="02020603050405020304" pitchFamily="18" charset="0"/>
                        <a:ea typeface="黑体" panose="02010609060101010101" pitchFamily="49" charset="-122"/>
                      </a:endParaRPr>
                    </a:p>
                  </a:txBody>
                  <a:tcPr marL="68578" marR="68578" marT="0" marB="0"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stStyle>
                    <a:p>
                      <a:pPr lvl="0" indent="6350" algn="ctr" eaLnBrk="1" hangingPunct="1">
                        <a:spcBef>
                          <a:spcPts val="100"/>
                        </a:spcBef>
                        <a:spcAft>
                          <a:spcPts val="100"/>
                        </a:spcAft>
                        <a:buNone/>
                      </a:pPr>
                      <a:r>
                        <a:rPr lang="zh-CN" altLang="zh-CN" dirty="0">
                          <a:solidFill>
                            <a:srgbClr val="000000"/>
                          </a:solidFill>
                          <a:latin typeface="Arial" panose="020B0604020202020204" pitchFamily="34" charset="0"/>
                          <a:ea typeface="黑体" panose="02010609060101010101" pitchFamily="49" charset="-122"/>
                        </a:rPr>
                        <a:t>从浏览历史中加载上一个</a:t>
                      </a:r>
                      <a:r>
                        <a:rPr lang="en-US" altLang="zh-CN" dirty="0">
                          <a:solidFill>
                            <a:srgbClr val="000000"/>
                          </a:solidFill>
                          <a:latin typeface="Arial" panose="020B0604020202020204" pitchFamily="34" charset="0"/>
                          <a:ea typeface="黑体" panose="02010609060101010101" pitchFamily="49" charset="-122"/>
                        </a:rPr>
                        <a:t>URL, </a:t>
                      </a:r>
                      <a:r>
                        <a:rPr lang="zh-CN" altLang="zh-CN" dirty="0">
                          <a:solidFill>
                            <a:srgbClr val="000000"/>
                          </a:solidFill>
                          <a:latin typeface="Arial" panose="020B0604020202020204" pitchFamily="34" charset="0"/>
                          <a:ea typeface="黑体" panose="02010609060101010101" pitchFamily="49" charset="-122"/>
                        </a:rPr>
                        <a:t>相当于</a:t>
                      </a:r>
                      <a:r>
                        <a:rPr lang="en-US" altLang="zh-CN" dirty="0">
                          <a:solidFill>
                            <a:srgbClr val="000000"/>
                          </a:solidFill>
                          <a:latin typeface="Arial" panose="020B0604020202020204" pitchFamily="34" charset="0"/>
                          <a:ea typeface="黑体" panose="02010609060101010101" pitchFamily="49" charset="-122"/>
                        </a:rPr>
                        <a:t>history.go(-1)</a:t>
                      </a:r>
                      <a:endParaRPr lang="zh-CN" altLang="zh-CN" dirty="0">
                        <a:solidFill>
                          <a:srgbClr val="000000"/>
                        </a:solidFill>
                        <a:latin typeface="Times New Roman" panose="02020603050405020304" pitchFamily="18" charset="0"/>
                      </a:endParaRPr>
                    </a:p>
                  </a:txBody>
                  <a:tcPr marL="68578" marR="68578" marT="0" marB="0"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1138"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zh-CN" altLang="en-US" sz="2800" b="1" dirty="0">
              <a:solidFill>
                <a:srgbClr val="0000FF"/>
              </a:solidFill>
            </a:endParaRPr>
          </a:p>
          <a:p>
            <a:pPr marL="0" indent="0" algn="just">
              <a:buNone/>
            </a:pPr>
            <a:r>
              <a:rPr lang="zh-CN" altLang="en-US" sz="2800" dirty="0">
                <a:solidFill>
                  <a:srgbClr val="000000"/>
                </a:solidFill>
              </a:rPr>
              <a:t>每个</a:t>
            </a:r>
            <a:r>
              <a:rPr lang="en-US" altLang="zh-CN" sz="2800" dirty="0">
                <a:solidFill>
                  <a:srgbClr val="000000"/>
                </a:solidFill>
              </a:rPr>
              <a:t>HTML</a:t>
            </a:r>
            <a:r>
              <a:rPr lang="zh-CN" altLang="en-US" sz="2800" dirty="0">
                <a:solidFill>
                  <a:srgbClr val="000000"/>
                </a:solidFill>
              </a:rPr>
              <a:t>文档被加载后都会在内存中初始化一个</a:t>
            </a:r>
            <a:r>
              <a:rPr lang="en-US" altLang="zh-CN" sz="2800" dirty="0">
                <a:solidFill>
                  <a:srgbClr val="000000"/>
                </a:solidFill>
              </a:rPr>
              <a:t>document</a:t>
            </a:r>
            <a:r>
              <a:rPr lang="zh-CN" altLang="en-US" sz="2800" dirty="0">
                <a:solidFill>
                  <a:srgbClr val="000000"/>
                </a:solidFill>
              </a:rPr>
              <a:t>对象，该对象存放整个网页</a:t>
            </a:r>
            <a:r>
              <a:rPr lang="en-US" altLang="zh-CN" sz="2800" dirty="0">
                <a:solidFill>
                  <a:srgbClr val="000000"/>
                </a:solidFill>
              </a:rPr>
              <a:t>HTML</a:t>
            </a:r>
            <a:r>
              <a:rPr lang="zh-CN" altLang="en-US" sz="2800" dirty="0">
                <a:solidFill>
                  <a:srgbClr val="000000"/>
                </a:solidFill>
              </a:rPr>
              <a:t>内容，从该对象中，可获取页面表单的各种信息。</a:t>
            </a:r>
            <a:endParaRPr lang="zh-CN" altLang="en-US" dirty="0"/>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2162"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1</a:t>
            </a:r>
            <a:r>
              <a:rPr lang="zh-CN" altLang="en-US" sz="2800" b="1" dirty="0"/>
              <a:t>）获取表单域对象</a:t>
            </a:r>
            <a:endParaRPr lang="zh-CN" altLang="en-US" sz="2800" b="1" dirty="0"/>
          </a:p>
          <a:p>
            <a:pPr marL="0" indent="0">
              <a:buNone/>
            </a:pPr>
            <a:r>
              <a:rPr lang="zh-CN" altLang="en-US" sz="2200" dirty="0">
                <a:solidFill>
                  <a:srgbClr val="000000"/>
                </a:solidFill>
              </a:rPr>
              <a:t>     获得表单域对象的主要方法：通过表单访问、直接访问。</a:t>
            </a:r>
            <a:endParaRPr lang="zh-CN" altLang="en-US" sz="2200" dirty="0">
              <a:solidFill>
                <a:srgbClr val="000000"/>
              </a:solidFill>
            </a:endParaRPr>
          </a:p>
          <a:p>
            <a:pPr marL="0" indent="0">
              <a:buNone/>
            </a:pPr>
            <a:r>
              <a:rPr lang="zh-CN" altLang="en-US" sz="2200" dirty="0">
                <a:solidFill>
                  <a:srgbClr val="000000"/>
                </a:solidFill>
              </a:rPr>
              <a:t>假设有表单：</a:t>
            </a:r>
            <a:endParaRPr lang="zh-CN" altLang="en-US" sz="2200" dirty="0">
              <a:solidFill>
                <a:srgbClr val="000000"/>
              </a:solidFill>
            </a:endParaRPr>
          </a:p>
          <a:p>
            <a:pPr marL="0" indent="0">
              <a:buNone/>
            </a:pPr>
            <a:r>
              <a:rPr lang="en-US" altLang="zh-CN" sz="2200" dirty="0">
                <a:solidFill>
                  <a:srgbClr val="000000"/>
                </a:solidFill>
              </a:rPr>
              <a:t>&lt;form action=""  name= "form1" &gt;</a:t>
            </a:r>
            <a:endParaRPr lang="en-US" altLang="zh-CN" sz="2200" dirty="0">
              <a:solidFill>
                <a:srgbClr val="000000"/>
              </a:solidFill>
            </a:endParaRPr>
          </a:p>
          <a:p>
            <a:pPr marL="0" indent="0">
              <a:buNone/>
            </a:pPr>
            <a:r>
              <a:rPr lang="en-US" altLang="zh-CN" sz="2200" dirty="0">
                <a:solidFill>
                  <a:srgbClr val="000000"/>
                </a:solidFill>
              </a:rPr>
              <a:t>       &lt;input type="text" name= "t1"  value="" &gt;</a:t>
            </a:r>
            <a:endParaRPr lang="en-US" altLang="zh-CN" sz="2200" dirty="0">
              <a:solidFill>
                <a:srgbClr val="000000"/>
              </a:solidFill>
            </a:endParaRPr>
          </a:p>
          <a:p>
            <a:pPr marL="0" indent="0">
              <a:buNone/>
            </a:pPr>
            <a:r>
              <a:rPr lang="en-US" altLang="zh-CN" sz="2200" dirty="0">
                <a:solidFill>
                  <a:srgbClr val="000000"/>
                </a:solidFill>
              </a:rPr>
              <a:t>&lt;/form&gt; </a:t>
            </a:r>
            <a:endParaRPr lang="en-US" altLang="zh-CN" sz="2200" dirty="0">
              <a:solidFill>
                <a:srgbClr val="000000"/>
              </a:solidFill>
            </a:endParaRPr>
          </a:p>
          <a:p>
            <a:pPr marL="0" indent="0">
              <a:buNone/>
            </a:pPr>
            <a:r>
              <a:rPr lang="zh-CN" altLang="en-US" sz="2200" dirty="0">
                <a:solidFill>
                  <a:srgbClr val="000000"/>
                </a:solidFill>
              </a:rPr>
              <a:t>则获取输入域对象：</a:t>
            </a:r>
            <a:endParaRPr lang="zh-CN" altLang="en-US" sz="2200" dirty="0">
              <a:solidFill>
                <a:srgbClr val="000000"/>
              </a:solidFill>
            </a:endParaRPr>
          </a:p>
          <a:p>
            <a:pPr marL="0" indent="0">
              <a:buNone/>
            </a:pPr>
            <a:r>
              <a:rPr lang="zh-CN" altLang="en-US" sz="2200" dirty="0">
                <a:solidFill>
                  <a:srgbClr val="FF0000"/>
                </a:solidFill>
              </a:rPr>
              <a:t>① 通过表单访问</a:t>
            </a:r>
            <a:endParaRPr lang="zh-CN" altLang="en-US" sz="2200" dirty="0">
              <a:solidFill>
                <a:srgbClr val="FF0000"/>
              </a:solidFill>
            </a:endParaRPr>
          </a:p>
          <a:p>
            <a:pPr marL="0" indent="0">
              <a:buNone/>
            </a:pPr>
            <a:r>
              <a:rPr lang="en-US" altLang="zh-CN" sz="2200" dirty="0">
                <a:solidFill>
                  <a:srgbClr val="000000"/>
                </a:solidFill>
              </a:rPr>
              <a:t>    var fObj=document.form1.t1; </a:t>
            </a:r>
            <a:r>
              <a:rPr lang="en-US" altLang="zh-CN" sz="1800" dirty="0">
                <a:solidFill>
                  <a:srgbClr val="000000"/>
                </a:solidFill>
              </a:rPr>
              <a:t>// form1</a:t>
            </a:r>
            <a:r>
              <a:rPr lang="zh-CN" altLang="en-US" sz="1800" dirty="0">
                <a:solidFill>
                  <a:srgbClr val="000000"/>
                </a:solidFill>
              </a:rPr>
              <a:t>为表单的名字，</a:t>
            </a:r>
            <a:r>
              <a:rPr lang="en-US" altLang="zh-CN" sz="1800" dirty="0">
                <a:solidFill>
                  <a:srgbClr val="000000"/>
                </a:solidFill>
              </a:rPr>
              <a:t>t1</a:t>
            </a:r>
            <a:r>
              <a:rPr lang="zh-CN" altLang="en-US" sz="1800" dirty="0">
                <a:solidFill>
                  <a:srgbClr val="000000"/>
                </a:solidFill>
              </a:rPr>
              <a:t>为某表单域的</a:t>
            </a:r>
            <a:r>
              <a:rPr lang="en-US" altLang="zh-CN" sz="1800" dirty="0">
                <a:solidFill>
                  <a:srgbClr val="000000"/>
                </a:solidFill>
              </a:rPr>
              <a:t>name</a:t>
            </a:r>
            <a:r>
              <a:rPr lang="zh-CN" altLang="en-US" sz="1800" dirty="0">
                <a:solidFill>
                  <a:srgbClr val="000000"/>
                </a:solidFill>
              </a:rPr>
              <a:t>值</a:t>
            </a:r>
            <a:r>
              <a:rPr lang="en-US" altLang="zh-CN" sz="2200" dirty="0">
                <a:solidFill>
                  <a:srgbClr val="000000"/>
                </a:solidFill>
              </a:rPr>
              <a:t> </a:t>
            </a:r>
            <a:endParaRPr lang="en-US" altLang="zh-CN" sz="2200" dirty="0">
              <a:solidFill>
                <a:srgbClr val="000000"/>
              </a:solidFill>
            </a:endParaRPr>
          </a:p>
          <a:p>
            <a:pPr marL="0" indent="0">
              <a:buNone/>
            </a:pPr>
            <a:r>
              <a:rPr lang="en-US" altLang="zh-CN" sz="2200" dirty="0">
                <a:solidFill>
                  <a:srgbClr val="000000"/>
                </a:solidFill>
              </a:rPr>
              <a:t>    var fObj=document.form1.elements[“t1”]// t1</a:t>
            </a:r>
            <a:r>
              <a:rPr lang="zh-CN" altLang="en-US" sz="2200" dirty="0">
                <a:solidFill>
                  <a:srgbClr val="000000"/>
                </a:solidFill>
              </a:rPr>
              <a:t>为某表单域的</a:t>
            </a:r>
            <a:r>
              <a:rPr lang="en-US" altLang="zh-CN" sz="2200" dirty="0">
                <a:solidFill>
                  <a:srgbClr val="000000"/>
                </a:solidFill>
              </a:rPr>
              <a:t>name</a:t>
            </a:r>
            <a:r>
              <a:rPr lang="zh-CN" altLang="en-US" sz="2200" dirty="0">
                <a:solidFill>
                  <a:srgbClr val="000000"/>
                </a:solidFill>
              </a:rPr>
              <a:t>值</a:t>
            </a:r>
            <a:endParaRPr lang="zh-CN" altLang="en-US" sz="2200" dirty="0">
              <a:solidFill>
                <a:srgbClr val="000000"/>
              </a:solidFill>
            </a:endParaRPr>
          </a:p>
          <a:p>
            <a:pPr marL="0" indent="0">
              <a:buNone/>
            </a:pPr>
            <a:r>
              <a:rPr lang="en-US" altLang="zh-CN" sz="2200" dirty="0">
                <a:solidFill>
                  <a:srgbClr val="000000"/>
                </a:solidFill>
              </a:rPr>
              <a:t>    var fObj=document.forms[0].t1; //</a:t>
            </a:r>
            <a:r>
              <a:rPr lang="zh-CN" altLang="en-US" sz="2200" dirty="0">
                <a:solidFill>
                  <a:srgbClr val="000000"/>
                </a:solidFill>
              </a:rPr>
              <a:t>使用表单集合，</a:t>
            </a:r>
            <a:r>
              <a:rPr lang="en-US" altLang="zh-CN" sz="2200" dirty="0">
                <a:solidFill>
                  <a:srgbClr val="000000"/>
                </a:solidFill>
              </a:rPr>
              <a:t>[0]</a:t>
            </a:r>
            <a:r>
              <a:rPr lang="zh-CN" altLang="en-US" sz="2200" dirty="0">
                <a:solidFill>
                  <a:srgbClr val="000000"/>
                </a:solidFill>
              </a:rPr>
              <a:t>表示第一个表单</a:t>
            </a:r>
            <a:endParaRPr lang="zh-CN" altLang="en-US" sz="2200" dirty="0">
              <a:solidFill>
                <a:srgbClr val="000000"/>
              </a:solidFill>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3186"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1</a:t>
            </a:r>
            <a:r>
              <a:rPr lang="zh-CN" altLang="en-US" sz="2800" b="1" dirty="0"/>
              <a:t>）获取表单域对象</a:t>
            </a:r>
            <a:endParaRPr lang="zh-CN" altLang="en-US" sz="2800" b="1" dirty="0"/>
          </a:p>
          <a:p>
            <a:pPr marL="0" indent="0">
              <a:buNone/>
            </a:pPr>
            <a:r>
              <a:rPr lang="zh-CN" altLang="en-US" sz="2200" dirty="0">
                <a:solidFill>
                  <a:srgbClr val="000000"/>
                </a:solidFill>
              </a:rPr>
              <a:t>     获得表单域对象的主要方法：通过表单访问、直接访问。</a:t>
            </a:r>
            <a:endParaRPr lang="zh-CN" altLang="en-US" sz="2200" dirty="0">
              <a:solidFill>
                <a:srgbClr val="000000"/>
              </a:solidFill>
            </a:endParaRPr>
          </a:p>
          <a:p>
            <a:pPr marL="0" indent="0">
              <a:buNone/>
            </a:pPr>
            <a:r>
              <a:rPr lang="zh-CN" altLang="en-US" sz="2200" dirty="0">
                <a:solidFill>
                  <a:srgbClr val="000000"/>
                </a:solidFill>
              </a:rPr>
              <a:t>假设有表单：</a:t>
            </a:r>
            <a:endParaRPr lang="zh-CN" altLang="en-US" sz="2200" dirty="0">
              <a:solidFill>
                <a:srgbClr val="000000"/>
              </a:solidFill>
            </a:endParaRPr>
          </a:p>
          <a:p>
            <a:pPr marL="0" indent="0">
              <a:buNone/>
            </a:pPr>
            <a:r>
              <a:rPr lang="en-US" altLang="zh-CN" sz="2200" dirty="0">
                <a:solidFill>
                  <a:srgbClr val="000000"/>
                </a:solidFill>
              </a:rPr>
              <a:t>&lt;form action=""  name= "form1" &gt;</a:t>
            </a:r>
            <a:endParaRPr lang="en-US" altLang="zh-CN" sz="2200" dirty="0">
              <a:solidFill>
                <a:srgbClr val="000000"/>
              </a:solidFill>
            </a:endParaRPr>
          </a:p>
          <a:p>
            <a:pPr marL="0" indent="0">
              <a:buNone/>
            </a:pPr>
            <a:r>
              <a:rPr lang="en-US" altLang="zh-CN" sz="2200" dirty="0">
                <a:solidFill>
                  <a:srgbClr val="000000"/>
                </a:solidFill>
              </a:rPr>
              <a:t>       &lt;input type="text" name= "t1"  value="" &gt;</a:t>
            </a:r>
            <a:endParaRPr lang="en-US" altLang="zh-CN" sz="2200" dirty="0">
              <a:solidFill>
                <a:srgbClr val="000000"/>
              </a:solidFill>
            </a:endParaRPr>
          </a:p>
          <a:p>
            <a:pPr marL="0" indent="0">
              <a:buNone/>
            </a:pPr>
            <a:r>
              <a:rPr lang="en-US" altLang="zh-CN" sz="2200" dirty="0">
                <a:solidFill>
                  <a:srgbClr val="000000"/>
                </a:solidFill>
              </a:rPr>
              <a:t>&lt;/form&gt; </a:t>
            </a:r>
            <a:endParaRPr lang="en-US" altLang="zh-CN" sz="2200" dirty="0">
              <a:solidFill>
                <a:srgbClr val="000000"/>
              </a:solidFill>
            </a:endParaRPr>
          </a:p>
          <a:p>
            <a:pPr marL="0" indent="0">
              <a:buNone/>
            </a:pPr>
            <a:r>
              <a:rPr lang="zh-CN" altLang="en-US" sz="2200" dirty="0">
                <a:solidFill>
                  <a:srgbClr val="000000"/>
                </a:solidFill>
              </a:rPr>
              <a:t>则获取输入域对象：</a:t>
            </a:r>
            <a:endParaRPr lang="zh-CN" altLang="en-US" sz="2200" dirty="0">
              <a:solidFill>
                <a:srgbClr val="000000"/>
              </a:solidFill>
            </a:endParaRPr>
          </a:p>
          <a:p>
            <a:pPr marL="0" indent="0">
              <a:buNone/>
            </a:pPr>
            <a:r>
              <a:rPr lang="zh-CN" altLang="en-US" sz="2200" dirty="0">
                <a:solidFill>
                  <a:srgbClr val="FF0000"/>
                </a:solidFill>
              </a:rPr>
              <a:t>② 直接访问</a:t>
            </a:r>
            <a:endParaRPr lang="zh-CN" altLang="en-US" sz="2200" dirty="0">
              <a:solidFill>
                <a:srgbClr val="FF0000"/>
              </a:solidFill>
            </a:endParaRPr>
          </a:p>
          <a:p>
            <a:pPr marL="0" indent="0">
              <a:buNone/>
            </a:pPr>
            <a:r>
              <a:rPr lang="en-US" altLang="zh-CN" sz="2200" dirty="0"/>
              <a:t>    var fObj=document.getElementsByName("t1")[0]// </a:t>
            </a:r>
            <a:r>
              <a:rPr lang="zh-CN" altLang="en-US" sz="2200" dirty="0"/>
              <a:t>通过名字访问，</a:t>
            </a:r>
            <a:r>
              <a:rPr lang="en-US" altLang="zh-CN" sz="2200" dirty="0"/>
              <a:t>t1</a:t>
            </a:r>
            <a:r>
              <a:rPr lang="zh-CN" altLang="en-US" sz="2200" dirty="0"/>
              <a:t>为表单域的</a:t>
            </a:r>
            <a:r>
              <a:rPr lang="en-US" altLang="zh-CN" sz="2200" dirty="0"/>
              <a:t>name</a:t>
            </a:r>
            <a:r>
              <a:rPr lang="zh-CN" altLang="en-US" sz="2200" dirty="0"/>
              <a:t>值</a:t>
            </a:r>
            <a:endParaRPr lang="zh-CN" altLang="en-US" sz="2200" dirty="0"/>
          </a:p>
          <a:p>
            <a:pPr marL="0" indent="0">
              <a:buNone/>
            </a:pPr>
            <a:r>
              <a:rPr lang="en-US" altLang="zh-CN" sz="2200" dirty="0"/>
              <a:t>    var fObj=document.getElementsById("t1"); </a:t>
            </a:r>
            <a:endParaRPr lang="zh-CN" altLang="en-US" sz="2200" dirty="0"/>
          </a:p>
          <a:p>
            <a:pPr marL="0" indent="0">
              <a:buNone/>
            </a:pPr>
            <a:r>
              <a:rPr lang="en-US" altLang="zh-CN" sz="2200" dirty="0"/>
              <a:t>    var fObj=document.all("t1").value;</a:t>
            </a:r>
            <a:r>
              <a:rPr lang="zh-CN" altLang="en-US" sz="2200" dirty="0"/>
              <a:t> </a:t>
            </a:r>
            <a:r>
              <a:rPr lang="en-US" altLang="zh-CN" sz="2200" dirty="0"/>
              <a:t>//</a:t>
            </a:r>
            <a:r>
              <a:rPr lang="zh-CN" altLang="en-US" sz="2200" dirty="0"/>
              <a:t>通过名字访问，</a:t>
            </a:r>
            <a:r>
              <a:rPr lang="en-US" altLang="zh-CN" sz="2200" dirty="0"/>
              <a:t>t1</a:t>
            </a:r>
            <a:r>
              <a:rPr lang="zh-CN" altLang="en-US" sz="2200" dirty="0"/>
              <a:t>为某表单域的</a:t>
            </a:r>
            <a:r>
              <a:rPr lang="en-US" altLang="zh-CN" sz="2200" dirty="0"/>
              <a:t>name</a:t>
            </a:r>
            <a:r>
              <a:rPr lang="zh-CN" altLang="en-US" sz="2200" dirty="0"/>
              <a:t>值</a:t>
            </a:r>
            <a:endParaRPr lang="zh-CN" altLang="en-US" sz="2200" dirty="0"/>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4210"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2</a:t>
            </a:r>
            <a:r>
              <a:rPr lang="zh-CN" altLang="en-US" sz="2800" b="1" dirty="0"/>
              <a:t>）获取表单域的值</a:t>
            </a:r>
            <a:endParaRPr lang="zh-CN" altLang="en-US" sz="2800" b="1" dirty="0"/>
          </a:p>
          <a:p>
            <a:pPr marL="0" indent="0">
              <a:buNone/>
            </a:pPr>
            <a:r>
              <a:rPr lang="zh-CN" altLang="en-US" sz="2400" dirty="0">
                <a:solidFill>
                  <a:srgbClr val="000000"/>
                </a:solidFill>
              </a:rPr>
              <a:t>    由于表单域类型不同，其获取表单域值的方法也不同，常用的方法有</a:t>
            </a:r>
            <a:r>
              <a:rPr lang="en-US" altLang="zh-CN" sz="2400" dirty="0">
                <a:solidFill>
                  <a:srgbClr val="000000"/>
                </a:solidFill>
              </a:rPr>
              <a:t>(</a:t>
            </a:r>
            <a:r>
              <a:rPr lang="zh-CN" altLang="en-US" sz="2400" dirty="0">
                <a:solidFill>
                  <a:srgbClr val="000000"/>
                </a:solidFill>
              </a:rPr>
              <a:t>若表单域对象为</a:t>
            </a:r>
            <a:r>
              <a:rPr lang="en-US" altLang="zh-CN" sz="2400" dirty="0">
                <a:solidFill>
                  <a:srgbClr val="000000"/>
                </a:solidFill>
              </a:rPr>
              <a:t>fObj)</a:t>
            </a:r>
            <a:r>
              <a:rPr lang="zh-CN" altLang="en-US" sz="2400" dirty="0">
                <a:solidFill>
                  <a:srgbClr val="000000"/>
                </a:solidFill>
              </a:rPr>
              <a:t>：</a:t>
            </a:r>
            <a:endParaRPr lang="zh-CN" altLang="en-US" sz="2400" dirty="0">
              <a:solidFill>
                <a:srgbClr val="000000"/>
              </a:solidFill>
            </a:endParaRPr>
          </a:p>
          <a:p>
            <a:pPr marL="0" indent="0">
              <a:buNone/>
            </a:pPr>
            <a:r>
              <a:rPr lang="zh-CN" altLang="en-US" sz="2400" dirty="0">
                <a:solidFill>
                  <a:srgbClr val="FF0000"/>
                </a:solidFill>
              </a:rPr>
              <a:t>① 获取文本域、文本框、密码框的值</a:t>
            </a:r>
            <a:endParaRPr lang="zh-CN" altLang="en-US" sz="2400" dirty="0">
              <a:solidFill>
                <a:srgbClr val="FF0000"/>
              </a:solidFill>
            </a:endParaRPr>
          </a:p>
          <a:p>
            <a:pPr marL="0" indent="0">
              <a:buNone/>
            </a:pPr>
            <a:r>
              <a:rPr lang="zh-CN" altLang="en-US" sz="2400" dirty="0">
                <a:solidFill>
                  <a:srgbClr val="000000"/>
                </a:solidFill>
              </a:rPr>
              <a:t>      </a:t>
            </a:r>
            <a:r>
              <a:rPr lang="en-US" altLang="zh-CN" sz="2400" dirty="0">
                <a:solidFill>
                  <a:srgbClr val="000000"/>
                </a:solidFill>
              </a:rPr>
              <a:t>var  v = fObj.value;</a:t>
            </a:r>
            <a:endParaRPr lang="en-US" altLang="zh-CN" sz="2400" dirty="0">
              <a:solidFill>
                <a:srgbClr val="000000"/>
              </a:solidFill>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5234"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2</a:t>
            </a:r>
            <a:r>
              <a:rPr lang="zh-CN" altLang="en-US" sz="2800" b="1" dirty="0"/>
              <a:t>）获取表单域的值</a:t>
            </a:r>
            <a:endParaRPr lang="zh-CN" altLang="en-US" sz="2800" b="1" dirty="0"/>
          </a:p>
          <a:p>
            <a:pPr marL="0" indent="0">
              <a:buNone/>
            </a:pPr>
            <a:r>
              <a:rPr lang="en-US" altLang="zh-CN" sz="2400" dirty="0">
                <a:solidFill>
                  <a:srgbClr val="FF0000"/>
                </a:solidFill>
              </a:rPr>
              <a:t>② </a:t>
            </a:r>
            <a:r>
              <a:rPr lang="zh-CN" altLang="en-US" sz="2400" dirty="0">
                <a:solidFill>
                  <a:srgbClr val="FF0000"/>
                </a:solidFill>
              </a:rPr>
              <a:t>获取复选框的值</a:t>
            </a:r>
            <a:endParaRPr lang="zh-CN" altLang="en-US" sz="2400" dirty="0">
              <a:solidFill>
                <a:srgbClr val="FF0000"/>
              </a:solidFill>
            </a:endParaRPr>
          </a:p>
          <a:p>
            <a:pPr marL="0" indent="0">
              <a:buNone/>
            </a:pPr>
            <a:r>
              <a:rPr lang="zh-CN" altLang="en-US" sz="2400" dirty="0">
                <a:solidFill>
                  <a:srgbClr val="000000"/>
                </a:solidFill>
              </a:rPr>
              <a:t>  例如：对于如下的一组复选框：</a:t>
            </a:r>
            <a:endParaRPr lang="zh-CN" altLang="en-US" sz="2400" dirty="0">
              <a:solidFill>
                <a:srgbClr val="000000"/>
              </a:solidFill>
            </a:endParaRPr>
          </a:p>
          <a:p>
            <a:pPr marL="0" indent="0">
              <a:buNone/>
            </a:pPr>
            <a:r>
              <a:rPr lang="en-US" altLang="zh-CN" sz="2400" dirty="0">
                <a:solidFill>
                  <a:srgbClr val="000000"/>
                </a:solidFill>
              </a:rPr>
              <a:t>     </a:t>
            </a:r>
            <a:r>
              <a:rPr lang="en-US" altLang="zh-CN" sz="2000" dirty="0">
                <a:solidFill>
                  <a:srgbClr val="000000"/>
                </a:solidFill>
              </a:rPr>
              <a:t>&lt;input type="checkbox" name="c1" value="1"/&gt;</a:t>
            </a:r>
            <a:endParaRPr lang="en-US" altLang="zh-CN" sz="2000" dirty="0">
              <a:solidFill>
                <a:srgbClr val="000000"/>
              </a:solidFill>
            </a:endParaRPr>
          </a:p>
          <a:p>
            <a:pPr marL="0" indent="0">
              <a:buNone/>
            </a:pPr>
            <a:r>
              <a:rPr lang="en-US" altLang="zh-CN" sz="2000" dirty="0">
                <a:solidFill>
                  <a:srgbClr val="000000"/>
                </a:solidFill>
              </a:rPr>
              <a:t>      &lt;input type="checkbox" name="c1" value="2"/&gt;</a:t>
            </a:r>
            <a:endParaRPr lang="en-US" altLang="zh-CN" sz="2000" dirty="0">
              <a:solidFill>
                <a:srgbClr val="000000"/>
              </a:solidFill>
            </a:endParaRPr>
          </a:p>
          <a:p>
            <a:pPr marL="0" indent="0">
              <a:buNone/>
            </a:pPr>
            <a:r>
              <a:rPr lang="en-US" altLang="zh-CN" sz="2000" dirty="0">
                <a:solidFill>
                  <a:srgbClr val="000000"/>
                </a:solidFill>
              </a:rPr>
              <a:t>      &lt;input type="checkbox" name="c1" value="3"/&gt;</a:t>
            </a:r>
            <a:endParaRPr lang="en-US" altLang="zh-CN" sz="2000" dirty="0">
              <a:solidFill>
                <a:srgbClr val="000000"/>
              </a:solidFill>
            </a:endParaRPr>
          </a:p>
          <a:p>
            <a:pPr marL="0" indent="0">
              <a:buNone/>
            </a:pPr>
            <a:r>
              <a:rPr lang="zh-CN" altLang="en-US" sz="2400" dirty="0">
                <a:solidFill>
                  <a:srgbClr val="000000"/>
                </a:solidFill>
              </a:rPr>
              <a:t>利用</a:t>
            </a:r>
            <a:r>
              <a:rPr lang="en-US" altLang="zh-CN" sz="2400" dirty="0">
                <a:solidFill>
                  <a:srgbClr val="000000"/>
                </a:solidFill>
              </a:rPr>
              <a:t>JavaScript</a:t>
            </a:r>
            <a:r>
              <a:rPr lang="zh-CN" altLang="en-US" sz="2400" dirty="0">
                <a:solidFill>
                  <a:srgbClr val="000000"/>
                </a:solidFill>
              </a:rPr>
              <a:t>取值的方法：</a:t>
            </a:r>
            <a:endParaRPr lang="zh-CN" altLang="en-US" sz="2400" dirty="0">
              <a:solidFill>
                <a:srgbClr val="000000"/>
              </a:solidFill>
            </a:endParaRPr>
          </a:p>
          <a:p>
            <a:pPr marL="0" indent="0">
              <a:buNone/>
            </a:pPr>
            <a:r>
              <a:rPr lang="en-US" altLang="zh-CN" sz="2400" dirty="0">
                <a:solidFill>
                  <a:srgbClr val="000000"/>
                </a:solidFill>
              </a:rPr>
              <a:t>   </a:t>
            </a:r>
            <a:r>
              <a:rPr lang="en-US" altLang="zh-CN" sz="2000" dirty="0">
                <a:solidFill>
                  <a:srgbClr val="000000"/>
                </a:solidFill>
              </a:rPr>
              <a:t>var fObj=document.form1.c1;     //form1</a:t>
            </a:r>
            <a:r>
              <a:rPr lang="zh-CN" altLang="en-US" sz="2000" dirty="0">
                <a:solidFill>
                  <a:srgbClr val="000000"/>
                </a:solidFill>
              </a:rPr>
              <a:t>为表单的名字</a:t>
            </a:r>
            <a:endParaRPr lang="zh-CN" altLang="en-US" sz="2000" dirty="0">
              <a:solidFill>
                <a:srgbClr val="000000"/>
              </a:solidFill>
            </a:endParaRPr>
          </a:p>
          <a:p>
            <a:pPr marL="0" indent="0">
              <a:buNone/>
            </a:pPr>
            <a:r>
              <a:rPr lang="en-US" altLang="zh-CN" sz="2000" dirty="0">
                <a:solidFill>
                  <a:srgbClr val="000000"/>
                </a:solidFill>
              </a:rPr>
              <a:t>    var s="";</a:t>
            </a:r>
            <a:endParaRPr lang="en-US" altLang="zh-CN" sz="2000" dirty="0">
              <a:solidFill>
                <a:srgbClr val="000000"/>
              </a:solidFill>
            </a:endParaRPr>
          </a:p>
          <a:p>
            <a:pPr marL="0" indent="0">
              <a:buNone/>
            </a:pPr>
            <a:r>
              <a:rPr lang="en-US" altLang="zh-CN" sz="2000" dirty="0">
                <a:solidFill>
                  <a:srgbClr val="000000"/>
                </a:solidFill>
              </a:rPr>
              <a:t>    for(var i=0;i&lt;fObj.length;++i){</a:t>
            </a:r>
            <a:endParaRPr lang="en-US" altLang="zh-CN" sz="2000" dirty="0">
              <a:solidFill>
                <a:srgbClr val="000000"/>
              </a:solidFill>
            </a:endParaRPr>
          </a:p>
          <a:p>
            <a:pPr marL="0" indent="0">
              <a:buNone/>
            </a:pPr>
            <a:r>
              <a:rPr lang="en-US" altLang="zh-CN" sz="2000" dirty="0">
                <a:solidFill>
                  <a:srgbClr val="000000"/>
                </a:solidFill>
              </a:rPr>
              <a:t>      if(fObj[i].checked==true)  s=s+fObj[i].value; // </a:t>
            </a:r>
            <a:r>
              <a:rPr lang="zh-CN" altLang="en-US" sz="2000" dirty="0">
                <a:solidFill>
                  <a:srgbClr val="000000"/>
                </a:solidFill>
              </a:rPr>
              <a:t>将获得的值连成一个字符串</a:t>
            </a:r>
            <a:r>
              <a:rPr lang="en-US" altLang="zh-CN" sz="2000" dirty="0">
                <a:solidFill>
                  <a:srgbClr val="000000"/>
                </a:solidFill>
              </a:rPr>
              <a:t>s</a:t>
            </a:r>
            <a:endParaRPr lang="en-US" altLang="zh-CN" sz="2000" dirty="0">
              <a:solidFill>
                <a:srgbClr val="000000"/>
              </a:solidFill>
            </a:endParaRPr>
          </a:p>
          <a:p>
            <a:pPr marL="0" indent="0">
              <a:buNone/>
            </a:pPr>
            <a:r>
              <a:rPr lang="en-US" altLang="zh-CN" sz="2000" dirty="0">
                <a:solidFill>
                  <a:srgbClr val="000000"/>
                </a:solidFill>
              </a:rPr>
              <a:t>    }</a:t>
            </a:r>
            <a:endParaRPr lang="en-US" altLang="zh-CN" sz="2000" dirty="0">
              <a:solidFill>
                <a:srgbClr val="000000"/>
              </a:solidFill>
            </a:endParaRPr>
          </a:p>
          <a:p>
            <a:pPr marL="0" indent="0">
              <a:buNone/>
            </a:pPr>
            <a:r>
              <a:rPr lang="en-US" altLang="zh-CN" sz="2000" dirty="0">
                <a:solidFill>
                  <a:srgbClr val="000000"/>
                </a:solidFill>
              </a:rPr>
              <a:t>    window.alert(s);</a:t>
            </a:r>
            <a:endParaRPr lang="en-US" altLang="zh-CN" sz="2000" dirty="0">
              <a:solidFill>
                <a:srgbClr val="000000"/>
              </a:solidFill>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6258"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2</a:t>
            </a:r>
            <a:r>
              <a:rPr lang="zh-CN" altLang="en-US" sz="2800" b="1" dirty="0"/>
              <a:t>）获取表单域的值</a:t>
            </a:r>
            <a:endParaRPr lang="zh-CN" altLang="en-US" sz="2800" b="1" dirty="0"/>
          </a:p>
          <a:p>
            <a:pPr marL="0" indent="0">
              <a:buNone/>
            </a:pPr>
            <a:r>
              <a:rPr lang="zh-CN" altLang="en-US" sz="2400" dirty="0">
                <a:solidFill>
                  <a:srgbClr val="FF0000"/>
                </a:solidFill>
              </a:rPr>
              <a:t>③ 获取单选按钮的值</a:t>
            </a:r>
            <a:endParaRPr lang="zh-CN" altLang="en-US" sz="2400" dirty="0">
              <a:solidFill>
                <a:srgbClr val="FF0000"/>
              </a:solidFill>
            </a:endParaRPr>
          </a:p>
          <a:p>
            <a:pPr marL="0" indent="0">
              <a:buNone/>
            </a:pPr>
            <a:r>
              <a:rPr lang="zh-CN" altLang="en-US" sz="2400" dirty="0">
                <a:solidFill>
                  <a:srgbClr val="000000"/>
                </a:solidFill>
              </a:rPr>
              <a:t>例如：对于如下的一组单选按钮：</a:t>
            </a:r>
            <a:endParaRPr lang="zh-CN" altLang="en-US" sz="2400" dirty="0">
              <a:solidFill>
                <a:srgbClr val="000000"/>
              </a:solidFill>
            </a:endParaRPr>
          </a:p>
          <a:p>
            <a:pPr marL="0" indent="0">
              <a:buNone/>
            </a:pPr>
            <a:r>
              <a:rPr lang="en-US" altLang="zh-CN" sz="2400" dirty="0">
                <a:solidFill>
                  <a:srgbClr val="000000"/>
                </a:solidFill>
              </a:rPr>
              <a:t>     &lt;input type="radio" name="p" checked/&gt;</a:t>
            </a:r>
            <a:r>
              <a:rPr lang="zh-CN" altLang="en-US" sz="2400" dirty="0">
                <a:solidFill>
                  <a:srgbClr val="000000"/>
                </a:solidFill>
              </a:rPr>
              <a:t>加</a:t>
            </a:r>
            <a:endParaRPr lang="zh-CN" altLang="en-US" sz="2400" dirty="0">
              <a:solidFill>
                <a:srgbClr val="000000"/>
              </a:solidFill>
            </a:endParaRPr>
          </a:p>
          <a:p>
            <a:pPr marL="0" indent="0">
              <a:buNone/>
            </a:pPr>
            <a:r>
              <a:rPr lang="en-US" altLang="zh-CN" sz="2400" dirty="0">
                <a:solidFill>
                  <a:srgbClr val="000000"/>
                </a:solidFill>
              </a:rPr>
              <a:t>     &lt;input type="radio" name="p"/&gt;</a:t>
            </a:r>
            <a:r>
              <a:rPr lang="zh-CN" altLang="en-US" sz="2400" dirty="0">
                <a:solidFill>
                  <a:srgbClr val="000000"/>
                </a:solidFill>
              </a:rPr>
              <a:t>减</a:t>
            </a:r>
            <a:endParaRPr lang="en-US" altLang="zh-CN" sz="2400" dirty="0">
              <a:solidFill>
                <a:srgbClr val="000000"/>
              </a:solidFill>
            </a:endParaRPr>
          </a:p>
          <a:p>
            <a:pPr marL="0" indent="0">
              <a:buNone/>
            </a:pPr>
            <a:r>
              <a:rPr lang="en-US" altLang="zh-CN" sz="2400" dirty="0">
                <a:solidFill>
                  <a:srgbClr val="000000"/>
                </a:solidFill>
              </a:rPr>
              <a:t>     &lt;input type="radio" name="p"/&gt;</a:t>
            </a:r>
            <a:r>
              <a:rPr lang="zh-CN" altLang="en-US" sz="2400" dirty="0">
                <a:solidFill>
                  <a:srgbClr val="000000"/>
                </a:solidFill>
              </a:rPr>
              <a:t>乘</a:t>
            </a:r>
            <a:endParaRPr lang="zh-CN" altLang="en-US" sz="2400" dirty="0">
              <a:solidFill>
                <a:srgbClr val="000000"/>
              </a:solidFill>
            </a:endParaRPr>
          </a:p>
          <a:p>
            <a:pPr marL="0" indent="0">
              <a:buNone/>
            </a:pPr>
            <a:r>
              <a:rPr lang="en-US" altLang="zh-CN" sz="2400" dirty="0">
                <a:solidFill>
                  <a:srgbClr val="000000"/>
                </a:solidFill>
              </a:rPr>
              <a:t>     &lt;input type="radio" name="p"/&gt;</a:t>
            </a:r>
            <a:r>
              <a:rPr lang="zh-CN" altLang="en-US" sz="2400" dirty="0">
                <a:solidFill>
                  <a:srgbClr val="000000"/>
                </a:solidFill>
              </a:rPr>
              <a:t>除</a:t>
            </a:r>
            <a:r>
              <a:rPr lang="en-US" altLang="zh-CN" sz="2400" dirty="0">
                <a:solidFill>
                  <a:srgbClr val="000000"/>
                </a:solidFill>
              </a:rPr>
              <a:t>&lt;br/&gt;</a:t>
            </a:r>
            <a:endParaRPr lang="zh-CN" altLang="en-US" sz="2400" dirty="0">
              <a:solidFill>
                <a:srgbClr val="000000"/>
              </a:solidFill>
            </a:endParaRPr>
          </a:p>
          <a:p>
            <a:pPr marL="0" indent="0">
              <a:buNone/>
            </a:pPr>
            <a:endParaRPr lang="zh-CN" altLang="en-US" sz="2400" dirty="0">
              <a:solidFill>
                <a:srgbClr val="000000"/>
              </a:solidFill>
            </a:endParaRPr>
          </a:p>
          <a:p>
            <a:pPr marL="0" indent="0">
              <a:buNone/>
            </a:pPr>
            <a:endParaRPr lang="zh-CN" altLang="en-US" sz="2400" dirty="0">
              <a:solidFill>
                <a:srgbClr val="000000"/>
              </a:solidFill>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7282"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2</a:t>
            </a:r>
            <a:r>
              <a:rPr lang="zh-CN" altLang="en-US" sz="2800" b="1" dirty="0"/>
              <a:t>）获取表单域的值</a:t>
            </a:r>
            <a:endParaRPr lang="zh-CN" altLang="en-US" sz="2800" b="1" dirty="0"/>
          </a:p>
          <a:p>
            <a:pPr marL="0" indent="0">
              <a:buNone/>
            </a:pPr>
            <a:r>
              <a:rPr lang="zh-CN" altLang="en-US" sz="2400" dirty="0">
                <a:solidFill>
                  <a:srgbClr val="FF0000"/>
                </a:solidFill>
              </a:rPr>
              <a:t>③ 获取单选按钮的值</a:t>
            </a:r>
            <a:endParaRPr lang="zh-CN" altLang="en-US" sz="2400" dirty="0">
              <a:solidFill>
                <a:srgbClr val="FF0000"/>
              </a:solidFill>
            </a:endParaRPr>
          </a:p>
          <a:p>
            <a:pPr marL="0" indent="0">
              <a:buNone/>
            </a:pPr>
            <a:r>
              <a:rPr lang="zh-CN" altLang="en-US" sz="2400" dirty="0">
                <a:solidFill>
                  <a:srgbClr val="000000"/>
                </a:solidFill>
              </a:rPr>
              <a:t>利用</a:t>
            </a:r>
            <a:r>
              <a:rPr lang="en-US" altLang="zh-CN" sz="2400" dirty="0">
                <a:solidFill>
                  <a:srgbClr val="000000"/>
                </a:solidFill>
              </a:rPr>
              <a:t>JavaScript</a:t>
            </a:r>
            <a:r>
              <a:rPr lang="zh-CN" altLang="en-US" sz="2400" dirty="0">
                <a:solidFill>
                  <a:srgbClr val="000000"/>
                </a:solidFill>
              </a:rPr>
              <a:t>取值的方法如下：</a:t>
            </a:r>
            <a:endParaRPr lang="zh-CN" altLang="en-US" sz="2400" dirty="0">
              <a:solidFill>
                <a:srgbClr val="000000"/>
              </a:solidFill>
            </a:endParaRPr>
          </a:p>
          <a:p>
            <a:pPr marL="0" indent="0">
              <a:buNone/>
            </a:pPr>
            <a:r>
              <a:rPr lang="en-US" altLang="zh-CN" sz="2400" dirty="0">
                <a:solidFill>
                  <a:srgbClr val="000000"/>
                </a:solidFill>
              </a:rPr>
              <a:t>      </a:t>
            </a:r>
            <a:r>
              <a:rPr lang="en-US" altLang="zh-CN" sz="2000" dirty="0">
                <a:solidFill>
                  <a:srgbClr val="000000"/>
                </a:solidFill>
              </a:rPr>
              <a:t>var fObj=document.form1.p;     //form1</a:t>
            </a:r>
            <a:r>
              <a:rPr lang="zh-CN" altLang="en-US" sz="2000" dirty="0">
                <a:solidFill>
                  <a:srgbClr val="000000"/>
                </a:solidFill>
              </a:rPr>
              <a:t>为表单的名字</a:t>
            </a:r>
            <a:endParaRPr lang="zh-CN" altLang="en-US" sz="2000" dirty="0">
              <a:solidFill>
                <a:srgbClr val="000000"/>
              </a:solidFill>
            </a:endParaRPr>
          </a:p>
          <a:p>
            <a:pPr marL="0" indent="0">
              <a:buNone/>
            </a:pPr>
            <a:r>
              <a:rPr lang="en-US" altLang="zh-CN" sz="2000" dirty="0">
                <a:solidFill>
                  <a:srgbClr val="000000"/>
                </a:solidFill>
              </a:rPr>
              <a:t>      for(var i=0;i&lt;fObj.length;++i)</a:t>
            </a:r>
            <a:endParaRPr lang="en-US" altLang="zh-CN" sz="2000" dirty="0">
              <a:solidFill>
                <a:srgbClr val="000000"/>
              </a:solidFill>
            </a:endParaRPr>
          </a:p>
          <a:p>
            <a:pPr marL="0" indent="0">
              <a:buNone/>
            </a:pPr>
            <a:r>
              <a:rPr lang="en-US" altLang="zh-CN" sz="2000" dirty="0">
                <a:solidFill>
                  <a:srgbClr val="000000"/>
                </a:solidFill>
              </a:rPr>
              <a:t>           if(fObj[i].checked)  break;</a:t>
            </a:r>
            <a:endParaRPr lang="en-US" altLang="zh-CN" sz="2000" dirty="0">
              <a:solidFill>
                <a:srgbClr val="000000"/>
              </a:solidFill>
            </a:endParaRPr>
          </a:p>
          <a:p>
            <a:pPr marL="0" indent="0">
              <a:buNone/>
            </a:pPr>
            <a:r>
              <a:rPr lang="en-US" altLang="zh-CN" sz="2000" dirty="0">
                <a:solidFill>
                  <a:srgbClr val="000000"/>
                </a:solidFill>
              </a:rPr>
              <a:t>      switch(i){</a:t>
            </a:r>
            <a:endParaRPr lang="en-US" altLang="zh-CN" sz="2000" dirty="0">
              <a:solidFill>
                <a:srgbClr val="000000"/>
              </a:solidFill>
            </a:endParaRPr>
          </a:p>
          <a:p>
            <a:pPr marL="0" indent="0">
              <a:buNone/>
            </a:pPr>
            <a:r>
              <a:rPr lang="en-US" altLang="zh-CN" sz="2000" dirty="0">
                <a:solidFill>
                  <a:srgbClr val="000000"/>
                </a:solidFill>
              </a:rPr>
              <a:t>          case 0: ……;break;</a:t>
            </a:r>
            <a:endParaRPr lang="en-US" altLang="zh-CN" sz="2000" dirty="0">
              <a:solidFill>
                <a:srgbClr val="000000"/>
              </a:solidFill>
            </a:endParaRPr>
          </a:p>
          <a:p>
            <a:pPr marL="0" indent="0">
              <a:buNone/>
            </a:pPr>
            <a:r>
              <a:rPr lang="en-US" altLang="zh-CN" sz="2000" dirty="0">
                <a:solidFill>
                  <a:srgbClr val="000000"/>
                </a:solidFill>
              </a:rPr>
              <a:t>          case 1: ……;break;</a:t>
            </a:r>
            <a:endParaRPr lang="en-US" altLang="zh-CN" sz="2000" dirty="0">
              <a:solidFill>
                <a:srgbClr val="000000"/>
              </a:solidFill>
            </a:endParaRPr>
          </a:p>
          <a:p>
            <a:pPr marL="0" indent="0">
              <a:buNone/>
            </a:pPr>
            <a:r>
              <a:rPr lang="en-US" altLang="zh-CN" sz="2000" dirty="0">
                <a:solidFill>
                  <a:srgbClr val="000000"/>
                </a:solidFill>
              </a:rPr>
              <a:t>          case 2: ……;break;</a:t>
            </a:r>
            <a:endParaRPr lang="en-US" altLang="zh-CN" sz="2000" dirty="0">
              <a:solidFill>
                <a:srgbClr val="000000"/>
              </a:solidFill>
            </a:endParaRPr>
          </a:p>
          <a:p>
            <a:pPr marL="0" indent="0">
              <a:buNone/>
            </a:pPr>
            <a:r>
              <a:rPr lang="en-US" altLang="zh-CN" sz="2000" dirty="0">
                <a:solidFill>
                  <a:srgbClr val="000000"/>
                </a:solidFill>
              </a:rPr>
              <a:t>          case 3: ……; </a:t>
            </a:r>
            <a:endParaRPr lang="en-US" altLang="zh-CN" sz="2000" dirty="0">
              <a:solidFill>
                <a:srgbClr val="000000"/>
              </a:solidFill>
            </a:endParaRPr>
          </a:p>
          <a:p>
            <a:pPr marL="0" indent="0">
              <a:buNone/>
            </a:pPr>
            <a:r>
              <a:rPr lang="en-US" altLang="zh-CN" sz="2000" dirty="0">
                <a:solidFill>
                  <a:srgbClr val="000000"/>
                </a:solidFill>
              </a:rPr>
              <a:t>       }</a:t>
            </a:r>
            <a:endParaRPr lang="zh-CN" altLang="en-US" sz="2000" dirty="0">
              <a:solidFill>
                <a:srgbClr val="000000"/>
              </a:solidFill>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8306"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2</a:t>
            </a:r>
            <a:r>
              <a:rPr lang="zh-CN" altLang="en-US" sz="2800" b="1" dirty="0"/>
              <a:t>）获取表单域的值</a:t>
            </a:r>
            <a:endParaRPr lang="zh-CN" altLang="en-US" sz="2800" b="1" dirty="0"/>
          </a:p>
          <a:p>
            <a:pPr marL="0" indent="0">
              <a:buNone/>
            </a:pPr>
            <a:r>
              <a:rPr lang="zh-CN" altLang="en-US" sz="2400" dirty="0">
                <a:solidFill>
                  <a:srgbClr val="FF0000"/>
                </a:solidFill>
              </a:rPr>
              <a:t>④ 获取列表框的值</a:t>
            </a:r>
            <a:endParaRPr lang="zh-CN" altLang="en-US" sz="2400" dirty="0">
              <a:solidFill>
                <a:srgbClr val="FF0000"/>
              </a:solidFill>
            </a:endParaRPr>
          </a:p>
          <a:p>
            <a:pPr marL="0" indent="0">
              <a:buNone/>
            </a:pPr>
            <a:r>
              <a:rPr lang="zh-CN" altLang="en-US" sz="2400" dirty="0">
                <a:solidFill>
                  <a:srgbClr val="000000"/>
                </a:solidFill>
              </a:rPr>
              <a:t>     对于单选列表框，用如下方法取出值：</a:t>
            </a:r>
            <a:endParaRPr lang="zh-CN" altLang="en-US" sz="2400" dirty="0">
              <a:solidFill>
                <a:srgbClr val="000000"/>
              </a:solidFill>
            </a:endParaRPr>
          </a:p>
          <a:p>
            <a:pPr marL="0" indent="0">
              <a:buNone/>
            </a:pPr>
            <a:r>
              <a:rPr lang="zh-CN" altLang="en-US" sz="2400" dirty="0">
                <a:solidFill>
                  <a:srgbClr val="000000"/>
                </a:solidFill>
              </a:rPr>
              <a:t>      </a:t>
            </a:r>
            <a:r>
              <a:rPr lang="en-US" altLang="zh-CN" sz="2400" dirty="0">
                <a:solidFill>
                  <a:srgbClr val="000000"/>
                </a:solidFill>
              </a:rPr>
              <a:t>var index=fObj.selectedIndex;  </a:t>
            </a:r>
            <a:endParaRPr lang="en-US" altLang="zh-CN" sz="2400" dirty="0">
              <a:solidFill>
                <a:srgbClr val="000000"/>
              </a:solidFill>
            </a:endParaRPr>
          </a:p>
          <a:p>
            <a:pPr marL="0" indent="0">
              <a:buNone/>
            </a:pPr>
            <a:r>
              <a:rPr lang="en-US" altLang="zh-CN" sz="2400" dirty="0">
                <a:solidFill>
                  <a:srgbClr val="000000"/>
                </a:solidFill>
              </a:rPr>
              <a:t>         // fObj</a:t>
            </a:r>
            <a:r>
              <a:rPr lang="zh-CN" altLang="en-US" sz="2400" dirty="0">
                <a:solidFill>
                  <a:srgbClr val="000000"/>
                </a:solidFill>
              </a:rPr>
              <a:t>为列表对象，取出所选项的索引，索引从</a:t>
            </a:r>
            <a:r>
              <a:rPr lang="en-US" altLang="zh-CN" sz="2400" dirty="0">
                <a:solidFill>
                  <a:srgbClr val="000000"/>
                </a:solidFill>
              </a:rPr>
              <a:t>0</a:t>
            </a:r>
            <a:r>
              <a:rPr lang="zh-CN" altLang="en-US" sz="2400" dirty="0">
                <a:solidFill>
                  <a:srgbClr val="000000"/>
                </a:solidFill>
              </a:rPr>
              <a:t>开始</a:t>
            </a:r>
            <a:endParaRPr lang="zh-CN" altLang="en-US" sz="2400" dirty="0">
              <a:solidFill>
                <a:srgbClr val="000000"/>
              </a:solidFill>
            </a:endParaRPr>
          </a:p>
          <a:p>
            <a:pPr marL="0" indent="0">
              <a:buNone/>
            </a:pPr>
            <a:r>
              <a:rPr lang="zh-CN" altLang="en-US" sz="2400" dirty="0">
                <a:solidFill>
                  <a:srgbClr val="000000"/>
                </a:solidFill>
              </a:rPr>
              <a:t>      </a:t>
            </a:r>
            <a:r>
              <a:rPr lang="en-US" altLang="zh-CN" sz="2400" dirty="0">
                <a:solidFill>
                  <a:srgbClr val="000000"/>
                </a:solidFill>
              </a:rPr>
              <a:t>var val=fObj.options[index].value; </a:t>
            </a:r>
            <a:endParaRPr lang="en-US" altLang="zh-CN" sz="2400" dirty="0">
              <a:solidFill>
                <a:srgbClr val="000000"/>
              </a:solidFill>
            </a:endParaRPr>
          </a:p>
          <a:p>
            <a:pPr marL="0" indent="0">
              <a:buNone/>
            </a:pPr>
            <a:r>
              <a:rPr lang="en-US" altLang="zh-CN" sz="2400" dirty="0">
                <a:solidFill>
                  <a:srgbClr val="000000"/>
                </a:solidFill>
              </a:rPr>
              <a:t>         // </a:t>
            </a:r>
            <a:r>
              <a:rPr lang="zh-CN" altLang="en-US" sz="2400" dirty="0">
                <a:solidFill>
                  <a:srgbClr val="000000"/>
                </a:solidFill>
              </a:rPr>
              <a:t>取出所选项目的值</a:t>
            </a:r>
            <a:endParaRPr lang="en-US" altLang="zh-CN" sz="2400" dirty="0">
              <a:solidFill>
                <a:srgbClr val="000000"/>
              </a:solidFill>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2.3.3  JavaScript</a:t>
            </a:r>
            <a:r>
              <a:rPr lang="zh-CN" altLang="en-US" baseline="0" dirty="0">
                <a:latin typeface="Times New Roman" panose="02020603050405020304" pitchFamily="18" charset="0"/>
                <a:ea typeface="黑体" panose="02010609060101010101" pitchFamily="49" charset="-122"/>
                <a:cs typeface="+mj-cs"/>
              </a:rPr>
              <a:t>的对象</a:t>
            </a:r>
            <a:endParaRPr lang="zh-CN" altLang="en-US" baseline="0" dirty="0">
              <a:latin typeface="Times New Roman" panose="02020603050405020304" pitchFamily="18" charset="0"/>
              <a:ea typeface="黑体" panose="02010609060101010101" pitchFamily="49" charset="-122"/>
              <a:cs typeface="+mj-cs"/>
            </a:endParaRPr>
          </a:p>
        </p:txBody>
      </p:sp>
      <p:sp>
        <p:nvSpPr>
          <p:cNvPr id="99330" name="内容占位符 2"/>
          <p:cNvSpPr>
            <a:spLocks noGrp="1"/>
          </p:cNvSpPr>
          <p:nvPr>
            <p:ph idx="1"/>
          </p:nvPr>
        </p:nvSpPr>
        <p:spPr>
          <a:xfrm>
            <a:off x="107950" y="1125538"/>
            <a:ext cx="8928100" cy="5543550"/>
          </a:xfrm>
        </p:spPr>
        <p:txBody>
          <a:bodyPr vert="horz" wrap="square" lIns="91440" tIns="45720" rIns="91440" bIns="45720" anchor="t" anchorCtr="0"/>
          <a:p>
            <a:pPr marL="0" indent="0">
              <a:spcBef>
                <a:spcPct val="0"/>
              </a:spcBef>
              <a:buNone/>
            </a:pPr>
            <a:r>
              <a:rPr lang="en-US" altLang="zh-CN" sz="2800" b="1" dirty="0">
                <a:solidFill>
                  <a:srgbClr val="0000FF"/>
                </a:solidFill>
              </a:rPr>
              <a:t>4. document</a:t>
            </a:r>
            <a:r>
              <a:rPr lang="zh-CN" altLang="en-US" sz="2800" b="1" dirty="0">
                <a:solidFill>
                  <a:srgbClr val="0000FF"/>
                </a:solidFill>
              </a:rPr>
              <a:t>对象</a:t>
            </a:r>
            <a:endParaRPr lang="en-US" altLang="zh-CN" sz="2800" b="1" dirty="0">
              <a:solidFill>
                <a:srgbClr val="0000FF"/>
              </a:solidFill>
            </a:endParaRPr>
          </a:p>
          <a:p>
            <a:pPr marL="0" indent="0">
              <a:buNone/>
            </a:pPr>
            <a:r>
              <a:rPr lang="zh-CN" altLang="en-US" sz="2800" b="1" dirty="0"/>
              <a:t>（</a:t>
            </a:r>
            <a:r>
              <a:rPr lang="en-US" altLang="zh-CN" sz="2800" b="1" dirty="0"/>
              <a:t>2</a:t>
            </a:r>
            <a:r>
              <a:rPr lang="zh-CN" altLang="en-US" sz="2800" b="1" dirty="0"/>
              <a:t>）获取表单域的值</a:t>
            </a:r>
            <a:endParaRPr lang="zh-CN" altLang="en-US" sz="2800" b="1" dirty="0"/>
          </a:p>
          <a:p>
            <a:pPr marL="0" indent="0">
              <a:buNone/>
            </a:pPr>
            <a:r>
              <a:rPr lang="zh-CN" altLang="en-US" sz="2400" dirty="0">
                <a:solidFill>
                  <a:srgbClr val="FF0000"/>
                </a:solidFill>
              </a:rPr>
              <a:t>④ 获取列表框的值</a:t>
            </a:r>
            <a:endParaRPr lang="zh-CN" altLang="en-US" sz="2400" dirty="0">
              <a:solidFill>
                <a:srgbClr val="FF0000"/>
              </a:solidFill>
            </a:endParaRPr>
          </a:p>
          <a:p>
            <a:pPr marL="0" indent="0">
              <a:buNone/>
            </a:pPr>
            <a:r>
              <a:rPr lang="zh-CN" altLang="en-US" sz="2400" dirty="0">
                <a:solidFill>
                  <a:srgbClr val="000000"/>
                </a:solidFill>
              </a:rPr>
              <a:t>      对于多选列表，取值需要循环：</a:t>
            </a:r>
            <a:endParaRPr lang="zh-CN" altLang="en-US" sz="2400" dirty="0">
              <a:solidFill>
                <a:srgbClr val="000000"/>
              </a:solidFill>
            </a:endParaRPr>
          </a:p>
          <a:p>
            <a:pPr marL="0" indent="0">
              <a:buNone/>
            </a:pPr>
            <a:r>
              <a:rPr lang="en-US" altLang="zh-CN" sz="2400" dirty="0">
                <a:solidFill>
                  <a:srgbClr val="000000"/>
                </a:solidFill>
              </a:rPr>
              <a:t>       var fObj=document.form1.s1;   //form1</a:t>
            </a:r>
            <a:r>
              <a:rPr lang="zh-CN" altLang="en-US" sz="2400" dirty="0">
                <a:solidFill>
                  <a:srgbClr val="000000"/>
                </a:solidFill>
              </a:rPr>
              <a:t>为表单的名字</a:t>
            </a:r>
            <a:endParaRPr lang="zh-CN" altLang="en-US" sz="2400" dirty="0">
              <a:solidFill>
                <a:srgbClr val="000000"/>
              </a:solidFill>
            </a:endParaRPr>
          </a:p>
          <a:p>
            <a:pPr marL="0" indent="0">
              <a:buNone/>
            </a:pPr>
            <a:r>
              <a:rPr lang="en-US" altLang="zh-CN" sz="2400" dirty="0">
                <a:solidFill>
                  <a:srgbClr val="000000"/>
                </a:solidFill>
              </a:rPr>
              <a:t>       var s="";</a:t>
            </a:r>
            <a:endParaRPr lang="en-US" altLang="zh-CN" sz="2400" dirty="0">
              <a:solidFill>
                <a:srgbClr val="000000"/>
              </a:solidFill>
            </a:endParaRPr>
          </a:p>
          <a:p>
            <a:pPr marL="0" indent="0">
              <a:buNone/>
            </a:pPr>
            <a:r>
              <a:rPr lang="en-US" altLang="zh-CN" sz="2400" dirty="0">
                <a:solidFill>
                  <a:srgbClr val="000000"/>
                </a:solidFill>
              </a:rPr>
              <a:t>       for(var i=0;i&lt;fObj.options.length;++i){</a:t>
            </a:r>
            <a:endParaRPr lang="en-US" altLang="zh-CN" sz="2400" dirty="0">
              <a:solidFill>
                <a:srgbClr val="000000"/>
              </a:solidFill>
            </a:endParaRPr>
          </a:p>
          <a:p>
            <a:pPr marL="0" indent="0">
              <a:buNone/>
            </a:pPr>
            <a:r>
              <a:rPr lang="en-US" altLang="zh-CN" sz="2400" dirty="0">
                <a:solidFill>
                  <a:srgbClr val="000000"/>
                </a:solidFill>
              </a:rPr>
              <a:t>            if(fObj[i].options[i].selected==true) </a:t>
            </a:r>
            <a:endParaRPr lang="en-US" altLang="zh-CN" sz="2400" dirty="0">
              <a:solidFill>
                <a:srgbClr val="000000"/>
              </a:solidFill>
            </a:endParaRPr>
          </a:p>
          <a:p>
            <a:pPr marL="0" indent="0">
              <a:buNone/>
            </a:pPr>
            <a:r>
              <a:rPr lang="en-US" altLang="zh-CN" sz="2400" dirty="0">
                <a:solidFill>
                  <a:srgbClr val="000000"/>
                </a:solidFill>
              </a:rPr>
              <a:t>                 s=s+fObj.options[i].value;</a:t>
            </a:r>
            <a:endParaRPr lang="en-US" altLang="zh-CN" sz="2400" dirty="0">
              <a:solidFill>
                <a:srgbClr val="000000"/>
              </a:solidFill>
            </a:endParaRPr>
          </a:p>
          <a:p>
            <a:pPr marL="0" indent="0">
              <a:buNone/>
            </a:pPr>
            <a:r>
              <a:rPr lang="en-US" altLang="zh-CN" sz="2400" dirty="0">
                <a:solidFill>
                  <a:srgbClr val="000000"/>
                </a:solidFill>
              </a:rPr>
              <a:t>        }</a:t>
            </a:r>
            <a:endParaRPr lang="en-US" altLang="zh-CN" sz="2400" dirty="0">
              <a:solidFill>
                <a:srgbClr val="000000"/>
              </a:solidFill>
            </a:endParaRPr>
          </a:p>
          <a:p>
            <a:pPr marL="0" indent="0">
              <a:buNone/>
            </a:pPr>
            <a:r>
              <a:rPr lang="en-US" altLang="zh-CN" sz="2400" dirty="0">
                <a:solidFill>
                  <a:srgbClr val="000000"/>
                </a:solidFill>
              </a:rPr>
              <a:t>        window.alert(s); // </a:t>
            </a:r>
            <a:r>
              <a:rPr lang="zh-CN" altLang="en-US" sz="2400" dirty="0">
                <a:solidFill>
                  <a:srgbClr val="000000"/>
                </a:solidFill>
              </a:rPr>
              <a:t>通过警告框，输出</a:t>
            </a:r>
            <a:r>
              <a:rPr lang="en-US" altLang="zh-CN" sz="2400" dirty="0">
                <a:solidFill>
                  <a:srgbClr val="000000"/>
                </a:solidFill>
              </a:rPr>
              <a:t>s</a:t>
            </a:r>
            <a:r>
              <a:rPr lang="zh-CN" altLang="en-US" sz="2400" dirty="0">
                <a:solidFill>
                  <a:srgbClr val="000000"/>
                </a:solidFill>
              </a:rPr>
              <a:t>的信息值</a:t>
            </a:r>
            <a:endParaRPr lang="en-US" altLang="zh-CN" sz="2400" dirty="0">
              <a:solidFill>
                <a:srgbClr val="000000"/>
              </a:solidFill>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2.3.4  </a:t>
            </a:r>
            <a:r>
              <a:rPr lang="zh-CN" altLang="en-US" baseline="0" dirty="0">
                <a:latin typeface="Times New Roman" panose="02020603050405020304" pitchFamily="18" charset="0"/>
                <a:ea typeface="黑体" panose="02010609060101010101" pitchFamily="49" charset="-122"/>
                <a:cs typeface="+mj-cs"/>
              </a:rPr>
              <a:t>案例</a:t>
            </a:r>
            <a:r>
              <a:rPr lang="en-US" altLang="zh-CN" baseline="0" dirty="0">
                <a:latin typeface="Times New Roman" panose="02020603050405020304" pitchFamily="18" charset="0"/>
                <a:ea typeface="黑体" panose="02010609060101010101" pitchFamily="49" charset="-122"/>
                <a:cs typeface="+mj-cs"/>
              </a:rPr>
              <a:t>—JavaScript</a:t>
            </a:r>
            <a:r>
              <a:rPr lang="zh-CN" altLang="en-US" baseline="0" dirty="0">
                <a:latin typeface="Times New Roman" panose="02020603050405020304" pitchFamily="18" charset="0"/>
                <a:ea typeface="黑体" panose="02010609060101010101" pitchFamily="49" charset="-122"/>
                <a:cs typeface="+mj-cs"/>
              </a:rPr>
              <a:t>实现输入验证</a:t>
            </a:r>
            <a:endParaRPr lang="zh-CN" altLang="en-US" baseline="0" dirty="0">
              <a:latin typeface="Times New Roman" panose="02020603050405020304" pitchFamily="18" charset="0"/>
              <a:ea typeface="黑体" panose="02010609060101010101" pitchFamily="49" charset="-122"/>
              <a:cs typeface="+mj-cs"/>
            </a:endParaRPr>
          </a:p>
        </p:txBody>
      </p:sp>
      <p:sp>
        <p:nvSpPr>
          <p:cNvPr id="100354" name="内容占位符 2"/>
          <p:cNvSpPr>
            <a:spLocks noGrp="1"/>
          </p:cNvSpPr>
          <p:nvPr>
            <p:ph idx="1"/>
          </p:nvPr>
        </p:nvSpPr>
        <p:spPr>
          <a:xfrm>
            <a:off x="107950" y="1125538"/>
            <a:ext cx="8928100" cy="1295400"/>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2-11】</a:t>
            </a:r>
            <a:r>
              <a:rPr lang="zh-CN" altLang="en-US" sz="2400" dirty="0">
                <a:solidFill>
                  <a:srgbClr val="000000"/>
                </a:solidFill>
              </a:rPr>
              <a:t>根据图所给出的不同信息的输入要求，利用</a:t>
            </a:r>
            <a:r>
              <a:rPr lang="en-US" altLang="zh-CN" sz="2400" dirty="0">
                <a:solidFill>
                  <a:srgbClr val="000000"/>
                </a:solidFill>
              </a:rPr>
              <a:t>JavaScript</a:t>
            </a:r>
            <a:r>
              <a:rPr lang="zh-CN" altLang="en-US" sz="2400" dirty="0">
                <a:solidFill>
                  <a:srgbClr val="000000"/>
                </a:solidFill>
              </a:rPr>
              <a:t>进行表单数据有效性验证，当不符合要求时，通过警告框，给出提示，并重新输入。</a:t>
            </a:r>
            <a:endParaRPr lang="zh-CN" altLang="en-US" sz="2400" dirty="0">
              <a:solidFill>
                <a:srgbClr val="000000"/>
              </a:solidFill>
            </a:endParaRPr>
          </a:p>
        </p:txBody>
      </p:sp>
      <p:pic>
        <p:nvPicPr>
          <p:cNvPr id="100355" name="图片 3"/>
          <p:cNvPicPr>
            <a:picLocks noChangeAspect="1"/>
          </p:cNvPicPr>
          <p:nvPr/>
        </p:nvPicPr>
        <p:blipFill>
          <a:blip r:embed="rId1"/>
          <a:stretch>
            <a:fillRect/>
          </a:stretch>
        </p:blipFill>
        <p:spPr>
          <a:xfrm>
            <a:off x="1349375" y="2276475"/>
            <a:ext cx="6854825" cy="4483100"/>
          </a:xfrm>
          <a:prstGeom prst="rect">
            <a:avLst/>
          </a:prstGeom>
          <a:noFill/>
          <a:ln w="9525">
            <a:noFill/>
          </a:ln>
        </p:spPr>
      </p:pic>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2.3.4  </a:t>
            </a:r>
            <a:r>
              <a:rPr lang="zh-CN" altLang="en-US" baseline="0" dirty="0">
                <a:latin typeface="Times New Roman" panose="02020603050405020304" pitchFamily="18" charset="0"/>
                <a:ea typeface="黑体" panose="02010609060101010101" pitchFamily="49" charset="-122"/>
                <a:cs typeface="+mj-cs"/>
              </a:rPr>
              <a:t>案例</a:t>
            </a:r>
            <a:r>
              <a:rPr lang="en-US" altLang="zh-CN" baseline="0" dirty="0">
                <a:latin typeface="Times New Roman" panose="02020603050405020304" pitchFamily="18" charset="0"/>
                <a:ea typeface="黑体" panose="02010609060101010101" pitchFamily="49" charset="-122"/>
                <a:cs typeface="+mj-cs"/>
              </a:rPr>
              <a:t>—JavaScript</a:t>
            </a:r>
            <a:r>
              <a:rPr lang="zh-CN" altLang="en-US" baseline="0" dirty="0">
                <a:latin typeface="Times New Roman" panose="02020603050405020304" pitchFamily="18" charset="0"/>
                <a:ea typeface="黑体" panose="02010609060101010101" pitchFamily="49" charset="-122"/>
                <a:cs typeface="+mj-cs"/>
              </a:rPr>
              <a:t>实现输入验证</a:t>
            </a:r>
            <a:endParaRPr lang="zh-CN" altLang="en-US" baseline="0" dirty="0">
              <a:latin typeface="Times New Roman" panose="02020603050405020304" pitchFamily="18" charset="0"/>
              <a:ea typeface="黑体" panose="02010609060101010101" pitchFamily="49" charset="-122"/>
              <a:cs typeface="+mj-cs"/>
            </a:endParaRPr>
          </a:p>
        </p:txBody>
      </p:sp>
      <p:sp>
        <p:nvSpPr>
          <p:cNvPr id="10137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分析</a:t>
            </a:r>
            <a:r>
              <a:rPr lang="en-US" altLang="zh-CN" sz="2400" dirty="0">
                <a:solidFill>
                  <a:srgbClr val="000000"/>
                </a:solidFill>
              </a:rPr>
              <a:t>】</a:t>
            </a:r>
            <a:r>
              <a:rPr lang="zh-CN" altLang="en-US" sz="2400" dirty="0">
                <a:solidFill>
                  <a:srgbClr val="000000"/>
                </a:solidFill>
              </a:rPr>
              <a:t>输入表单的验证就是对表单中输入的数据进行检验，如果表单中填入的数据不符合要求，则禁止提交，并给用户适当的提示信息，以便用户重新输入。只有当所有输入的数据符合所要求后，才允许提交，并进入表单标签的</a:t>
            </a:r>
            <a:r>
              <a:rPr lang="en-US" altLang="zh-CN" sz="2400" dirty="0">
                <a:solidFill>
                  <a:srgbClr val="000000"/>
                </a:solidFill>
              </a:rPr>
              <a:t>action</a:t>
            </a:r>
            <a:r>
              <a:rPr lang="zh-CN" altLang="en-US" sz="2400" dirty="0">
                <a:solidFill>
                  <a:srgbClr val="000000"/>
                </a:solidFill>
              </a:rPr>
              <a:t>属性所指定的处理程序，即：</a:t>
            </a:r>
            <a:r>
              <a:rPr lang="en-US" altLang="zh-CN" sz="2400" dirty="0">
                <a:solidFill>
                  <a:srgbClr val="000000"/>
                </a:solidFill>
              </a:rPr>
              <a:t>&lt;form action="</a:t>
            </a:r>
            <a:r>
              <a:rPr lang="zh-CN" altLang="en-US" sz="2400" dirty="0">
                <a:solidFill>
                  <a:srgbClr val="000000"/>
                </a:solidFill>
              </a:rPr>
              <a:t>提交后，进入的处理页面</a:t>
            </a:r>
            <a:r>
              <a:rPr lang="en-US" altLang="zh-CN" sz="2400" dirty="0">
                <a:solidFill>
                  <a:srgbClr val="000000"/>
                </a:solidFill>
              </a:rPr>
              <a:t>"&gt;</a:t>
            </a:r>
            <a:r>
              <a:rPr lang="zh-CN" altLang="en-US" sz="2400" dirty="0">
                <a:solidFill>
                  <a:srgbClr val="000000"/>
                </a:solidFill>
              </a:rPr>
              <a:t>。</a:t>
            </a:r>
            <a:endParaRPr lang="zh-CN" altLang="en-US" sz="2400" dirty="0">
              <a:solidFill>
                <a:srgbClr val="000000"/>
              </a:solidFill>
            </a:endParaRPr>
          </a:p>
          <a:p>
            <a:pPr marL="0" indent="0">
              <a:buNone/>
            </a:pPr>
            <a:r>
              <a:rPr lang="zh-CN" altLang="en-US" sz="2400" dirty="0">
                <a:solidFill>
                  <a:srgbClr val="000000"/>
                </a:solidFill>
              </a:rPr>
              <a:t>（</a:t>
            </a:r>
            <a:r>
              <a:rPr lang="en-US" altLang="zh-CN" sz="2400" dirty="0">
                <a:solidFill>
                  <a:srgbClr val="000000"/>
                </a:solidFill>
              </a:rPr>
              <a:t>1</a:t>
            </a:r>
            <a:r>
              <a:rPr lang="zh-CN" altLang="en-US" sz="2400" dirty="0">
                <a:solidFill>
                  <a:srgbClr val="000000"/>
                </a:solidFill>
              </a:rPr>
              <a:t>）需要验证的表单输入域和要求：</a:t>
            </a:r>
            <a:endParaRPr lang="zh-CN" altLang="en-US"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用户名：用户名是否为空，是否符合规定的格式（用户名由字母开头，后跟字母、数字或下划线！），</a:t>
            </a:r>
            <a:endParaRPr lang="zh-CN" altLang="en-US"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密码：密码长度是否超过</a:t>
            </a:r>
            <a:r>
              <a:rPr lang="en-US" altLang="zh-CN" sz="2400" dirty="0">
                <a:solidFill>
                  <a:srgbClr val="000000"/>
                </a:solidFill>
              </a:rPr>
              <a:t>6</a:t>
            </a:r>
            <a:r>
              <a:rPr lang="zh-CN" altLang="en-US" sz="2400" dirty="0">
                <a:solidFill>
                  <a:srgbClr val="000000"/>
                </a:solidFill>
              </a:rPr>
              <a:t>，两次密码输入是否一致。</a:t>
            </a:r>
            <a:endParaRPr lang="zh-CN" altLang="en-US" sz="2400" dirty="0">
              <a:solidFill>
                <a:srgbClr val="000000"/>
              </a:solidFill>
            </a:endParaRPr>
          </a:p>
          <a:p>
            <a:pPr marL="0" indent="0">
              <a:buNone/>
            </a:pPr>
            <a:r>
              <a:rPr lang="en-US" altLang="zh-CN" sz="2400" dirty="0">
                <a:solidFill>
                  <a:srgbClr val="000000"/>
                </a:solidFill>
              </a:rPr>
              <a:t>• </a:t>
            </a:r>
            <a:r>
              <a:rPr lang="zh-CN" altLang="en-US" sz="2400" dirty="0">
                <a:solidFill>
                  <a:srgbClr val="000000"/>
                </a:solidFill>
              </a:rPr>
              <a:t>邮箱地址：邮箱地址必须符合邮箱格式。</a:t>
            </a:r>
            <a:endParaRPr lang="zh-CN" altLang="en-US" sz="2400" dirty="0">
              <a:solidFill>
                <a:srgbClr val="000000"/>
              </a:solidFill>
            </a:endParaRP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2.3.4  </a:t>
            </a:r>
            <a:r>
              <a:rPr lang="zh-CN" altLang="en-US" baseline="0" dirty="0">
                <a:latin typeface="Times New Roman" panose="02020603050405020304" pitchFamily="18" charset="0"/>
                <a:ea typeface="黑体" panose="02010609060101010101" pitchFamily="49" charset="-122"/>
                <a:cs typeface="+mj-cs"/>
              </a:rPr>
              <a:t>案例</a:t>
            </a:r>
            <a:r>
              <a:rPr lang="en-US" altLang="zh-CN" baseline="0" dirty="0">
                <a:latin typeface="Times New Roman" panose="02020603050405020304" pitchFamily="18" charset="0"/>
                <a:ea typeface="黑体" panose="02010609060101010101" pitchFamily="49" charset="-122"/>
                <a:cs typeface="+mj-cs"/>
              </a:rPr>
              <a:t>—JavaScript</a:t>
            </a:r>
            <a:r>
              <a:rPr lang="zh-CN" altLang="en-US" baseline="0" dirty="0">
                <a:latin typeface="Times New Roman" panose="02020603050405020304" pitchFamily="18" charset="0"/>
                <a:ea typeface="黑体" panose="02010609060101010101" pitchFamily="49" charset="-122"/>
                <a:cs typeface="+mj-cs"/>
              </a:rPr>
              <a:t>实现输入验证</a:t>
            </a:r>
            <a:endParaRPr lang="zh-CN" altLang="en-US" baseline="0" dirty="0">
              <a:latin typeface="Times New Roman" panose="02020603050405020304" pitchFamily="18" charset="0"/>
              <a:ea typeface="黑体" panose="02010609060101010101" pitchFamily="49" charset="-122"/>
              <a:cs typeface="+mj-cs"/>
            </a:endParaRPr>
          </a:p>
        </p:txBody>
      </p:sp>
      <p:sp>
        <p:nvSpPr>
          <p:cNvPr id="102402"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分析</a:t>
            </a:r>
            <a:r>
              <a:rPr lang="en-US" altLang="zh-CN" sz="2400" dirty="0">
                <a:solidFill>
                  <a:srgbClr val="000000"/>
                </a:solidFill>
              </a:rPr>
              <a:t>】</a:t>
            </a:r>
            <a:r>
              <a:rPr lang="zh-CN" altLang="en-US" sz="2400" dirty="0">
                <a:solidFill>
                  <a:srgbClr val="000000"/>
                </a:solidFill>
              </a:rPr>
              <a:t>输入表单的验证就是对表单中输入的数据进行检验，如果表单中填入的数据不符合要求，则禁止提交，并给用户适当的提示信息，以便用户重新输入。只有当所有输入的数据符合所要求后，才允许提交，并进入表单标签的</a:t>
            </a:r>
            <a:r>
              <a:rPr lang="en-US" altLang="zh-CN" sz="2400" dirty="0">
                <a:solidFill>
                  <a:srgbClr val="000000"/>
                </a:solidFill>
              </a:rPr>
              <a:t>action</a:t>
            </a:r>
            <a:r>
              <a:rPr lang="zh-CN" altLang="en-US" sz="2400" dirty="0">
                <a:solidFill>
                  <a:srgbClr val="000000"/>
                </a:solidFill>
              </a:rPr>
              <a:t>属性所指定的处理程序，即：</a:t>
            </a:r>
            <a:r>
              <a:rPr lang="en-US" altLang="zh-CN" sz="2400" dirty="0">
                <a:solidFill>
                  <a:srgbClr val="000000"/>
                </a:solidFill>
              </a:rPr>
              <a:t>&lt;form action="</a:t>
            </a:r>
            <a:r>
              <a:rPr lang="zh-CN" altLang="en-US" sz="2400" dirty="0">
                <a:solidFill>
                  <a:srgbClr val="000000"/>
                </a:solidFill>
              </a:rPr>
              <a:t>提交后，进入的处理页面</a:t>
            </a:r>
            <a:r>
              <a:rPr lang="en-US" altLang="zh-CN" sz="2400" dirty="0">
                <a:solidFill>
                  <a:srgbClr val="000000"/>
                </a:solidFill>
              </a:rPr>
              <a:t>"&gt;</a:t>
            </a:r>
            <a:r>
              <a:rPr lang="zh-CN" altLang="en-US" sz="2400" dirty="0">
                <a:solidFill>
                  <a:srgbClr val="000000"/>
                </a:solidFill>
              </a:rPr>
              <a:t>。</a:t>
            </a:r>
            <a:endParaRPr lang="zh-CN" altLang="en-US" sz="2400" dirty="0">
              <a:solidFill>
                <a:srgbClr val="000000"/>
              </a:solidFill>
            </a:endParaRPr>
          </a:p>
          <a:p>
            <a:pPr marL="0" indent="0">
              <a:buNone/>
            </a:pPr>
            <a:r>
              <a:rPr lang="zh-CN" altLang="en-US" sz="2400" dirty="0">
                <a:solidFill>
                  <a:srgbClr val="000000"/>
                </a:solidFill>
              </a:rPr>
              <a:t>（</a:t>
            </a:r>
            <a:r>
              <a:rPr lang="en-US" altLang="zh-CN" sz="2400" dirty="0">
                <a:solidFill>
                  <a:srgbClr val="000000"/>
                </a:solidFill>
              </a:rPr>
              <a:t>2</a:t>
            </a:r>
            <a:r>
              <a:rPr lang="zh-CN" altLang="en-US" sz="2400" dirty="0">
                <a:solidFill>
                  <a:srgbClr val="000000"/>
                </a:solidFill>
              </a:rPr>
              <a:t>）必须注意提交表单并实现输入验证的方式</a:t>
            </a:r>
            <a:endParaRPr lang="zh-CN" altLang="en-US" sz="2400" dirty="0">
              <a:solidFill>
                <a:srgbClr val="000000"/>
              </a:solidFill>
            </a:endParaRPr>
          </a:p>
          <a:p>
            <a:pPr marL="0" indent="0">
              <a:buNone/>
            </a:pPr>
            <a:r>
              <a:rPr lang="zh-CN" altLang="en-US" sz="2400" dirty="0">
                <a:solidFill>
                  <a:srgbClr val="000000"/>
                </a:solidFill>
              </a:rPr>
              <a:t>   提交方式为：：</a:t>
            </a:r>
            <a:endParaRPr lang="zh-CN" altLang="en-US" sz="2400" dirty="0">
              <a:solidFill>
                <a:srgbClr val="000000"/>
              </a:solidFill>
            </a:endParaRPr>
          </a:p>
          <a:p>
            <a:pPr marL="0" indent="0">
              <a:buNone/>
            </a:pPr>
            <a:r>
              <a:rPr lang="en-US" altLang="zh-CN" sz="2400" dirty="0">
                <a:solidFill>
                  <a:srgbClr val="000000"/>
                </a:solidFill>
              </a:rPr>
              <a:t>     &lt;input type="button"  value="</a:t>
            </a:r>
            <a:r>
              <a:rPr lang="zh-CN" altLang="en-US" sz="2400" dirty="0">
                <a:solidFill>
                  <a:srgbClr val="000000"/>
                </a:solidFill>
              </a:rPr>
              <a:t>提交</a:t>
            </a:r>
            <a:r>
              <a:rPr lang="en-US" altLang="zh-CN" sz="2400" dirty="0">
                <a:solidFill>
                  <a:srgbClr val="000000"/>
                </a:solidFill>
              </a:rPr>
              <a:t>"  onClick="</a:t>
            </a:r>
            <a:r>
              <a:rPr lang="zh-CN" altLang="en-US" sz="2400" dirty="0">
                <a:solidFill>
                  <a:srgbClr val="000000"/>
                </a:solidFill>
              </a:rPr>
              <a:t>响应函数</a:t>
            </a:r>
            <a:r>
              <a:rPr lang="en-US" altLang="zh-CN" sz="2400" dirty="0">
                <a:solidFill>
                  <a:srgbClr val="000000"/>
                </a:solidFill>
              </a:rPr>
              <a:t>"&gt;</a:t>
            </a:r>
            <a:endParaRPr lang="en-US" altLang="zh-CN" sz="2400" dirty="0">
              <a:solidFill>
                <a:srgbClr val="000000"/>
              </a:solidFill>
            </a:endParaRPr>
          </a:p>
          <a:p>
            <a:pPr marL="0" indent="0">
              <a:buNone/>
            </a:pPr>
            <a:r>
              <a:rPr lang="zh-CN" altLang="en-US" sz="2400" dirty="0">
                <a:solidFill>
                  <a:srgbClr val="000000"/>
                </a:solidFill>
              </a:rPr>
              <a:t>   另外，在验证函数中，当都满足格式后，实现提交：</a:t>
            </a:r>
            <a:endParaRPr lang="zh-CN" altLang="en-US" sz="2400" dirty="0">
              <a:solidFill>
                <a:srgbClr val="000000"/>
              </a:solidFill>
            </a:endParaRPr>
          </a:p>
          <a:p>
            <a:pPr marL="0" indent="0">
              <a:buNone/>
            </a:pPr>
            <a:r>
              <a:rPr lang="en-US" altLang="zh-CN" sz="2400" dirty="0">
                <a:solidFill>
                  <a:srgbClr val="000000"/>
                </a:solidFill>
              </a:rPr>
              <a:t>            document.forms[0].submit();</a:t>
            </a:r>
            <a:endParaRPr lang="zh-CN" altLang="en-US" sz="2400" dirty="0">
              <a:solidFill>
                <a:srgbClr val="000000"/>
              </a:solidFill>
            </a:endParaRP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baseline="0" dirty="0">
                <a:latin typeface="Times New Roman" panose="02020603050405020304" pitchFamily="18" charset="0"/>
                <a:ea typeface="黑体" panose="02010609060101010101" pitchFamily="49" charset="-122"/>
                <a:cs typeface="+mj-cs"/>
              </a:rPr>
              <a:t>2.3.4  </a:t>
            </a:r>
            <a:r>
              <a:rPr lang="zh-CN" altLang="en-US" baseline="0" dirty="0">
                <a:latin typeface="Times New Roman" panose="02020603050405020304" pitchFamily="18" charset="0"/>
                <a:ea typeface="黑体" panose="02010609060101010101" pitchFamily="49" charset="-122"/>
                <a:cs typeface="+mj-cs"/>
              </a:rPr>
              <a:t>案例</a:t>
            </a:r>
            <a:r>
              <a:rPr lang="en-US" altLang="zh-CN" baseline="0" dirty="0">
                <a:latin typeface="Times New Roman" panose="02020603050405020304" pitchFamily="18" charset="0"/>
                <a:ea typeface="黑体" panose="02010609060101010101" pitchFamily="49" charset="-122"/>
                <a:cs typeface="+mj-cs"/>
              </a:rPr>
              <a:t>—JavaScript</a:t>
            </a:r>
            <a:r>
              <a:rPr lang="zh-CN" altLang="en-US" baseline="0" dirty="0">
                <a:latin typeface="Times New Roman" panose="02020603050405020304" pitchFamily="18" charset="0"/>
                <a:ea typeface="黑体" panose="02010609060101010101" pitchFamily="49" charset="-122"/>
                <a:cs typeface="+mj-cs"/>
              </a:rPr>
              <a:t>实现输入验证</a:t>
            </a:r>
            <a:endParaRPr lang="zh-CN" altLang="en-US" baseline="0" dirty="0">
              <a:latin typeface="Times New Roman" panose="02020603050405020304" pitchFamily="18" charset="0"/>
              <a:ea typeface="黑体" panose="02010609060101010101" pitchFamily="49" charset="-122"/>
              <a:cs typeface="+mj-cs"/>
            </a:endParaRPr>
          </a:p>
        </p:txBody>
      </p:sp>
      <p:sp>
        <p:nvSpPr>
          <p:cNvPr id="10342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a:t>
            </a:r>
            <a:r>
              <a:rPr lang="zh-CN" altLang="en-US" sz="2800" dirty="0">
                <a:solidFill>
                  <a:srgbClr val="000000"/>
                </a:solidFill>
              </a:rPr>
              <a:t>设计</a:t>
            </a:r>
            <a:r>
              <a:rPr lang="en-US" altLang="zh-CN" sz="2800" dirty="0">
                <a:solidFill>
                  <a:srgbClr val="000000"/>
                </a:solidFill>
              </a:rPr>
              <a:t>】</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对于验证输入格式，实际上就是编写</a:t>
            </a:r>
            <a:r>
              <a:rPr lang="en-US" altLang="zh-CN" sz="2800" dirty="0">
                <a:solidFill>
                  <a:srgbClr val="000000"/>
                </a:solidFill>
              </a:rPr>
              <a:t>JavaScript</a:t>
            </a:r>
            <a:r>
              <a:rPr lang="zh-CN" altLang="en-US" sz="2800" dirty="0">
                <a:solidFill>
                  <a:srgbClr val="000000"/>
                </a:solidFill>
              </a:rPr>
              <a:t>函数，去验证表单中各输入域是否符合规定，若不符合规定，给出提示信息。为此，使用</a:t>
            </a:r>
            <a:r>
              <a:rPr lang="en-US" altLang="zh-CN" sz="2800" dirty="0">
                <a:solidFill>
                  <a:srgbClr val="000000"/>
                </a:solidFill>
              </a:rPr>
              <a:t>JavaScript</a:t>
            </a:r>
            <a:r>
              <a:rPr lang="zh-CN" altLang="en-US" sz="2800" dirty="0">
                <a:solidFill>
                  <a:srgbClr val="000000"/>
                </a:solidFill>
              </a:rPr>
              <a:t>编写验证函数，并形成文件：</a:t>
            </a:r>
            <a:r>
              <a:rPr lang="en-US" altLang="zh-CN" sz="2800" dirty="0">
                <a:solidFill>
                  <a:srgbClr val="000000"/>
                </a:solidFill>
              </a:rPr>
              <a:t>ch02_11_JavaScript.js</a:t>
            </a:r>
            <a:r>
              <a:rPr lang="zh-CN" altLang="en-US" sz="2800" dirty="0">
                <a:solidFill>
                  <a:srgbClr val="000000"/>
                </a:solidFill>
              </a:rPr>
              <a:t>。</a:t>
            </a:r>
            <a:endParaRPr lang="en-US" altLang="zh-CN" sz="2800" dirty="0">
              <a:solidFill>
                <a:srgbClr val="000000"/>
              </a:solidFill>
            </a:endParaRPr>
          </a:p>
          <a:p>
            <a:pPr marL="0" indent="0">
              <a:buNone/>
            </a:pPr>
            <a:endParaRPr lang="en-US" altLang="zh-CN" sz="2800" dirty="0">
              <a:solidFill>
                <a:srgbClr val="000000"/>
              </a:solidFill>
            </a:endParaRPr>
          </a:p>
          <a:p>
            <a:pPr marL="0" indent="0">
              <a:buNone/>
            </a:pPr>
            <a:r>
              <a:rPr lang="en-US" altLang="zh-CN" sz="2800" dirty="0">
                <a:solidFill>
                  <a:srgbClr val="000000"/>
                </a:solidFill>
              </a:rPr>
              <a:t>【</a:t>
            </a:r>
            <a:r>
              <a:rPr lang="zh-CN" altLang="en-US" sz="2800" dirty="0">
                <a:solidFill>
                  <a:srgbClr val="000000"/>
                </a:solidFill>
              </a:rPr>
              <a:t>实现</a:t>
            </a:r>
            <a:r>
              <a:rPr lang="en-US" altLang="zh-CN" sz="2800" dirty="0">
                <a:solidFill>
                  <a:srgbClr val="000000"/>
                </a:solidFill>
              </a:rPr>
              <a:t>】</a:t>
            </a:r>
            <a:r>
              <a:rPr lang="zh-CN" altLang="en-US" sz="2800" dirty="0">
                <a:solidFill>
                  <a:srgbClr val="000000"/>
                </a:solidFill>
              </a:rPr>
              <a:t>实现步骤与代码</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a:t>
            </a:r>
            <a:r>
              <a:rPr lang="en-US" altLang="zh-CN" sz="2800" dirty="0">
                <a:solidFill>
                  <a:srgbClr val="000000"/>
                </a:solidFill>
              </a:rPr>
              <a:t>1</a:t>
            </a:r>
            <a:r>
              <a:rPr lang="zh-CN" altLang="en-US" sz="2800" dirty="0">
                <a:solidFill>
                  <a:srgbClr val="000000"/>
                </a:solidFill>
              </a:rPr>
              <a:t>）</a:t>
            </a:r>
            <a:r>
              <a:rPr lang="en-US" altLang="zh-CN" sz="2800" dirty="0">
                <a:solidFill>
                  <a:srgbClr val="000000"/>
                </a:solidFill>
              </a:rPr>
              <a:t>ch02_11_JavaScript.js</a:t>
            </a:r>
            <a:endParaRPr lang="en-US" altLang="zh-CN" sz="2800" dirty="0">
              <a:solidFill>
                <a:srgbClr val="000000"/>
              </a:solidFill>
            </a:endParaRPr>
          </a:p>
          <a:p>
            <a:pPr marL="0" indent="0">
              <a:buNone/>
            </a:pPr>
            <a:r>
              <a:rPr lang="zh-CN" altLang="en-US" sz="2800" dirty="0">
                <a:solidFill>
                  <a:srgbClr val="000000"/>
                </a:solidFill>
              </a:rPr>
              <a:t>       （</a:t>
            </a:r>
            <a:r>
              <a:rPr lang="en-US" altLang="zh-CN" sz="2800" dirty="0">
                <a:solidFill>
                  <a:srgbClr val="000000"/>
                </a:solidFill>
              </a:rPr>
              <a:t>2</a:t>
            </a:r>
            <a:r>
              <a:rPr lang="zh-CN" altLang="en-US" sz="2800" dirty="0">
                <a:solidFill>
                  <a:srgbClr val="000000"/>
                </a:solidFill>
              </a:rPr>
              <a:t>）</a:t>
            </a:r>
            <a:r>
              <a:rPr lang="en-US" altLang="zh-CN" sz="2800" dirty="0">
                <a:solidFill>
                  <a:srgbClr val="000000"/>
                </a:solidFill>
              </a:rPr>
              <a:t>ch02_11.css</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a:t>
            </a:r>
            <a:r>
              <a:rPr lang="en-US" altLang="zh-CN" sz="2800" dirty="0">
                <a:solidFill>
                  <a:srgbClr val="000000"/>
                </a:solidFill>
              </a:rPr>
              <a:t>3</a:t>
            </a:r>
            <a:r>
              <a:rPr lang="zh-CN" altLang="en-US" sz="2800" dirty="0">
                <a:solidFill>
                  <a:srgbClr val="000000"/>
                </a:solidFill>
              </a:rPr>
              <a:t>）</a:t>
            </a:r>
            <a:r>
              <a:rPr lang="en-US" altLang="zh-CN" sz="2800" dirty="0">
                <a:solidFill>
                  <a:srgbClr val="000000"/>
                </a:solidFill>
              </a:rPr>
              <a:t>ch02_11_registerCssJavascript.html</a:t>
            </a:r>
            <a:endParaRPr lang="en-US" altLang="zh-CN" sz="2800" dirty="0">
              <a:solidFill>
                <a:srgbClr val="000000"/>
              </a:solidFill>
            </a:endParaRP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200" baseline="0" dirty="0">
                <a:latin typeface="Times New Roman" panose="02020603050405020304" pitchFamily="18" charset="0"/>
                <a:ea typeface="黑体" panose="02010609060101010101" pitchFamily="49" charset="-122"/>
                <a:cs typeface="+mj-cs"/>
              </a:rPr>
              <a:t>2.4  </a:t>
            </a:r>
            <a:r>
              <a:rPr lang="zh-CN" altLang="en-US" sz="3200" baseline="0" dirty="0">
                <a:latin typeface="Times New Roman" panose="02020603050405020304" pitchFamily="18" charset="0"/>
                <a:ea typeface="黑体" panose="02010609060101010101" pitchFamily="49" charset="-122"/>
                <a:cs typeface="+mj-cs"/>
              </a:rPr>
              <a:t>基于</a:t>
            </a:r>
            <a:r>
              <a:rPr lang="en-US" altLang="zh-CN" sz="3200" baseline="0" dirty="0">
                <a:latin typeface="Times New Roman" panose="02020603050405020304" pitchFamily="18" charset="0"/>
                <a:ea typeface="黑体" panose="02010609060101010101" pitchFamily="49" charset="-122"/>
                <a:cs typeface="+mj-cs"/>
              </a:rPr>
              <a:t>HTML+JavaScript+CSS</a:t>
            </a:r>
            <a:r>
              <a:rPr lang="zh-CN" altLang="en-US" sz="3200" baseline="0" dirty="0">
                <a:latin typeface="Times New Roman" panose="02020603050405020304" pitchFamily="18" charset="0"/>
                <a:ea typeface="黑体" panose="02010609060101010101" pitchFamily="49" charset="-122"/>
                <a:cs typeface="+mj-cs"/>
              </a:rPr>
              <a:t>的开发案例</a:t>
            </a:r>
            <a:endParaRPr lang="zh-CN" altLang="en-US" sz="3200" baseline="0" dirty="0">
              <a:latin typeface="Times New Roman" panose="02020603050405020304" pitchFamily="18" charset="0"/>
              <a:ea typeface="黑体" panose="02010609060101010101" pitchFamily="49" charset="-122"/>
              <a:cs typeface="+mj-cs"/>
            </a:endParaRPr>
          </a:p>
        </p:txBody>
      </p:sp>
      <p:sp>
        <p:nvSpPr>
          <p:cNvPr id="10445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2.4.1  JavaScript +CSS +DIV</a:t>
            </a:r>
            <a:r>
              <a:rPr lang="zh-CN" altLang="en-US" sz="2800" dirty="0">
                <a:solidFill>
                  <a:srgbClr val="000000"/>
                </a:solidFill>
              </a:rPr>
              <a:t>实现下拉菜单	</a:t>
            </a:r>
            <a:endParaRPr lang="zh-CN" altLang="en-US" sz="2800" dirty="0">
              <a:solidFill>
                <a:srgbClr val="000000"/>
              </a:solidFill>
            </a:endParaRPr>
          </a:p>
          <a:p>
            <a:pPr marL="0" indent="0">
              <a:buNone/>
            </a:pPr>
            <a:r>
              <a:rPr lang="en-US" altLang="zh-CN" sz="2800" dirty="0">
                <a:solidFill>
                  <a:srgbClr val="000000"/>
                </a:solidFill>
              </a:rPr>
              <a:t>2.4.2  JavaScript +CSS +DIV</a:t>
            </a:r>
            <a:r>
              <a:rPr lang="zh-CN" altLang="en-US" sz="2800" dirty="0">
                <a:solidFill>
                  <a:srgbClr val="000000"/>
                </a:solidFill>
              </a:rPr>
              <a:t>实现表格变色</a:t>
            </a:r>
            <a:endParaRPr lang="zh-CN" altLang="en-US" sz="2800" dirty="0">
              <a:solidFill>
                <a:srgbClr val="000000"/>
              </a:solidFill>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latin typeface="Times New Roman" panose="02020603050405020304" pitchFamily="18" charset="0"/>
                <a:ea typeface="黑体" panose="02010609060101010101" pitchFamily="49" charset="-122"/>
                <a:cs typeface="+mj-cs"/>
              </a:rPr>
              <a:t>2.4.1  JavaScript+CSS+DIV</a:t>
            </a:r>
            <a:r>
              <a:rPr lang="zh-CN" altLang="en-US" sz="3600" baseline="0" dirty="0">
                <a:latin typeface="Times New Roman" panose="02020603050405020304" pitchFamily="18" charset="0"/>
                <a:ea typeface="黑体" panose="02010609060101010101" pitchFamily="49" charset="-122"/>
                <a:cs typeface="+mj-cs"/>
              </a:rPr>
              <a:t>实现下拉菜单 </a:t>
            </a:r>
            <a:endParaRPr lang="zh-CN" altLang="en-US" sz="3600" baseline="0" dirty="0">
              <a:latin typeface="Times New Roman" panose="02020603050405020304" pitchFamily="18" charset="0"/>
              <a:ea typeface="黑体" panose="02010609060101010101" pitchFamily="49" charset="-122"/>
              <a:cs typeface="+mj-cs"/>
            </a:endParaRPr>
          </a:p>
        </p:txBody>
      </p:sp>
      <p:sp>
        <p:nvSpPr>
          <p:cNvPr id="105474" name="内容占位符 2"/>
          <p:cNvSpPr>
            <a:spLocks noGrp="1"/>
          </p:cNvSpPr>
          <p:nvPr>
            <p:ph idx="1"/>
          </p:nvPr>
        </p:nvSpPr>
        <p:spPr>
          <a:xfrm>
            <a:off x="107950" y="1125538"/>
            <a:ext cx="8928100" cy="2663825"/>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2-12】</a:t>
            </a:r>
            <a:r>
              <a:rPr lang="zh-CN" altLang="en-US" sz="2400" dirty="0">
                <a:solidFill>
                  <a:srgbClr val="000000"/>
                </a:solidFill>
              </a:rPr>
              <a:t>利用</a:t>
            </a:r>
            <a:r>
              <a:rPr lang="en-US" altLang="zh-CN" sz="2400" dirty="0">
                <a:solidFill>
                  <a:srgbClr val="000000"/>
                </a:solidFill>
              </a:rPr>
              <a:t>JavaScript+DIV+CSS</a:t>
            </a:r>
            <a:r>
              <a:rPr lang="zh-CN" altLang="en-US" sz="2400" dirty="0">
                <a:solidFill>
                  <a:srgbClr val="000000"/>
                </a:solidFill>
              </a:rPr>
              <a:t>实现图所示的下拉菜单。在“系列课程”下有</a:t>
            </a:r>
            <a:r>
              <a:rPr lang="en-US" altLang="zh-CN" sz="2400" dirty="0">
                <a:solidFill>
                  <a:srgbClr val="000000"/>
                </a:solidFill>
              </a:rPr>
              <a:t>3</a:t>
            </a:r>
            <a:r>
              <a:rPr lang="zh-CN" altLang="en-US" sz="2400" dirty="0">
                <a:solidFill>
                  <a:srgbClr val="000000"/>
                </a:solidFill>
              </a:rPr>
              <a:t>项子菜单：</a:t>
            </a:r>
            <a:r>
              <a:rPr lang="en-US" altLang="zh-CN" sz="2400" dirty="0">
                <a:solidFill>
                  <a:srgbClr val="000000"/>
                </a:solidFill>
              </a:rPr>
              <a:t>C++</a:t>
            </a:r>
            <a:r>
              <a:rPr lang="zh-CN" altLang="en-US" sz="2400" dirty="0">
                <a:solidFill>
                  <a:srgbClr val="000000"/>
                </a:solidFill>
              </a:rPr>
              <a:t>程序设计、</a:t>
            </a:r>
            <a:r>
              <a:rPr lang="en-US" altLang="zh-CN" sz="2400" dirty="0">
                <a:solidFill>
                  <a:srgbClr val="000000"/>
                </a:solidFill>
              </a:rPr>
              <a:t>Java</a:t>
            </a:r>
            <a:r>
              <a:rPr lang="zh-CN" altLang="en-US" sz="2400" dirty="0">
                <a:solidFill>
                  <a:srgbClr val="000000"/>
                </a:solidFill>
              </a:rPr>
              <a:t>程序设计、</a:t>
            </a:r>
            <a:r>
              <a:rPr lang="en-US" altLang="zh-CN" sz="2400" dirty="0">
                <a:solidFill>
                  <a:srgbClr val="000000"/>
                </a:solidFill>
              </a:rPr>
              <a:t>C#</a:t>
            </a:r>
            <a:r>
              <a:rPr lang="zh-CN" altLang="en-US" sz="2400" dirty="0">
                <a:solidFill>
                  <a:srgbClr val="000000"/>
                </a:solidFill>
              </a:rPr>
              <a:t>程序设计；在教学课件下有</a:t>
            </a:r>
            <a:r>
              <a:rPr lang="en-US" altLang="zh-CN" sz="2400" dirty="0">
                <a:solidFill>
                  <a:srgbClr val="000000"/>
                </a:solidFill>
              </a:rPr>
              <a:t>3</a:t>
            </a:r>
            <a:r>
              <a:rPr lang="zh-CN" altLang="en-US" sz="2400" dirty="0">
                <a:solidFill>
                  <a:srgbClr val="000000"/>
                </a:solidFill>
              </a:rPr>
              <a:t>项子菜单：</a:t>
            </a:r>
            <a:r>
              <a:rPr lang="en-US" altLang="zh-CN" sz="2400" dirty="0">
                <a:solidFill>
                  <a:srgbClr val="000000"/>
                </a:solidFill>
              </a:rPr>
              <a:t>C++</a:t>
            </a:r>
            <a:r>
              <a:rPr lang="zh-CN" altLang="en-US" sz="2400" dirty="0">
                <a:solidFill>
                  <a:srgbClr val="000000"/>
                </a:solidFill>
              </a:rPr>
              <a:t>课件、</a:t>
            </a:r>
            <a:r>
              <a:rPr lang="en-US" altLang="zh-CN" sz="2400" dirty="0">
                <a:solidFill>
                  <a:srgbClr val="000000"/>
                </a:solidFill>
              </a:rPr>
              <a:t>Java</a:t>
            </a:r>
            <a:r>
              <a:rPr lang="zh-CN" altLang="en-US" sz="2400" dirty="0">
                <a:solidFill>
                  <a:srgbClr val="000000"/>
                </a:solidFill>
              </a:rPr>
              <a:t>课件、</a:t>
            </a:r>
            <a:r>
              <a:rPr lang="en-US" altLang="zh-CN" sz="2400" dirty="0">
                <a:solidFill>
                  <a:srgbClr val="000000"/>
                </a:solidFill>
              </a:rPr>
              <a:t>C#</a:t>
            </a:r>
            <a:r>
              <a:rPr lang="zh-CN" altLang="en-US" sz="2400" dirty="0">
                <a:solidFill>
                  <a:srgbClr val="000000"/>
                </a:solidFill>
              </a:rPr>
              <a:t>课件；在课程大纲下也有</a:t>
            </a:r>
            <a:r>
              <a:rPr lang="en-US" altLang="zh-CN" sz="2400" dirty="0">
                <a:solidFill>
                  <a:srgbClr val="000000"/>
                </a:solidFill>
              </a:rPr>
              <a:t>3</a:t>
            </a:r>
            <a:r>
              <a:rPr lang="zh-CN" altLang="en-US" sz="2400" dirty="0">
                <a:solidFill>
                  <a:srgbClr val="000000"/>
                </a:solidFill>
              </a:rPr>
              <a:t>项子菜单：</a:t>
            </a:r>
            <a:r>
              <a:rPr lang="en-US" altLang="zh-CN" sz="2400" dirty="0">
                <a:solidFill>
                  <a:srgbClr val="000000"/>
                </a:solidFill>
              </a:rPr>
              <a:t>C++</a:t>
            </a:r>
            <a:r>
              <a:rPr lang="zh-CN" altLang="en-US" sz="2400" dirty="0">
                <a:solidFill>
                  <a:srgbClr val="000000"/>
                </a:solidFill>
              </a:rPr>
              <a:t>教学大纲、</a:t>
            </a:r>
            <a:r>
              <a:rPr lang="en-US" altLang="zh-CN" sz="2400" dirty="0">
                <a:solidFill>
                  <a:srgbClr val="000000"/>
                </a:solidFill>
              </a:rPr>
              <a:t>Java</a:t>
            </a:r>
            <a:r>
              <a:rPr lang="zh-CN" altLang="en-US" sz="2400" dirty="0">
                <a:solidFill>
                  <a:srgbClr val="000000"/>
                </a:solidFill>
              </a:rPr>
              <a:t>教学大纲、</a:t>
            </a:r>
            <a:r>
              <a:rPr lang="en-US" altLang="zh-CN" sz="2400" dirty="0">
                <a:solidFill>
                  <a:srgbClr val="000000"/>
                </a:solidFill>
              </a:rPr>
              <a:t>C#</a:t>
            </a:r>
            <a:r>
              <a:rPr lang="zh-CN" altLang="en-US" sz="2400" dirty="0">
                <a:solidFill>
                  <a:srgbClr val="000000"/>
                </a:solidFill>
              </a:rPr>
              <a:t>教学大纲。当鼠标移动到最上行菜单的某项时，就自动显示其下拉子菜单项，图显示的是当鼠标移到“系列课程”菜单项时，显示的子菜单项。</a:t>
            </a:r>
            <a:endParaRPr lang="zh-CN" altLang="en-US" sz="2400" dirty="0">
              <a:solidFill>
                <a:srgbClr val="000000"/>
              </a:solidFill>
            </a:endParaRPr>
          </a:p>
        </p:txBody>
      </p:sp>
      <p:pic>
        <p:nvPicPr>
          <p:cNvPr id="97284" name="图片 3"/>
          <p:cNvPicPr>
            <a:picLocks noChangeAspect="1" noChangeArrowheads="1"/>
          </p:cNvPicPr>
          <p:nvPr/>
        </p:nvPicPr>
        <p:blipFill>
          <a:blip r:embed="rId1"/>
          <a:srcRect b="30412"/>
          <a:stretch>
            <a:fillRect/>
          </a:stretch>
        </p:blipFill>
        <p:spPr bwMode="auto">
          <a:xfrm>
            <a:off x="1403350" y="4076700"/>
            <a:ext cx="6265863" cy="2225675"/>
          </a:xfrm>
          <a:prstGeom prst="rect">
            <a:avLst/>
          </a:prstGeom>
          <a:noFill/>
          <a:ln>
            <a:noFill/>
          </a:ln>
          <a:effectLst>
            <a:outerShdw blurRad="63500" sx="102000" sy="102000" algn="ctr" rotWithShape="0">
              <a:prstClr val="black">
                <a:alpha val="40000"/>
              </a:prstClr>
            </a:outerShdw>
          </a:effectLst>
        </p:spPr>
      </p:pic>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latin typeface="Times New Roman" panose="02020603050405020304" pitchFamily="18" charset="0"/>
                <a:ea typeface="黑体" panose="02010609060101010101" pitchFamily="49" charset="-122"/>
                <a:cs typeface="+mj-cs"/>
              </a:rPr>
              <a:t>2.4.1  JavaScript+CSS+DIV</a:t>
            </a:r>
            <a:r>
              <a:rPr lang="zh-CN" altLang="en-US" sz="3600" baseline="0" dirty="0">
                <a:latin typeface="Times New Roman" panose="02020603050405020304" pitchFamily="18" charset="0"/>
                <a:ea typeface="黑体" panose="02010609060101010101" pitchFamily="49" charset="-122"/>
                <a:cs typeface="+mj-cs"/>
              </a:rPr>
              <a:t>实现下拉菜单 </a:t>
            </a:r>
            <a:endParaRPr lang="zh-CN" altLang="en-US" sz="3600" baseline="0" dirty="0">
              <a:latin typeface="Times New Roman" panose="02020603050405020304" pitchFamily="18" charset="0"/>
              <a:ea typeface="黑体" panose="02010609060101010101" pitchFamily="49" charset="-122"/>
              <a:cs typeface="+mj-cs"/>
            </a:endParaRPr>
          </a:p>
        </p:txBody>
      </p:sp>
      <p:sp>
        <p:nvSpPr>
          <p:cNvPr id="106498"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分析</a:t>
            </a:r>
            <a:r>
              <a:rPr lang="en-US" altLang="zh-CN" sz="2400" dirty="0">
                <a:solidFill>
                  <a:srgbClr val="000000"/>
                </a:solidFill>
              </a:rPr>
              <a:t>】</a:t>
            </a:r>
            <a:r>
              <a:rPr lang="zh-CN" altLang="en-US" sz="2400" dirty="0">
                <a:solidFill>
                  <a:srgbClr val="000000"/>
                </a:solidFill>
              </a:rPr>
              <a:t>网页下拉菜单的设计实际上就是菜单项的显示与隐藏，当鼠标移到某菜单时，其下的菜单项就显示，当鼠标离开该菜单及其子菜单项，其子菜单项就隐藏。实现菜单项的显示与隐藏，需要使用</a:t>
            </a:r>
            <a:r>
              <a:rPr lang="en-US" altLang="zh-CN" sz="2400" dirty="0">
                <a:solidFill>
                  <a:srgbClr val="000000"/>
                </a:solidFill>
              </a:rPr>
              <a:t>JavaScript</a:t>
            </a:r>
            <a:r>
              <a:rPr lang="zh-CN" altLang="en-US" sz="2400" dirty="0">
                <a:solidFill>
                  <a:srgbClr val="000000"/>
                </a:solidFill>
              </a:rPr>
              <a:t>设计鼠标事件函数。同时，使用</a:t>
            </a:r>
            <a:r>
              <a:rPr lang="en-US" altLang="zh-CN" sz="2400" dirty="0">
                <a:solidFill>
                  <a:srgbClr val="000000"/>
                </a:solidFill>
              </a:rPr>
              <a:t>DIV</a:t>
            </a:r>
            <a:r>
              <a:rPr lang="zh-CN" altLang="en-US" sz="2400" dirty="0">
                <a:solidFill>
                  <a:srgbClr val="000000"/>
                </a:solidFill>
              </a:rPr>
              <a:t>标签，确定每个菜单的位置。</a:t>
            </a:r>
            <a:endParaRPr lang="zh-CN" altLang="en-US" sz="2400" dirty="0">
              <a:solidFill>
                <a:srgbClr val="000000"/>
              </a:solidFill>
            </a:endParaRPr>
          </a:p>
          <a:p>
            <a:pPr marL="0" indent="0">
              <a:buNone/>
            </a:pPr>
            <a:r>
              <a:rPr lang="en-US" altLang="zh-CN" sz="2400" dirty="0">
                <a:solidFill>
                  <a:srgbClr val="000000"/>
                </a:solidFill>
              </a:rPr>
              <a:t>【</a:t>
            </a:r>
            <a:r>
              <a:rPr lang="zh-CN" altLang="en-US" sz="2400" dirty="0">
                <a:solidFill>
                  <a:srgbClr val="000000"/>
                </a:solidFill>
              </a:rPr>
              <a:t>设计</a:t>
            </a:r>
            <a:r>
              <a:rPr lang="en-US" altLang="zh-CN" sz="2400" dirty="0">
                <a:solidFill>
                  <a:srgbClr val="000000"/>
                </a:solidFill>
              </a:rPr>
              <a:t>】</a:t>
            </a:r>
            <a:endParaRPr lang="en-US" altLang="zh-CN" sz="2400" dirty="0">
              <a:solidFill>
                <a:srgbClr val="000000"/>
              </a:solidFill>
            </a:endParaRPr>
          </a:p>
          <a:p>
            <a:pPr marL="0" indent="0">
              <a:buNone/>
            </a:pPr>
            <a:r>
              <a:rPr lang="zh-CN" altLang="en-US" sz="2400" dirty="0">
                <a:solidFill>
                  <a:srgbClr val="000000"/>
                </a:solidFill>
              </a:rPr>
              <a:t>（</a:t>
            </a:r>
            <a:r>
              <a:rPr lang="en-US" altLang="zh-CN" sz="2400" dirty="0">
                <a:solidFill>
                  <a:srgbClr val="000000"/>
                </a:solidFill>
              </a:rPr>
              <a:t>1</a:t>
            </a:r>
            <a:r>
              <a:rPr lang="zh-CN" altLang="en-US" sz="2400" dirty="0">
                <a:solidFill>
                  <a:srgbClr val="000000"/>
                </a:solidFill>
              </a:rPr>
              <a:t>）首先采用</a:t>
            </a:r>
            <a:r>
              <a:rPr lang="en-US" altLang="zh-CN" sz="2400" dirty="0">
                <a:solidFill>
                  <a:srgbClr val="000000"/>
                </a:solidFill>
              </a:rPr>
              <a:t>JavaScript</a:t>
            </a:r>
            <a:r>
              <a:rPr lang="zh-CN" altLang="en-US" sz="2400" dirty="0">
                <a:solidFill>
                  <a:srgbClr val="000000"/>
                </a:solidFill>
              </a:rPr>
              <a:t>设计</a:t>
            </a:r>
            <a:r>
              <a:rPr lang="en-US" altLang="zh-CN" sz="2400" dirty="0">
                <a:solidFill>
                  <a:srgbClr val="000000"/>
                </a:solidFill>
              </a:rPr>
              <a:t>2</a:t>
            </a:r>
            <a:r>
              <a:rPr lang="zh-CN" altLang="en-US" sz="2400" dirty="0">
                <a:solidFill>
                  <a:srgbClr val="000000"/>
                </a:solidFill>
              </a:rPr>
              <a:t>个鼠标事件函数：</a:t>
            </a:r>
            <a:endParaRPr lang="en-US" altLang="zh-CN" sz="2400" dirty="0">
              <a:solidFill>
                <a:srgbClr val="000000"/>
              </a:solidFill>
            </a:endParaRPr>
          </a:p>
          <a:p>
            <a:pPr marL="0" indent="0">
              <a:buNone/>
            </a:pPr>
            <a:r>
              <a:rPr lang="zh-CN" altLang="en-US" sz="2400" dirty="0">
                <a:solidFill>
                  <a:srgbClr val="000000"/>
                </a:solidFill>
              </a:rPr>
              <a:t>   当鼠标移动到菜单选项的时候显示对应的</a:t>
            </a:r>
            <a:r>
              <a:rPr lang="en-US" altLang="zh-CN" sz="2400" dirty="0">
                <a:solidFill>
                  <a:srgbClr val="000000"/>
                </a:solidFill>
              </a:rPr>
              <a:t>DIV</a:t>
            </a:r>
            <a:r>
              <a:rPr lang="zh-CN" altLang="en-US" sz="2400" dirty="0">
                <a:solidFill>
                  <a:srgbClr val="000000"/>
                </a:solidFill>
              </a:rPr>
              <a:t>：</a:t>
            </a:r>
            <a:endParaRPr lang="en-US" altLang="zh-CN" sz="2400" dirty="0">
              <a:solidFill>
                <a:srgbClr val="000000"/>
              </a:solidFill>
            </a:endParaRPr>
          </a:p>
          <a:p>
            <a:pPr marL="0" indent="0">
              <a:buNone/>
            </a:pPr>
            <a:r>
              <a:rPr lang="en-US" altLang="zh-CN" sz="2400" dirty="0">
                <a:solidFill>
                  <a:srgbClr val="000000"/>
                </a:solidFill>
              </a:rPr>
              <a:t>       function show(menu)</a:t>
            </a:r>
            <a:r>
              <a:rPr lang="zh-CN" altLang="en-US" sz="2400" dirty="0">
                <a:solidFill>
                  <a:srgbClr val="000000"/>
                </a:solidFill>
              </a:rPr>
              <a:t>；</a:t>
            </a:r>
            <a:endParaRPr lang="zh-CN" altLang="en-US" sz="2400" dirty="0">
              <a:solidFill>
                <a:srgbClr val="000000"/>
              </a:solidFill>
            </a:endParaRPr>
          </a:p>
          <a:p>
            <a:pPr marL="0" indent="0">
              <a:buNone/>
            </a:pPr>
            <a:r>
              <a:rPr lang="zh-CN" altLang="en-US" sz="2400" dirty="0">
                <a:solidFill>
                  <a:srgbClr val="000000"/>
                </a:solidFill>
              </a:rPr>
              <a:t>    当鼠标移出的时候隐藏所有的</a:t>
            </a:r>
            <a:r>
              <a:rPr lang="en-US" altLang="zh-CN" sz="2400" dirty="0">
                <a:solidFill>
                  <a:srgbClr val="000000"/>
                </a:solidFill>
              </a:rPr>
              <a:t>DIV</a:t>
            </a:r>
            <a:r>
              <a:rPr lang="zh-CN" altLang="en-US" sz="2400" dirty="0">
                <a:solidFill>
                  <a:srgbClr val="000000"/>
                </a:solidFill>
              </a:rPr>
              <a:t>：</a:t>
            </a:r>
            <a:r>
              <a:rPr lang="en-US" altLang="zh-CN" sz="2400" dirty="0">
                <a:solidFill>
                  <a:srgbClr val="000000"/>
                </a:solidFill>
              </a:rPr>
              <a:t>function hide()</a:t>
            </a:r>
            <a:endParaRPr lang="en-US" altLang="zh-CN" sz="2400" dirty="0">
              <a:solidFill>
                <a:srgbClr val="000000"/>
              </a:solidFill>
            </a:endParaRPr>
          </a:p>
          <a:p>
            <a:pPr marL="0" indent="0">
              <a:buNone/>
            </a:pPr>
            <a:r>
              <a:rPr lang="zh-CN" altLang="en-US" sz="2400" dirty="0">
                <a:solidFill>
                  <a:srgbClr val="000000"/>
                </a:solidFill>
              </a:rPr>
              <a:t>（</a:t>
            </a:r>
            <a:r>
              <a:rPr lang="en-US" altLang="zh-CN" sz="2400" dirty="0">
                <a:solidFill>
                  <a:srgbClr val="000000"/>
                </a:solidFill>
              </a:rPr>
              <a:t>2</a:t>
            </a:r>
            <a:r>
              <a:rPr lang="zh-CN" altLang="en-US" sz="2400" dirty="0">
                <a:solidFill>
                  <a:srgbClr val="000000"/>
                </a:solidFill>
              </a:rPr>
              <a:t>）设计</a:t>
            </a:r>
            <a:r>
              <a:rPr lang="en-US" altLang="zh-CN" sz="2400" dirty="0">
                <a:solidFill>
                  <a:srgbClr val="000000"/>
                </a:solidFill>
              </a:rPr>
              <a:t>3</a:t>
            </a:r>
            <a:r>
              <a:rPr lang="zh-CN" altLang="en-US" sz="2400" dirty="0">
                <a:solidFill>
                  <a:srgbClr val="000000"/>
                </a:solidFill>
              </a:rPr>
              <a:t>个</a:t>
            </a:r>
            <a:r>
              <a:rPr lang="en-US" altLang="zh-CN" sz="2400" dirty="0">
                <a:solidFill>
                  <a:srgbClr val="000000"/>
                </a:solidFill>
              </a:rPr>
              <a:t>DIV</a:t>
            </a:r>
            <a:r>
              <a:rPr lang="zh-CN" altLang="en-US" sz="2400" dirty="0">
                <a:solidFill>
                  <a:srgbClr val="000000"/>
                </a:solidFill>
              </a:rPr>
              <a:t>，每个</a:t>
            </a:r>
            <a:r>
              <a:rPr lang="en-US" altLang="zh-CN" sz="2400" dirty="0">
                <a:solidFill>
                  <a:srgbClr val="000000"/>
                </a:solidFill>
              </a:rPr>
              <a:t>DIV</a:t>
            </a:r>
            <a:r>
              <a:rPr lang="zh-CN" altLang="en-US" sz="2400" dirty="0">
                <a:solidFill>
                  <a:srgbClr val="000000"/>
                </a:solidFill>
              </a:rPr>
              <a:t>对应一个菜单项及其对应的子菜单项，</a:t>
            </a:r>
            <a:r>
              <a:rPr lang="en-US" altLang="zh-CN" sz="2400" dirty="0">
                <a:solidFill>
                  <a:srgbClr val="000000"/>
                </a:solidFill>
              </a:rPr>
              <a:t>3</a:t>
            </a:r>
            <a:r>
              <a:rPr lang="zh-CN" altLang="en-US" sz="2400" dirty="0">
                <a:solidFill>
                  <a:srgbClr val="000000"/>
                </a:solidFill>
              </a:rPr>
              <a:t>个菜单项对应的</a:t>
            </a:r>
            <a:r>
              <a:rPr lang="en-US" altLang="zh-CN" sz="2400" dirty="0">
                <a:solidFill>
                  <a:srgbClr val="000000"/>
                </a:solidFill>
              </a:rPr>
              <a:t>DIV</a:t>
            </a:r>
            <a:r>
              <a:rPr lang="zh-CN" altLang="en-US" sz="2400" dirty="0">
                <a:solidFill>
                  <a:srgbClr val="000000"/>
                </a:solidFill>
              </a:rPr>
              <a:t>的</a:t>
            </a:r>
            <a:r>
              <a:rPr lang="en-US" altLang="zh-CN" sz="2400" dirty="0">
                <a:solidFill>
                  <a:srgbClr val="000000"/>
                </a:solidFill>
              </a:rPr>
              <a:t>id</a:t>
            </a:r>
            <a:r>
              <a:rPr lang="zh-CN" altLang="en-US" sz="2400" dirty="0">
                <a:solidFill>
                  <a:srgbClr val="000000"/>
                </a:solidFill>
              </a:rPr>
              <a:t>分别为</a:t>
            </a:r>
            <a:r>
              <a:rPr lang="en-US" altLang="zh-CN" sz="2400" dirty="0">
                <a:solidFill>
                  <a:srgbClr val="000000"/>
                </a:solidFill>
              </a:rPr>
              <a:t>menu1</a:t>
            </a:r>
            <a:r>
              <a:rPr lang="zh-CN" altLang="en-US" sz="2400" dirty="0">
                <a:solidFill>
                  <a:srgbClr val="000000"/>
                </a:solidFill>
              </a:rPr>
              <a:t>、</a:t>
            </a:r>
            <a:r>
              <a:rPr lang="en-US" altLang="zh-CN" sz="2400" dirty="0">
                <a:solidFill>
                  <a:srgbClr val="000000"/>
                </a:solidFill>
              </a:rPr>
              <a:t>menu2</a:t>
            </a:r>
            <a:r>
              <a:rPr lang="zh-CN" altLang="en-US" sz="2400" dirty="0">
                <a:solidFill>
                  <a:srgbClr val="000000"/>
                </a:solidFill>
              </a:rPr>
              <a:t>、</a:t>
            </a:r>
            <a:r>
              <a:rPr lang="en-US" altLang="zh-CN" sz="2400" dirty="0">
                <a:solidFill>
                  <a:srgbClr val="000000"/>
                </a:solidFill>
              </a:rPr>
              <a:t>menu3</a:t>
            </a:r>
            <a:r>
              <a:rPr lang="zh-CN" altLang="en-US" sz="2400" dirty="0">
                <a:solidFill>
                  <a:srgbClr val="000000"/>
                </a:solidFill>
              </a:rPr>
              <a:t>。</a:t>
            </a:r>
            <a:endParaRPr lang="zh-CN" altLang="en-US" sz="2400" dirty="0">
              <a:solidFill>
                <a:srgbClr val="000000"/>
              </a:solidFill>
            </a:endParaRPr>
          </a:p>
          <a:p>
            <a:pPr marL="0" indent="0">
              <a:buNone/>
            </a:pPr>
            <a:r>
              <a:rPr lang="zh-CN" altLang="en-US" sz="2400" dirty="0">
                <a:solidFill>
                  <a:srgbClr val="000000"/>
                </a:solidFill>
              </a:rPr>
              <a:t>（</a:t>
            </a:r>
            <a:r>
              <a:rPr lang="en-US" altLang="zh-CN" sz="2400" dirty="0">
                <a:solidFill>
                  <a:srgbClr val="000000"/>
                </a:solidFill>
              </a:rPr>
              <a:t>3</a:t>
            </a:r>
            <a:r>
              <a:rPr lang="zh-CN" altLang="en-US" sz="2400" dirty="0">
                <a:solidFill>
                  <a:srgbClr val="000000"/>
                </a:solidFill>
              </a:rPr>
              <a:t>）设计关键：</a:t>
            </a:r>
            <a:r>
              <a:rPr lang="en-US" altLang="zh-CN" sz="2400" dirty="0">
                <a:solidFill>
                  <a:srgbClr val="000000"/>
                </a:solidFill>
              </a:rPr>
              <a:t>3</a:t>
            </a:r>
            <a:r>
              <a:rPr lang="zh-CN" altLang="en-US" sz="2400" dirty="0">
                <a:solidFill>
                  <a:srgbClr val="000000"/>
                </a:solidFill>
              </a:rPr>
              <a:t>个</a:t>
            </a:r>
            <a:r>
              <a:rPr lang="en-US" altLang="zh-CN" sz="2400" dirty="0">
                <a:solidFill>
                  <a:srgbClr val="000000"/>
                </a:solidFill>
              </a:rPr>
              <a:t>DIV</a:t>
            </a:r>
            <a:r>
              <a:rPr lang="zh-CN" altLang="en-US" sz="2400" dirty="0">
                <a:solidFill>
                  <a:srgbClr val="000000"/>
                </a:solidFill>
              </a:rPr>
              <a:t>的位置确定。</a:t>
            </a:r>
            <a:endParaRPr lang="zh-CN" altLang="en-US" sz="2400" dirty="0">
              <a:solidFill>
                <a:srgbClr val="000000"/>
              </a:solidFill>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latin typeface="Times New Roman" panose="02020603050405020304" pitchFamily="18" charset="0"/>
                <a:ea typeface="黑体" panose="02010609060101010101" pitchFamily="49" charset="-122"/>
                <a:cs typeface="+mj-cs"/>
              </a:rPr>
              <a:t>2.4.2  JavaScript +CSS+DIV</a:t>
            </a:r>
            <a:r>
              <a:rPr lang="zh-CN" altLang="en-US" sz="3600" baseline="0" dirty="0">
                <a:latin typeface="Times New Roman" panose="02020603050405020304" pitchFamily="18" charset="0"/>
                <a:ea typeface="黑体" panose="02010609060101010101" pitchFamily="49" charset="-122"/>
                <a:cs typeface="+mj-cs"/>
              </a:rPr>
              <a:t>实现表格变色</a:t>
            </a:r>
            <a:endParaRPr lang="zh-CN" altLang="en-US" sz="3600" baseline="0" dirty="0">
              <a:latin typeface="Times New Roman" panose="02020603050405020304" pitchFamily="18" charset="0"/>
              <a:ea typeface="黑体" panose="02010609060101010101" pitchFamily="49" charset="-122"/>
              <a:cs typeface="+mj-cs"/>
            </a:endParaRPr>
          </a:p>
        </p:txBody>
      </p:sp>
      <p:sp>
        <p:nvSpPr>
          <p:cNvPr id="107522" name="内容占位符 2"/>
          <p:cNvSpPr>
            <a:spLocks noGrp="1"/>
          </p:cNvSpPr>
          <p:nvPr>
            <p:ph idx="1"/>
          </p:nvPr>
        </p:nvSpPr>
        <p:spPr>
          <a:xfrm>
            <a:off x="107950" y="1125538"/>
            <a:ext cx="8928100" cy="1366837"/>
          </a:xfrm>
        </p:spPr>
        <p:txBody>
          <a:bodyPr vert="horz" wrap="square" lIns="91440" tIns="45720" rIns="91440" bIns="45720" anchor="t" anchorCtr="0"/>
          <a:p>
            <a:pPr marL="0" indent="0">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2-12】</a:t>
            </a:r>
            <a:r>
              <a:rPr lang="zh-CN" altLang="en-US" sz="2400" dirty="0">
                <a:solidFill>
                  <a:srgbClr val="000000"/>
                </a:solidFill>
              </a:rPr>
              <a:t>利用</a:t>
            </a:r>
            <a:r>
              <a:rPr lang="en-US" altLang="zh-CN" sz="2400" dirty="0">
                <a:solidFill>
                  <a:srgbClr val="000000"/>
                </a:solidFill>
              </a:rPr>
              <a:t>JavaScript+CSS</a:t>
            </a:r>
            <a:r>
              <a:rPr lang="zh-CN" altLang="en-US" sz="2400" dirty="0">
                <a:solidFill>
                  <a:srgbClr val="000000"/>
                </a:solidFill>
              </a:rPr>
              <a:t>实现表格变色，设计如图所示的页面，当鼠标移到某一行的时候，这行的背景颜色发生变化，图所示的是当鼠标移到“清华”这一行时的结果。</a:t>
            </a:r>
            <a:endParaRPr lang="zh-CN" altLang="en-US" sz="2400" dirty="0">
              <a:solidFill>
                <a:srgbClr val="000000"/>
              </a:solidFill>
            </a:endParaRPr>
          </a:p>
        </p:txBody>
      </p:sp>
      <p:pic>
        <p:nvPicPr>
          <p:cNvPr id="99332" name="图片 3"/>
          <p:cNvPicPr>
            <a:picLocks noChangeAspect="1" noChangeArrowheads="1"/>
          </p:cNvPicPr>
          <p:nvPr/>
        </p:nvPicPr>
        <p:blipFill>
          <a:blip r:embed="rId1"/>
          <a:srcRect/>
          <a:stretch>
            <a:fillRect/>
          </a:stretch>
        </p:blipFill>
        <p:spPr bwMode="auto">
          <a:xfrm>
            <a:off x="900113" y="2732088"/>
            <a:ext cx="7559675" cy="2468563"/>
          </a:xfrm>
          <a:prstGeom prst="rect">
            <a:avLst/>
          </a:prstGeom>
          <a:noFill/>
          <a:ln>
            <a:noFill/>
          </a:ln>
          <a:effectLst>
            <a:outerShdw blurRad="63500" sx="102000" sy="102000" algn="ctr" rotWithShape="0">
              <a:prstClr val="black">
                <a:alpha val="40000"/>
              </a:prstClr>
            </a:outerShdw>
          </a:effectLst>
        </p:spPr>
      </p:pic>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标题 1"/>
          <p:cNvSpPr>
            <a:spLocks noGrp="1"/>
          </p:cNvSpPr>
          <p:nvPr>
            <p:ph type="title"/>
          </p:nvPr>
        </p:nvSpPr>
        <p:spPr>
          <a:xfrm>
            <a:off x="250825" y="98425"/>
            <a:ext cx="8569325" cy="777875"/>
          </a:xfrm>
        </p:spPr>
        <p:txBody>
          <a:bodyPr vert="horz" wrap="square" lIns="91440" tIns="45720" rIns="91440" bIns="45720" anchor="ctr" anchorCtr="0"/>
          <a:p>
            <a:r>
              <a:rPr lang="en-US" altLang="zh-CN" sz="3600" baseline="0" dirty="0">
                <a:solidFill>
                  <a:srgbClr val="000000"/>
                </a:solidFill>
                <a:latin typeface="Times New Roman" panose="02020603050405020304" pitchFamily="18" charset="0"/>
                <a:ea typeface="黑体" panose="02010609060101010101" pitchFamily="49" charset="-122"/>
                <a:cs typeface="+mj-cs"/>
              </a:rPr>
              <a:t>2.4.2  JavaScript +CSS+DIV</a:t>
            </a:r>
            <a:r>
              <a:rPr lang="zh-CN" altLang="en-US" sz="3600" baseline="0" dirty="0">
                <a:solidFill>
                  <a:srgbClr val="000000"/>
                </a:solidFill>
                <a:latin typeface="Times New Roman" panose="02020603050405020304" pitchFamily="18" charset="0"/>
                <a:ea typeface="黑体" panose="02010609060101010101" pitchFamily="49" charset="-122"/>
                <a:cs typeface="+mj-cs"/>
              </a:rPr>
              <a:t>实现表格变色</a:t>
            </a:r>
            <a:endParaRPr lang="zh-CN" altLang="en-US" baseline="0" dirty="0">
              <a:latin typeface="Times New Roman" panose="02020603050405020304" pitchFamily="18" charset="0"/>
              <a:ea typeface="黑体" panose="02010609060101010101" pitchFamily="49" charset="-122"/>
              <a:cs typeface="+mj-cs"/>
            </a:endParaRPr>
          </a:p>
        </p:txBody>
      </p:sp>
      <p:sp>
        <p:nvSpPr>
          <p:cNvPr id="108546"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a:t>
            </a:r>
            <a:r>
              <a:rPr lang="zh-CN" altLang="en-US" sz="2800" dirty="0">
                <a:solidFill>
                  <a:srgbClr val="000000"/>
                </a:solidFill>
              </a:rPr>
              <a:t>分析</a:t>
            </a:r>
            <a:r>
              <a:rPr lang="en-US" altLang="zh-CN" sz="2800" dirty="0">
                <a:solidFill>
                  <a:srgbClr val="000000"/>
                </a:solidFill>
              </a:rPr>
              <a:t>】</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对于该题目，实际上就是设计一个表格，但当鼠标移到某行后，该行的显示颜色发生变化，为此，对每一行需要两个鼠标事件：</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鼠标覆盖</a:t>
            </a:r>
            <a:r>
              <a:rPr lang="en-US" altLang="zh-CN" sz="2800" dirty="0">
                <a:solidFill>
                  <a:srgbClr val="000000"/>
                </a:solidFill>
              </a:rPr>
              <a:t>(onMouseOver)</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鼠标离开</a:t>
            </a:r>
            <a:r>
              <a:rPr lang="en-US" altLang="zh-CN" sz="2800" dirty="0">
                <a:solidFill>
                  <a:srgbClr val="000000"/>
                </a:solidFill>
              </a:rPr>
              <a:t>(onMouseOut)</a:t>
            </a:r>
            <a:endParaRPr lang="en-US" altLang="zh-CN" sz="2800" dirty="0">
              <a:solidFill>
                <a:srgbClr val="000000"/>
              </a:solidFill>
            </a:endParaRPr>
          </a:p>
          <a:p>
            <a:pPr marL="0" indent="0">
              <a:buNone/>
            </a:pPr>
            <a:r>
              <a:rPr lang="zh-CN" altLang="en-US" sz="2800" dirty="0">
                <a:solidFill>
                  <a:srgbClr val="000000"/>
                </a:solidFill>
              </a:rPr>
              <a:t>   这两个事件需要调用事件函数，分别完成：</a:t>
            </a:r>
            <a:endParaRPr lang="en-US" altLang="zh-CN" sz="2800" dirty="0">
              <a:solidFill>
                <a:srgbClr val="000000"/>
              </a:solidFill>
            </a:endParaRPr>
          </a:p>
          <a:p>
            <a:pPr marL="0" indent="0">
              <a:buNone/>
            </a:pPr>
            <a:r>
              <a:rPr lang="en-US" altLang="zh-CN" sz="2800" dirty="0">
                <a:solidFill>
                  <a:srgbClr val="000000"/>
                </a:solidFill>
              </a:rPr>
              <a:t>           </a:t>
            </a:r>
            <a:r>
              <a:rPr lang="zh-CN" altLang="en-US" sz="2800" dirty="0">
                <a:solidFill>
                  <a:srgbClr val="000000"/>
                </a:solidFill>
              </a:rPr>
              <a:t>颜色设置</a:t>
            </a:r>
            <a:r>
              <a:rPr lang="en-US" altLang="zh-CN" sz="2800" dirty="0">
                <a:solidFill>
                  <a:srgbClr val="000000"/>
                </a:solidFill>
              </a:rPr>
              <a:t>resetColor(row)</a:t>
            </a:r>
            <a:endParaRPr lang="en-US" altLang="zh-CN" sz="2800" dirty="0">
              <a:solidFill>
                <a:srgbClr val="000000"/>
              </a:solidFill>
            </a:endParaRPr>
          </a:p>
          <a:p>
            <a:pPr marL="0" indent="0">
              <a:buNone/>
            </a:pPr>
            <a:r>
              <a:rPr lang="zh-CN" altLang="en-US" sz="2800" dirty="0">
                <a:solidFill>
                  <a:srgbClr val="000000"/>
                </a:solidFill>
              </a:rPr>
              <a:t>           改变颜色函数</a:t>
            </a:r>
            <a:r>
              <a:rPr lang="en-US" altLang="zh-CN" sz="2800" dirty="0">
                <a:solidFill>
                  <a:srgbClr val="000000"/>
                </a:solidFill>
              </a:rPr>
              <a:t>changeColor(row)</a:t>
            </a:r>
            <a:endParaRPr lang="en-US" altLang="zh-CN" sz="2800" dirty="0">
              <a:solidFill>
                <a:srgbClr val="000000"/>
              </a:solidFill>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标题 1"/>
          <p:cNvSpPr>
            <a:spLocks noGrp="1"/>
          </p:cNvSpPr>
          <p:nvPr>
            <p:ph type="title"/>
          </p:nvPr>
        </p:nvSpPr>
        <p:spPr>
          <a:xfrm>
            <a:off x="250825" y="98425"/>
            <a:ext cx="8569325" cy="777875"/>
          </a:xfrm>
        </p:spPr>
        <p:txBody>
          <a:bodyPr vert="horz" wrap="square" lIns="91440" tIns="45720" rIns="91440" bIns="45720" anchor="ctr" anchorCtr="0"/>
          <a:p>
            <a:r>
              <a:rPr lang="zh-CN" altLang="en-US" baseline="0" dirty="0">
                <a:latin typeface="Times New Roman" panose="02020603050405020304" pitchFamily="18" charset="0"/>
                <a:ea typeface="黑体" panose="02010609060101010101" pitchFamily="49" charset="-122"/>
                <a:cs typeface="+mj-cs"/>
              </a:rPr>
              <a:t>本章小结</a:t>
            </a:r>
            <a:endParaRPr lang="zh-CN" altLang="en-US" baseline="0" dirty="0">
              <a:latin typeface="Times New Roman" panose="02020603050405020304" pitchFamily="18" charset="0"/>
              <a:ea typeface="黑体" panose="02010609060101010101" pitchFamily="49" charset="-122"/>
              <a:cs typeface="+mj-cs"/>
            </a:endParaRPr>
          </a:p>
        </p:txBody>
      </p:sp>
      <p:sp>
        <p:nvSpPr>
          <p:cNvPr id="109570"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en-US" altLang="zh-CN" sz="2800" dirty="0">
                <a:solidFill>
                  <a:srgbClr val="000000"/>
                </a:solidFill>
              </a:rPr>
              <a:t>      </a:t>
            </a:r>
            <a:r>
              <a:rPr lang="en-US" altLang="zh-CN" sz="2800" dirty="0">
                <a:solidFill>
                  <a:srgbClr val="FF0000"/>
                </a:solidFill>
              </a:rPr>
              <a:t>HTML</a:t>
            </a:r>
            <a:r>
              <a:rPr lang="zh-CN" altLang="en-US" sz="2800" dirty="0">
                <a:solidFill>
                  <a:srgbClr val="000000"/>
                </a:solidFill>
              </a:rPr>
              <a:t>是组织展示内容的标记语言。</a:t>
            </a:r>
            <a:endParaRPr lang="en-US" altLang="zh-CN" sz="2800" dirty="0">
              <a:solidFill>
                <a:srgbClr val="000000"/>
              </a:solidFill>
            </a:endParaRPr>
          </a:p>
          <a:p>
            <a:pPr marL="0" indent="0">
              <a:buNone/>
            </a:pPr>
            <a:r>
              <a:rPr lang="en-US" altLang="zh-CN" sz="2800" dirty="0">
                <a:solidFill>
                  <a:srgbClr val="000000"/>
                </a:solidFill>
              </a:rPr>
              <a:t>      </a:t>
            </a:r>
            <a:r>
              <a:rPr lang="en-US" altLang="zh-CN" sz="2800" dirty="0">
                <a:solidFill>
                  <a:srgbClr val="FF0000"/>
                </a:solidFill>
              </a:rPr>
              <a:t>JavaScipt</a:t>
            </a:r>
            <a:r>
              <a:rPr lang="zh-CN" altLang="en-US" sz="2800" dirty="0">
                <a:solidFill>
                  <a:srgbClr val="000000"/>
                </a:solidFill>
              </a:rPr>
              <a:t>是客户端的脚本语言，</a:t>
            </a:r>
            <a:endParaRPr lang="en-US" altLang="zh-CN" sz="2800" dirty="0">
              <a:solidFill>
                <a:srgbClr val="000000"/>
              </a:solidFill>
            </a:endParaRPr>
          </a:p>
          <a:p>
            <a:pPr marL="0" indent="0">
              <a:buNone/>
            </a:pPr>
            <a:r>
              <a:rPr lang="en-US" altLang="zh-CN" sz="2800" dirty="0">
                <a:solidFill>
                  <a:srgbClr val="000000"/>
                </a:solidFill>
              </a:rPr>
              <a:t>      </a:t>
            </a:r>
            <a:r>
              <a:rPr lang="en-US" altLang="zh-CN" sz="2800" dirty="0">
                <a:solidFill>
                  <a:srgbClr val="FF0000"/>
                </a:solidFill>
              </a:rPr>
              <a:t>CSS</a:t>
            </a:r>
            <a:r>
              <a:rPr lang="zh-CN" altLang="en-US" sz="2800" dirty="0">
                <a:solidFill>
                  <a:srgbClr val="000000"/>
                </a:solidFill>
              </a:rPr>
              <a:t>是美化页面的样式表，</a:t>
            </a:r>
            <a:endParaRPr lang="en-US" altLang="zh-CN" sz="2800" dirty="0">
              <a:solidFill>
                <a:srgbClr val="000000"/>
              </a:solidFill>
            </a:endParaRPr>
          </a:p>
          <a:p>
            <a:pPr marL="0" indent="0" algn="just">
              <a:buNone/>
            </a:pPr>
            <a:r>
              <a:rPr lang="en-US" altLang="zh-CN" sz="2800" dirty="0">
                <a:solidFill>
                  <a:srgbClr val="000000"/>
                </a:solidFill>
              </a:rPr>
              <a:t>      </a:t>
            </a:r>
            <a:r>
              <a:rPr lang="zh-CN" altLang="en-US" sz="2800" dirty="0">
                <a:solidFill>
                  <a:srgbClr val="000000"/>
                </a:solidFill>
              </a:rPr>
              <a:t>这三种技术结合在一起构成了</a:t>
            </a:r>
            <a:r>
              <a:rPr lang="en-US" altLang="zh-CN" sz="2800" dirty="0">
                <a:solidFill>
                  <a:srgbClr val="000000"/>
                </a:solidFill>
              </a:rPr>
              <a:t>Web</a:t>
            </a:r>
            <a:r>
              <a:rPr lang="zh-CN" altLang="en-US" sz="2800" dirty="0">
                <a:solidFill>
                  <a:srgbClr val="000000"/>
                </a:solidFill>
              </a:rPr>
              <a:t>开发最基础的知识，所有的</a:t>
            </a:r>
            <a:r>
              <a:rPr lang="en-US" altLang="zh-CN" sz="2800" dirty="0">
                <a:solidFill>
                  <a:srgbClr val="000000"/>
                </a:solidFill>
              </a:rPr>
              <a:t>Web</a:t>
            </a:r>
            <a:r>
              <a:rPr lang="zh-CN" altLang="en-US" sz="2800" dirty="0">
                <a:solidFill>
                  <a:srgbClr val="000000"/>
                </a:solidFill>
              </a:rPr>
              <a:t>应用开发都是在这个基础之上进行的。</a:t>
            </a:r>
            <a:endParaRPr lang="zh-CN" altLang="en-US" sz="2800" dirty="0">
              <a:solidFill>
                <a:srgbClr val="000000"/>
              </a:solidFill>
            </a:endParaRPr>
          </a:p>
          <a:p>
            <a:pPr marL="0" indent="0" algn="just">
              <a:buNone/>
            </a:pPr>
            <a:r>
              <a:rPr lang="zh-CN" altLang="en-US" sz="2800" dirty="0">
                <a:solidFill>
                  <a:srgbClr val="000000"/>
                </a:solidFill>
              </a:rPr>
              <a:t>       本章对这</a:t>
            </a:r>
            <a:r>
              <a:rPr lang="en-US" altLang="zh-CN" sz="2800" dirty="0">
                <a:solidFill>
                  <a:srgbClr val="000000"/>
                </a:solidFill>
              </a:rPr>
              <a:t>3</a:t>
            </a:r>
            <a:r>
              <a:rPr lang="zh-CN" altLang="en-US" sz="2800" dirty="0">
                <a:solidFill>
                  <a:srgbClr val="000000"/>
                </a:solidFill>
              </a:rPr>
              <a:t>种技术进行了简单介绍，可以迅速对</a:t>
            </a:r>
            <a:r>
              <a:rPr lang="en-US" altLang="zh-CN" sz="2800" dirty="0">
                <a:solidFill>
                  <a:srgbClr val="000000"/>
                </a:solidFill>
              </a:rPr>
              <a:t>Web</a:t>
            </a:r>
            <a:r>
              <a:rPr lang="zh-CN" altLang="en-US" sz="2800" dirty="0">
                <a:solidFill>
                  <a:srgbClr val="000000"/>
                </a:solidFill>
              </a:rPr>
              <a:t>开发的基础知识有一个宏观的、清楚的认识。从而可以快速进入后面章节的学习。</a:t>
            </a:r>
            <a:endParaRPr lang="zh-CN" altLang="en-US" sz="2800" dirty="0">
              <a:solidFill>
                <a:srgbClr val="000000"/>
              </a:solidFill>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标题 1"/>
          <p:cNvSpPr>
            <a:spLocks noGrp="1"/>
          </p:cNvSpPr>
          <p:nvPr>
            <p:ph type="title"/>
          </p:nvPr>
        </p:nvSpPr>
        <p:spPr>
          <a:xfrm>
            <a:off x="250825" y="98425"/>
            <a:ext cx="8569325" cy="777875"/>
          </a:xfrm>
        </p:spPr>
        <p:txBody>
          <a:bodyPr vert="horz" wrap="square" lIns="91440" tIns="45720" rIns="91440" bIns="45720" anchor="ctr" anchorCtr="0"/>
          <a:p>
            <a:r>
              <a:rPr lang="zh-CN" altLang="en-US" baseline="0" dirty="0">
                <a:latin typeface="Times New Roman" panose="02020603050405020304" pitchFamily="18" charset="0"/>
                <a:ea typeface="黑体" panose="02010609060101010101" pitchFamily="49" charset="-122"/>
                <a:cs typeface="+mj-cs"/>
              </a:rPr>
              <a:t>课后作业</a:t>
            </a:r>
            <a:endParaRPr lang="zh-CN" altLang="en-US" baseline="0" dirty="0">
              <a:latin typeface="Times New Roman" panose="02020603050405020304" pitchFamily="18" charset="0"/>
              <a:ea typeface="黑体" panose="02010609060101010101" pitchFamily="49" charset="-122"/>
              <a:cs typeface="+mj-cs"/>
            </a:endParaRPr>
          </a:p>
        </p:txBody>
      </p:sp>
      <p:sp>
        <p:nvSpPr>
          <p:cNvPr id="110594" name="内容占位符 2"/>
          <p:cNvSpPr>
            <a:spLocks noGrp="1"/>
          </p:cNvSpPr>
          <p:nvPr>
            <p:ph idx="1"/>
          </p:nvPr>
        </p:nvSpPr>
        <p:spPr>
          <a:xfrm>
            <a:off x="107950" y="1125538"/>
            <a:ext cx="8928100" cy="5543550"/>
          </a:xfrm>
        </p:spPr>
        <p:txBody>
          <a:bodyPr vert="horz" wrap="square" lIns="91440" tIns="45720" rIns="91440" bIns="45720" anchor="t" anchorCtr="0"/>
          <a:p>
            <a:pPr marL="0" indent="0">
              <a:buNone/>
            </a:pPr>
            <a:r>
              <a:rPr lang="zh-CN" altLang="en-US" dirty="0">
                <a:solidFill>
                  <a:srgbClr val="000000"/>
                </a:solidFill>
              </a:rPr>
              <a:t>课本习题</a:t>
            </a:r>
            <a:r>
              <a:rPr lang="en-US" altLang="zh-CN" dirty="0">
                <a:solidFill>
                  <a:srgbClr val="000000"/>
                </a:solidFill>
              </a:rPr>
              <a:t>【55</a:t>
            </a:r>
            <a:r>
              <a:rPr lang="zh-CN" altLang="en-US" dirty="0">
                <a:solidFill>
                  <a:srgbClr val="000000"/>
                </a:solidFill>
              </a:rPr>
              <a:t>页</a:t>
            </a:r>
            <a:r>
              <a:rPr lang="en-US" altLang="zh-CN" dirty="0">
                <a:solidFill>
                  <a:srgbClr val="000000"/>
                </a:solidFill>
              </a:rPr>
              <a:t>】</a:t>
            </a:r>
            <a:r>
              <a:rPr lang="zh-CN" altLang="en-US" dirty="0">
                <a:solidFill>
                  <a:srgbClr val="000000"/>
                </a:solidFill>
              </a:rPr>
              <a:t>：</a:t>
            </a:r>
            <a:r>
              <a:rPr lang="en-US" altLang="zh-CN" dirty="0">
                <a:solidFill>
                  <a:srgbClr val="000000"/>
                </a:solidFill>
              </a:rPr>
              <a:t>1</a:t>
            </a:r>
            <a:r>
              <a:rPr lang="zh-CN" altLang="en-US" dirty="0">
                <a:solidFill>
                  <a:srgbClr val="000000"/>
                </a:solidFill>
              </a:rPr>
              <a:t>、</a:t>
            </a:r>
            <a:r>
              <a:rPr lang="en-US" altLang="zh-CN" dirty="0">
                <a:solidFill>
                  <a:srgbClr val="000000"/>
                </a:solidFill>
              </a:rPr>
              <a:t>2</a:t>
            </a:r>
            <a:r>
              <a:rPr lang="zh-CN" altLang="en-US" dirty="0">
                <a:solidFill>
                  <a:srgbClr val="000000"/>
                </a:solidFill>
              </a:rPr>
              <a:t>、</a:t>
            </a:r>
            <a:r>
              <a:rPr lang="en-US" altLang="zh-CN" dirty="0">
                <a:solidFill>
                  <a:srgbClr val="000000"/>
                </a:solidFill>
              </a:rPr>
              <a:t>5</a:t>
            </a:r>
            <a:endParaRPr lang="en-US" altLang="zh-CN" dirty="0">
              <a:solidFill>
                <a:srgbClr val="000000"/>
              </a:solidFill>
            </a:endParaRPr>
          </a:p>
          <a:p>
            <a:pPr marL="0" indent="0">
              <a:buNone/>
            </a:pPr>
            <a:r>
              <a:rPr lang="zh-CN" altLang="en-US" dirty="0">
                <a:solidFill>
                  <a:srgbClr val="000000"/>
                </a:solidFill>
              </a:rPr>
              <a:t>作业要求：</a:t>
            </a:r>
            <a:endParaRPr lang="en-US" altLang="zh-CN" dirty="0">
              <a:solidFill>
                <a:srgbClr val="000000"/>
              </a:solidFill>
            </a:endParaRPr>
          </a:p>
          <a:p>
            <a:pPr marL="0" indent="0">
              <a:buNone/>
            </a:pPr>
            <a:r>
              <a:rPr lang="zh-CN" altLang="en-US" sz="2200" dirty="0">
                <a:solidFill>
                  <a:srgbClr val="000000"/>
                </a:solidFill>
              </a:rPr>
              <a:t>程序代码（代码规范易读，代码背景色为白色）</a:t>
            </a:r>
            <a:endParaRPr lang="en-US" altLang="zh-CN" sz="2200" dirty="0">
              <a:solidFill>
                <a:srgbClr val="000000"/>
              </a:solidFill>
            </a:endParaRPr>
          </a:p>
          <a:p>
            <a:pPr marL="0" indent="0">
              <a:buNone/>
            </a:pPr>
            <a:r>
              <a:rPr lang="zh-CN" altLang="en-US" sz="2200" dirty="0">
                <a:solidFill>
                  <a:srgbClr val="000000"/>
                </a:solidFill>
              </a:rPr>
              <a:t>程序注释（简要、准确）</a:t>
            </a:r>
            <a:endParaRPr lang="en-US" altLang="zh-CN" sz="2200" dirty="0">
              <a:solidFill>
                <a:srgbClr val="000000"/>
              </a:solidFill>
            </a:endParaRPr>
          </a:p>
          <a:p>
            <a:pPr marL="0" indent="0">
              <a:buNone/>
            </a:pPr>
            <a:r>
              <a:rPr lang="zh-CN" altLang="en-US" sz="2200" dirty="0">
                <a:solidFill>
                  <a:srgbClr val="000000"/>
                </a:solidFill>
              </a:rPr>
              <a:t>运行截图（不同情况下运行截图，有相关说明文字，图片清晰规范）</a:t>
            </a:r>
            <a:endParaRPr lang="en-US" altLang="zh-CN" sz="2200" dirty="0">
              <a:solidFill>
                <a:srgbClr val="000000"/>
              </a:solidFill>
            </a:endParaRPr>
          </a:p>
          <a:p>
            <a:pPr marL="0" indent="0">
              <a:buNone/>
            </a:pPr>
            <a:r>
              <a:rPr lang="zh-CN" altLang="en-US" sz="2200" dirty="0">
                <a:solidFill>
                  <a:srgbClr val="000000"/>
                </a:solidFill>
              </a:rPr>
              <a:t>文本格式规范（宋体、五号；行距：最小值</a:t>
            </a:r>
            <a:r>
              <a:rPr lang="en-US" altLang="zh-CN" sz="2200" dirty="0">
                <a:solidFill>
                  <a:srgbClr val="000000"/>
                </a:solidFill>
              </a:rPr>
              <a:t>18</a:t>
            </a:r>
            <a:r>
              <a:rPr lang="zh-CN" altLang="en-US" sz="2200" dirty="0">
                <a:solidFill>
                  <a:srgbClr val="000000"/>
                </a:solidFill>
              </a:rPr>
              <a:t>磅）</a:t>
            </a:r>
            <a:endParaRPr lang="zh-CN" altLang="en-US" sz="2200" dirty="0">
              <a:solidFill>
                <a:srgbClr val="000000"/>
              </a:solidFill>
            </a:endParaRPr>
          </a:p>
        </p:txBody>
      </p:sp>
    </p:spTree>
  </p:cSld>
  <p:clrMapOvr>
    <a:masterClrMapping/>
  </p:clrMapOvr>
  <p:transition spd="slow"/>
</p:sld>
</file>

<file path=ppt/tags/tag1.xml><?xml version="1.0" encoding="utf-8"?>
<p:tagLst xmlns:p="http://schemas.openxmlformats.org/presentationml/2006/main">
  <p:tag name="KSO_WPP_MARK_KEY" val="af76109a-6a23-426a-9acb-1513554c0b37"/>
  <p:tag name="COMMONDATA" val="eyJoZGlkIjoiMjhhNDVhN2Q4MjliZjQ4ODViYzNmODgyM2JhYWY0Mzg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20815</Words>
  <Application>WPS 演示</Application>
  <PresentationFormat/>
  <Paragraphs>1293</Paragraphs>
  <Slides>95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95</vt:i4>
      </vt:variant>
    </vt:vector>
  </HeadingPairs>
  <TitlesOfParts>
    <vt:vector size="104" baseType="lpstr">
      <vt:lpstr>Arial</vt:lpstr>
      <vt:lpstr>宋体</vt:lpstr>
      <vt:lpstr>Wingdings</vt:lpstr>
      <vt:lpstr>Calibri</vt:lpstr>
      <vt:lpstr>Times New Roman</vt:lpstr>
      <vt:lpstr>黑体</vt:lpstr>
      <vt:lpstr>微软雅黑</vt:lpstr>
      <vt:lpstr>Arial Unicode MS</vt:lpstr>
      <vt:lpstr>默认设计模板</vt:lpstr>
      <vt:lpstr>Web 应用系统实践</vt:lpstr>
      <vt:lpstr>教学大纲及课程规划</vt:lpstr>
      <vt:lpstr>Web 应用系统实践</vt:lpstr>
      <vt:lpstr>前情回顾</vt:lpstr>
      <vt:lpstr>第2章 静态网页开发技术</vt:lpstr>
      <vt:lpstr>静态网页</vt:lpstr>
      <vt:lpstr>静态网页开发相关技术基础</vt:lpstr>
      <vt:lpstr>2.1  HTML网页设计</vt:lpstr>
      <vt:lpstr>2.1  HTML网页设计</vt:lpstr>
      <vt:lpstr>2.1.1  HTML文档结构和标签基本语法</vt:lpstr>
      <vt:lpstr>2.1.1  HTML文档结构和标签基本语法</vt:lpstr>
      <vt:lpstr>2.1.1  HTML文档结构和标签基本语法</vt:lpstr>
      <vt:lpstr>2.1.1  HTML文档结构和标签基本语法</vt:lpstr>
      <vt:lpstr>2.1.1  HTML文档结构和标签基本语法</vt:lpstr>
      <vt:lpstr>2.1.1  HTML文档结构和基本语法</vt:lpstr>
      <vt:lpstr>2.1.1  HTML文档结构和基本语法</vt:lpstr>
      <vt:lpstr>2.1.1  HTML文档结构和基本语法</vt:lpstr>
      <vt:lpstr>2.1.2  HTML基本标签与使用</vt:lpstr>
      <vt:lpstr>2.1.2  HTML基本标签与使用</vt:lpstr>
      <vt:lpstr>PowerPoint 演示文稿</vt:lpstr>
      <vt:lpstr>2.1.2  HTML基本标签与使用</vt:lpstr>
      <vt:lpstr>2.1.2  HTML基本标签与使用</vt:lpstr>
      <vt:lpstr>2.1.2  HTML基本标签与使用</vt:lpstr>
      <vt:lpstr>2.1.2  HTML基本标签与使用</vt:lpstr>
      <vt:lpstr>2.1.2  HTML基本标签与使用</vt:lpstr>
      <vt:lpstr>2.1.2  HTML基本标签与使用</vt:lpstr>
      <vt:lpstr>2.1.2  HTML基本标签与使用</vt:lpstr>
      <vt:lpstr>2.1.2  HTML基本标签与使用</vt:lpstr>
      <vt:lpstr>2.1.2  HTML基本标签与使用</vt:lpstr>
      <vt:lpstr>2.1.2  HTML基本标签与使用</vt:lpstr>
      <vt:lpstr>2.1.3  HTML表单标签与表单设计</vt:lpstr>
      <vt:lpstr>2.1.3  HTML表单标签与表单设计</vt:lpstr>
      <vt:lpstr>2.1.3  HTML表单标签与表单设计</vt:lpstr>
      <vt:lpstr>2.1.3  HTML表单标签与表单设计</vt:lpstr>
      <vt:lpstr>2.1.3  HTML表单标签与表单设计</vt:lpstr>
      <vt:lpstr>2.1.3  HTML表单标签与表单设计</vt:lpstr>
      <vt:lpstr>2.1.4  表单设计案例                        —学生入校注册页面设计</vt:lpstr>
      <vt:lpstr>2.1.4  表单设计案例                        —学生入校注册页面设计</vt:lpstr>
      <vt:lpstr>2.1.5  HTML框架标签与框架设计</vt:lpstr>
      <vt:lpstr>2.1.5  HTML框架标签与框架设计</vt:lpstr>
      <vt:lpstr>2.1.5  HTML框架标签与框架设计</vt:lpstr>
      <vt:lpstr>2.1.6  框架设计案例                    ——多媒体播放系统设计</vt:lpstr>
      <vt:lpstr>2.1.6  框架设计案例                    ——多媒体播放系统设计</vt:lpstr>
      <vt:lpstr>2.1.7 HTML5语法与HTML5表单新特性</vt:lpstr>
      <vt:lpstr>2.1.7 HTML5语法与HTML5表单新特性</vt:lpstr>
      <vt:lpstr>2.1.7 HTML5语法与HTML5表单新特性</vt:lpstr>
      <vt:lpstr>2.1.7 HTML5语法与HTML5表单新特性</vt:lpstr>
      <vt:lpstr>2.2 CSS样式表</vt:lpstr>
      <vt:lpstr>2.2.1  CCS样式表的定义与使用</vt:lpstr>
      <vt:lpstr>2.2.1  CCS样式表的定义与使用</vt:lpstr>
      <vt:lpstr>2.2.1  CCS样式表的定义与使用</vt:lpstr>
      <vt:lpstr>2.2.1  CCS样式表的定义与使用</vt:lpstr>
      <vt:lpstr>2.2.1  CCS样式表的定义与使用</vt:lpstr>
      <vt:lpstr>2.2.1  CCS样式表的定义与使用</vt:lpstr>
      <vt:lpstr>2.2.1  CCS样式表的定义与使用</vt:lpstr>
      <vt:lpstr>2.2.1  CCS样式表的定义与使用</vt:lpstr>
      <vt:lpstr>2.2.1  CCS样式表的定义与使用</vt:lpstr>
      <vt:lpstr>2.2.1  CCS样式表的定义与使用</vt:lpstr>
      <vt:lpstr>2.2.2  CSS常用属性</vt:lpstr>
      <vt:lpstr>2.2.2  CSS常用属性</vt:lpstr>
      <vt:lpstr>2.2.2  CSS常用属性</vt:lpstr>
      <vt:lpstr>2.2.3  案例——利用CSS对注册页面实现修饰</vt:lpstr>
      <vt:lpstr>2.2.3  案例——利用CSS对注册页面实现修饰</vt:lpstr>
      <vt:lpstr>2.3  JavaScript脚本语言</vt:lpstr>
      <vt:lpstr>2.3.1  JavaScript的基本语法 </vt:lpstr>
      <vt:lpstr>2.3.1  JavaScript的基本语法 </vt:lpstr>
      <vt:lpstr>2.3.1  JavaScript的基本语法 </vt:lpstr>
      <vt:lpstr>2.3.1  JavaScript的基本语法 </vt:lpstr>
      <vt:lpstr>2.3.2  JavaScript的事件 </vt:lpstr>
      <vt:lpstr>2.3.2  JavaScript的事件 </vt:lpstr>
      <vt:lpstr>2.3.2  JavaScript的事件 </vt:lpstr>
      <vt:lpstr>2.3.3  JavaScript的对象 </vt:lpstr>
      <vt:lpstr>2.3.3  JavaScript的对象 </vt:lpstr>
      <vt:lpstr>2.3.3  JavaScript的对象 </vt:lpstr>
      <vt:lpstr>2.3.3  JavaScript的对象</vt:lpstr>
      <vt:lpstr>2.3.3  JavaScript的对象</vt:lpstr>
      <vt:lpstr>2.3.3  JavaScript的对象</vt:lpstr>
      <vt:lpstr>2.3.3  JavaScript的对象</vt:lpstr>
      <vt:lpstr>2.3.3  JavaScript的对象</vt:lpstr>
      <vt:lpstr>2.3.3  JavaScript的对象</vt:lpstr>
      <vt:lpstr>2.3.3  JavaScript的对象</vt:lpstr>
      <vt:lpstr>2.3.3  JavaScript的对象</vt:lpstr>
      <vt:lpstr>2.3.3  JavaScript的对象</vt:lpstr>
      <vt:lpstr>2.3.3  JavaScript的对象</vt:lpstr>
      <vt:lpstr>2.3.4  案例—JavaScript实现输入验证</vt:lpstr>
      <vt:lpstr>2.3.4  案例—JavaScript实现输入验证</vt:lpstr>
      <vt:lpstr>2.3.4  案例—JavaScript实现输入验证</vt:lpstr>
      <vt:lpstr>2.3.4  案例—JavaScript实现输入验证</vt:lpstr>
      <vt:lpstr>2.4  基于HTML+JavaScript+CSS的开发案例</vt:lpstr>
      <vt:lpstr>2.4.1  JavaScript+CSS+DIV实现下拉菜单 </vt:lpstr>
      <vt:lpstr>2.4.1  JavaScript+CSS+DIV实现下拉菜单 </vt:lpstr>
      <vt:lpstr>2.4.2  JavaScript +CSS+DIV实现表格变色</vt:lpstr>
      <vt:lpstr>2.4.2  JavaScript +CSS+DIV实现表格变色</vt:lpstr>
      <vt:lpstr>本章小结</vt:lpstr>
      <vt:lpstr>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Qiao</cp:lastModifiedBy>
  <cp:revision>10</cp:revision>
  <dcterms:created xsi:type="dcterms:W3CDTF">2014-02-23T13:52:00Z</dcterms:created>
  <dcterms:modified xsi:type="dcterms:W3CDTF">2023-10-09T10:38:06Z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057F5ABBD550488D970811DA78FFCFF5_12</vt:lpwstr>
  </property>
  <property fmtid="{D5CDD505-2E9C-101B-9397-08002B2CF9AE}" pid="3" name="KSOProductBuildVer">
    <vt:lpwstr>2052-12.1.0.15712</vt:lpwstr>
  </property>
</Properties>
</file>